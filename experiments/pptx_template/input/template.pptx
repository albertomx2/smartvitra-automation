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bce17d8e2124923" Type="http://schemas.openxmlformats.org/officeDocument/2006/relationships/officeDocument" Target="ppt/presentation.xml"/><Relationship Id="R56210a6138eb4dbe" Type="http://schemas.openxmlformats.org/package/2006/relationships/metadata/core-properties" Target="docProps/core.xml"/><Relationship Id="Rff574aef631e4c5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610e8284a145b3"/>
  </p:sldMasterIdLst>
  <p:notesMasterIdLst>
    <p:notesMasterId xmlns:r="http://schemas.openxmlformats.org/officeDocument/2006/relationships" r:id="Re0ba7dce31fe49df"/>
  </p:notesMasterIdLst>
  <p:sldIdLst>
    <p:sldId xmlns:r="http://schemas.openxmlformats.org/officeDocument/2006/relationships" id="256" r:id="Re9bbcf3ad450404e"/>
    <p:sldId xmlns:r="http://schemas.openxmlformats.org/officeDocument/2006/relationships" id="257" r:id="Re118941afe194429"/>
    <p:sldId xmlns:r="http://schemas.openxmlformats.org/officeDocument/2006/relationships" id="258" r:id="Rcf6ce97349624ff9"/>
    <p:sldId xmlns:r="http://schemas.openxmlformats.org/officeDocument/2006/relationships" id="259" r:id="R410bbc57c5924b90"/>
    <p:sldId xmlns:r="http://schemas.openxmlformats.org/officeDocument/2006/relationships" id="260" r:id="Rbee83d8dd10d401e"/>
    <p:sldId xmlns:r="http://schemas.openxmlformats.org/officeDocument/2006/relationships" id="261" r:id="Rec80f8e4bb664fb8"/>
    <p:sldId xmlns:r="http://schemas.openxmlformats.org/officeDocument/2006/relationships" id="262" r:id="R8103b70605c240b0"/>
    <p:sldId xmlns:r="http://schemas.openxmlformats.org/officeDocument/2006/relationships" id="263" r:id="Rf010324710f94395"/>
    <p:sldId xmlns:r="http://schemas.openxmlformats.org/officeDocument/2006/relationships" id="264" r:id="R4d157e82f2f94ea9"/>
    <p:sldId xmlns:r="http://schemas.openxmlformats.org/officeDocument/2006/relationships" id="265" r:id="R3202db808fe440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0492d1aa4c874f94" Type="http://schemas.openxmlformats.org/officeDocument/2006/relationships/presProps" Target="presProps.xml"/><Relationship Id="R3202db808fe44069" Type="http://schemas.openxmlformats.org/officeDocument/2006/relationships/slide" Target="slides/slide10.xml"/><Relationship Id="R410bbc57c5924b90" Type="http://schemas.openxmlformats.org/officeDocument/2006/relationships/slide" Target="slides/slide4.xml"/><Relationship Id="R4d157e82f2f94ea9" Type="http://schemas.openxmlformats.org/officeDocument/2006/relationships/slide" Target="slides/slide9.xml"/><Relationship Id="R60610e8284a145b3" Type="http://schemas.openxmlformats.org/officeDocument/2006/relationships/slideMaster" Target="slideMasters/slideMaster1.xml"/><Relationship Id="R8103b70605c240b0" Type="http://schemas.openxmlformats.org/officeDocument/2006/relationships/slide" Target="slides/slide7.xml"/><Relationship Id="R81407b05db334377" Type="http://schemas.openxmlformats.org/officeDocument/2006/relationships/tableStyles" Target="tableStyles.xml"/><Relationship Id="Rad24612dbade42a4" Type="http://schemas.openxmlformats.org/officeDocument/2006/relationships/viewProps" Target="viewProps.xml"/><Relationship Id="Rbee83d8dd10d401e" Type="http://schemas.openxmlformats.org/officeDocument/2006/relationships/slide" Target="slides/slide5.xml"/><Relationship Id="Rcf6ce97349624ff9" Type="http://schemas.openxmlformats.org/officeDocument/2006/relationships/slide" Target="slides/slide3.xml"/><Relationship Id="Re0ba7dce31fe49df" Type="http://schemas.openxmlformats.org/officeDocument/2006/relationships/notesMaster" Target="notesMasters/notesMaster1.xml"/><Relationship Id="Re118941afe194429" Type="http://schemas.openxmlformats.org/officeDocument/2006/relationships/slide" Target="slides/slide2.xml"/><Relationship Id="Re74f79a4ccb44a96" Type="http://schemas.openxmlformats.org/officeDocument/2006/relationships/theme" Target="theme/theme1.xml"/><Relationship Id="Re9bbcf3ad450404e" Type="http://schemas.openxmlformats.org/officeDocument/2006/relationships/slide" Target="slides/slide1.xml"/><Relationship Id="Rec80f8e4bb664fb8" Type="http://schemas.openxmlformats.org/officeDocument/2006/relationships/slide" Target="slides/slide6.xml"/><Relationship Id="Rf010324710f9439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40983f4af9534fd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7EBC"/>
      </a:hlink>
      <a:folHlink>
        <a:srgbClr val="800080"/>
      </a:folHlink>
    </a:clrScheme>
    <a:fontScheme name="Office">
      <a:majorFont>
        <a:latin typeface="Liberatio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Liberation Serif"/>
        <a:font script="Hebr" typeface="Liberation Serif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Liberation Serif"/>
        <a:font script="Uigh" typeface="Microsoft Uighur"/>
      </a:majorFont>
      <a:minorFont>
        <a:latin typeface="Liberatio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Liberation Sans"/>
        <a:font script="Hebr" typeface="Liberation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Liberation Sans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689decdf97b400d" Type="http://schemas.openxmlformats.org/officeDocument/2006/relationships/slide" Target="../slides/slide1.xml"/><Relationship Id="Rdfd38ea6331e47fe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2a675f8fe5ba434b" Type="http://schemas.openxmlformats.org/officeDocument/2006/relationships/notesMaster" Target="../notesMasters/notesMaster1.xml"/><Relationship Id="Rb3464086e7dd4586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6832651e2be547aa" Type="http://schemas.openxmlformats.org/officeDocument/2006/relationships/notesMaster" Target="../notesMasters/notesMaster1.xml"/><Relationship Id="R8d35196e739249e5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1f3ae110338c4d57" Type="http://schemas.openxmlformats.org/officeDocument/2006/relationships/slide" Target="../slides/slide4.xml"/><Relationship Id="Ra6c895f51a304e3c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47a59a1659b844e6" Type="http://schemas.openxmlformats.org/officeDocument/2006/relationships/notesMaster" Target="../notesMasters/notesMaster1.xml"/><Relationship Id="R959044965e534bee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88293418047f4534" Type="http://schemas.openxmlformats.org/officeDocument/2006/relationships/slide" Target="../slides/slide6.xml"/><Relationship Id="Rf7d9a36854da474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96cf2b834f644e53" Type="http://schemas.openxmlformats.org/officeDocument/2006/relationships/notesMaster" Target="../notesMasters/notesMaster1.xml"/><Relationship Id="Re9f562c4e58d4a6b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347ad8e37e4d471d" Type="http://schemas.openxmlformats.org/officeDocument/2006/relationships/slide" Target="../slides/slide8.xml"/><Relationship Id="Rb0577e67bf074ffb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61081a8e3fb143eb" Type="http://schemas.openxmlformats.org/officeDocument/2006/relationships/notesMaster" Target="../notesMasters/notesMaster1.xml"/><Relationship Id="R6755c4b83466404f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8c9d2ceab0e74268" Type="http://schemas.openxmlformats.org/officeDocument/2006/relationships/notesMaster" Target="../notesMasters/notesMaster1.xml"/><Relationship Id="Rc12e0e79eb394f9a" Type="http://schemas.openxmlformats.org/officeDocument/2006/relationships/slide" Target="../slides/slide1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Mejora por contratación anticipada. Visuales generados específicamente para SmartVitra con OpenAI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a00ec8ecd36e4947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aa4aeef80fa14be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c74535e9605e45e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790bfd7ff0e342af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6edf41b7a21d466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E9A38A0B-B264-400A-9E70-FD7519D33CA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25980"/>
            <a:ext cx="10363200" cy="1440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1950" b="1" i="0">
                <a:solidFill>
                  <a:schemeClr val="tx1"/>
                </a:solidFill>
                <a:latin typeface="Liberation Serif"/>
                <a:ea typeface="Liberation Serif"/>
                <a:cs typeface="Liberation Serif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E000315D-4253-472D-B43D-E14F84C85DE6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828800" y="3840480"/>
            <a:ext cx="85344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7D20139-7D74-4B18-B739-FA0A0ED225CD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12CD5F9E-03F5-4A25-8DDB-80AEF8622AD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8/21/26</a:t>
            </a:fld>
            <a:endParaRPr/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CF0ED978-33B2-4173-809F-8B65E582A303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2BA67521-53E6-49E0-BA37-9D19270AA1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950" b="1" i="0">
                <a:solidFill>
                  <a:schemeClr val="tx1"/>
                </a:solidFill>
                <a:latin typeface="Liberation Serif"/>
                <a:ea typeface="Liberation Serif"/>
                <a:cs typeface="Liberation Serif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C20BE306-981F-4AB5-B2EE-3D9C018C0F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BA618767-EBCF-4E43-A75B-16EEBB6183A8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CB10EC97-4D11-48B2-9FC8-DB91DCD00FD2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8/21/26</a:t>
            </a:fld>
            <a:endParaRPr/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63CE4704-1A17-495B-820B-F51BEA4C430A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6CB1652-DDF5-4E2C-8023-0CAC67A27E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950" b="1" i="0">
                <a:solidFill>
                  <a:schemeClr val="tx1"/>
                </a:solidFill>
                <a:latin typeface="Liberation Serif"/>
                <a:ea typeface="Liberation Serif"/>
                <a:cs typeface="Liberation Serif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E3DA243B-427B-4D05-93CC-EC096F57E6E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1577340"/>
            <a:ext cx="5303520" cy="452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07A97CAD-E369-498C-94EB-7398068FBD2F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6278880" y="1577340"/>
            <a:ext cx="5303520" cy="452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6A8C48BB-2586-4656-AF7B-6BF68715DC6B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FD329614-51BA-426E-8DA4-D712E5E3956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8/21/26</a:t>
            </a:fld>
            <a:endParaRPr/>
          </a:p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1F4CC1CD-B690-4736-9AEE-C35F51855092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D6504504-321A-4F07-89D0-098DDF2F46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950" b="1" i="0">
                <a:solidFill>
                  <a:schemeClr val="tx1"/>
                </a:solidFill>
                <a:latin typeface="Liberation Serif"/>
                <a:ea typeface="Liberation Serif"/>
                <a:cs typeface="Liberation Serif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0FC8320F-C235-45F3-8D07-E83F177662D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96213ACF-E824-4905-AD30-32175E6401C4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8/21/26</a:t>
            </a:fld>
            <a:endParaRPr/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D83C79DB-5782-4EF3-BBF5-43FBEEAA26BF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B75B0762-D732-47BF-BCE2-0EFE84E1CE7B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339C2F42-0F21-4FD8-8EC9-9A5043E0107F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8/21/26</a:t>
            </a:fld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17D6479A-7C03-461E-8294-BDFA7F2033EF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9adb2c6734a494c" Type="http://schemas.openxmlformats.org/officeDocument/2006/relationships/slideLayout" Target="../slideLayouts/slideLayout3.xml"/><Relationship Id="R48df1a7190794a4a" Type="http://schemas.openxmlformats.org/officeDocument/2006/relationships/theme" Target="theme/theme2.xml"/><Relationship Id="R523fcd01b89a4b13" Type="http://schemas.openxmlformats.org/officeDocument/2006/relationships/slideLayout" Target="../slideLayouts/slideLayout5.xml"/><Relationship Id="Rcb608b7a17084eed" Type="http://schemas.openxmlformats.org/officeDocument/2006/relationships/slideLayout" Target="../slideLayouts/slideLayout4.xml"/><Relationship Id="Rdf8a101aab9a4258" Type="http://schemas.openxmlformats.org/officeDocument/2006/relationships/slideLayout" Target="../slideLayouts/slideLayout1.xml"/><Relationship Id="Rf1e215f501b34677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BFCCFE09-5864-41EA-8974-5071F2D8F3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8840" y="480695"/>
            <a:ext cx="8241665" cy="565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1950" b="1" i="0">
                <a:solidFill>
                  <a:schemeClr val="tx1"/>
                </a:solidFill>
                <a:latin typeface="Liberation Serif"/>
                <a:ea typeface="Liberation Serif"/>
                <a:cs typeface="Liberation Serif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44CA332-DE94-46D4-9FAD-944DAC223E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77340"/>
            <a:ext cx="10972800" cy="452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B23C069-1E99-4728-80E4-A673EEEFCF1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4145280" y="6377940"/>
            <a:ext cx="390144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B1AA08BF-23BB-4B7F-B9AB-E3C98CBE3578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609600" y="6377940"/>
            <a:ext cx="280416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8/21/26</a:t>
            </a:fld>
            <a:endParaRPr/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AF80F2F1-2929-48BC-A460-7AA42AA6250A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8778240" y="6377940"/>
            <a:ext cx="280416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8a101aab9a4258"/>
    <p:sldLayoutId xmlns:r="http://schemas.openxmlformats.org/officeDocument/2006/relationships" id="2147483650" r:id="Rf1e215f501b34677"/>
    <p:sldLayoutId xmlns:r="http://schemas.openxmlformats.org/officeDocument/2006/relationships" id="2147483651" r:id="R19adb2c6734a494c"/>
    <p:sldLayoutId xmlns:r="http://schemas.openxmlformats.org/officeDocument/2006/relationships" id="2147483652" r:id="Rcb608b7a17084eed"/>
    <p:sldLayoutId xmlns:r="http://schemas.openxmlformats.org/officeDocument/2006/relationships" id="2147483653" r:id="R523fcd01b89a4b13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7EBC"/>
      </a:hlink>
      <a:folHlink>
        <a:srgbClr val="800080"/>
      </a:folHlink>
    </a:clrScheme>
    <a:fontScheme name="Office">
      <a:majorFont>
        <a:latin typeface="Liberatio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Liberation Serif"/>
        <a:font script="Hebr" typeface="Liberation Serif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Liberation Serif"/>
        <a:font script="Uigh" typeface="Microsoft Uighur"/>
      </a:majorFont>
      <a:minorFont>
        <a:latin typeface="Liberatio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Liberation Sans"/>
        <a:font script="Hebr" typeface="Liberation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Liberation Sans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d52e44591f44cd6" Type="http://schemas.openxmlformats.org/officeDocument/2006/relationships/slideLayout" Target="../slideLayouts/slideLayout2.xml"/><Relationship Id="Re7c9b789f1344f7b" Type="http://schemas.openxmlformats.org/officeDocument/2006/relationships/image" Target="../media/image.jpeg"/><Relationship Id="Rf63064996eab4d1e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5f9e7a7a95a4f73" Type="http://schemas.openxmlformats.org/officeDocument/2006/relationships/image" Target="../media/image2.jpeg"/><Relationship Id="Ra8deafb8c43e4830" Type="http://schemas.openxmlformats.org/officeDocument/2006/relationships/slideLayout" Target="../slideLayouts/slideLayout3.xml"/><Relationship Id="Rfaf854fe8e704c1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0f022a9580340d7" Type="http://schemas.openxmlformats.org/officeDocument/2006/relationships/slideLayout" Target="../slideLayouts/slideLayout3.xml"/><Relationship Id="R0a6dc6bf73c84698" Type="http://schemas.openxmlformats.org/officeDocument/2006/relationships/image" Target="../media/image5.png"/><Relationship Id="R445689efadc04261" Type="http://schemas.openxmlformats.org/officeDocument/2006/relationships/image" Target="../media/image3.png"/><Relationship Id="R59ce4645bcb94ef4" Type="http://schemas.openxmlformats.org/officeDocument/2006/relationships/image" Target="../media/image2.png"/><Relationship Id="R63c84e7d18dd4345" Type="http://schemas.openxmlformats.org/officeDocument/2006/relationships/notesSlide" Target="../notesSlides/notesSlide3.xml"/><Relationship Id="R7553cc2e04b7487f" Type="http://schemas.openxmlformats.org/officeDocument/2006/relationships/image" Target="../media/image4.png"/><Relationship Id="Rc8d4f43ce64e44c3" Type="http://schemas.openxmlformats.org/officeDocument/2006/relationships/image" Target="../media/image.png"/><Relationship Id="Rf22aa0b64d864ec1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396f520a05f042e6" Type="http://schemas.openxmlformats.org/officeDocument/2006/relationships/slideLayout" Target="../slideLayouts/slideLayout2.xml"/><Relationship Id="R5db0879309a040c6" Type="http://schemas.openxmlformats.org/officeDocument/2006/relationships/image" Target="../media/image12.png"/><Relationship Id="R82572ab1bcf94540" Type="http://schemas.openxmlformats.org/officeDocument/2006/relationships/image" Target="../media/image10.png"/><Relationship Id="R8cf37f8fdc7b47da" Type="http://schemas.openxmlformats.org/officeDocument/2006/relationships/image" Target="../media/image9.png"/><Relationship Id="R8e57e85f3d5742fb" Type="http://schemas.openxmlformats.org/officeDocument/2006/relationships/notesSlide" Target="../notesSlides/notesSlide4.xml"/><Relationship Id="R908535d64d5440c7" Type="http://schemas.openxmlformats.org/officeDocument/2006/relationships/image" Target="../media/image11.png"/><Relationship Id="Rac9f9ec0ea264bc0" Type="http://schemas.openxmlformats.org/officeDocument/2006/relationships/image" Target="../media/image6.png"/><Relationship Id="Refa95fc80923423e" Type="http://schemas.openxmlformats.org/officeDocument/2006/relationships/image" Target="../media/image7.png"/><Relationship Id="Rff80520acc20449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1e93ebf4f1db4679" Type="http://schemas.openxmlformats.org/officeDocument/2006/relationships/image" Target="../media/image13.png"/><Relationship Id="R402de8213521400d" Type="http://schemas.openxmlformats.org/officeDocument/2006/relationships/image" Target="../media/image15.png"/><Relationship Id="R608227f39e9845c4" Type="http://schemas.openxmlformats.org/officeDocument/2006/relationships/slideLayout" Target="../slideLayouts/slideLayout4.xml"/><Relationship Id="R808defc2cf9644ee" Type="http://schemas.openxmlformats.org/officeDocument/2006/relationships/notesSlide" Target="../notesSlides/notesSlide5.xml"/><Relationship Id="R81ed3f67192d4c8e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1ce604b18b064775" Type="http://schemas.openxmlformats.org/officeDocument/2006/relationships/hyperlink" Target="https://g.page/r/CfoccmQ83BZCEBM/review" TargetMode="External"/><Relationship Id="R33183cded654434d" Type="http://schemas.openxmlformats.org/officeDocument/2006/relationships/image" Target="../media/image16.png"/><Relationship Id="R3839f6145cd34481" Type="http://schemas.openxmlformats.org/officeDocument/2006/relationships/image" Target="../media/image17.png"/><Relationship Id="R70c02f8eef754843" Type="http://schemas.openxmlformats.org/officeDocument/2006/relationships/image" Target="../media/image19.png"/><Relationship Id="R7cde76b9d6d140f8" Type="http://schemas.openxmlformats.org/officeDocument/2006/relationships/hyperlink" Target="https://g.page/r/CfoccmQ83BZCEBM/review" TargetMode="External"/><Relationship Id="Rbf56009b28a94870" Type="http://schemas.openxmlformats.org/officeDocument/2006/relationships/notesSlide" Target="../notesSlides/notesSlide6.xml"/><Relationship Id="Rca0ba004f010417c" Type="http://schemas.openxmlformats.org/officeDocument/2006/relationships/image" Target="../media/image18.png"/><Relationship Id="Rd598bf44527641a3" Type="http://schemas.openxmlformats.org/officeDocument/2006/relationships/slideLayout" Target="../slideLayouts/slideLayout2.xml"/><Relationship Id="Rd7ee89818dc44c6f" Type="http://schemas.openxmlformats.org/officeDocument/2006/relationships/image" Target="../media/image20.png"/><Relationship Id="Re2466251b76d4f58" Type="http://schemas.openxmlformats.org/officeDocument/2006/relationships/hyperlink" Target="https://g.page/r/CfoccmQ83BZCEBM/review" TargetMode="External"/></Relationships>
</file>

<file path=ppt/slides/_rels/slide7.xml.rels><?xml version='1.0' encoding='UTF-8' standalone='yes'?>
<Relationships xmlns="http://schemas.openxmlformats.org/package/2006/relationships"><Relationship Id="R0dbc67266f734327" Type="http://schemas.openxmlformats.org/officeDocument/2006/relationships/image" Target="../media/image22.png"/><Relationship Id="R3837e0270f924917" Type="http://schemas.openxmlformats.org/officeDocument/2006/relationships/image" Target="../media/image4.jpeg"/><Relationship Id="R66616fb613c047b7" Type="http://schemas.openxmlformats.org/officeDocument/2006/relationships/image" Target="../media/image21.png"/><Relationship Id="R9fd8ca682006467d" Type="http://schemas.openxmlformats.org/officeDocument/2006/relationships/notesSlide" Target="../notesSlides/notesSlide7.xml"/><Relationship Id="Rb7e4b5bf20954ac6" Type="http://schemas.openxmlformats.org/officeDocument/2006/relationships/image" Target="../media/image24.png"/><Relationship Id="Rcc7172e518744f10" Type="http://schemas.openxmlformats.org/officeDocument/2006/relationships/slideLayout" Target="../slideLayouts/slideLayout2.xml"/><Relationship Id="Rec1b5a6f26f44063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11b7c1f5b9a747fb" Type="http://schemas.openxmlformats.org/officeDocument/2006/relationships/image" Target="../media/image26.png"/><Relationship Id="R3b0c7a368136444f" Type="http://schemas.openxmlformats.org/officeDocument/2006/relationships/image" Target="../media/image28.png"/><Relationship Id="R9064df8458a043b4" Type="http://schemas.openxmlformats.org/officeDocument/2006/relationships/slideLayout" Target="../slideLayouts/slideLayout2.xml"/><Relationship Id="Rb52230f926b64f31" Type="http://schemas.openxmlformats.org/officeDocument/2006/relationships/image" Target="../media/image25.png"/><Relationship Id="Rbe4e2e23eafb4e99" Type="http://schemas.openxmlformats.org/officeDocument/2006/relationships/notesSlide" Target="../notesSlides/notesSlide8.xml"/><Relationship Id="Re50bafb3b33c4718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1dc38e1bb9f14ef6" Type="http://schemas.openxmlformats.org/officeDocument/2006/relationships/notesSlide" Target="../notesSlides/notesSlide9.xml"/><Relationship Id="R2762cc02a5c14da9" Type="http://schemas.openxmlformats.org/officeDocument/2006/relationships/slideLayout" Target="../slideLayouts/slideLayout5.xml"/><Relationship Id="R421aac2bcace4763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0bfa0580b1e64a77" Type="http://schemas.openxmlformats.org/officeDocument/2006/relationships/slideLayout" Target="../slideLayouts/slideLayout5.xml"/><Relationship Id="R712d4d4e8e7444d0" Type="http://schemas.openxmlformats.org/officeDocument/2006/relationships/image" Target="../media/image5.jpeg"/><Relationship Id="Rb9caced93a8a4139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sv_s01_cover_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9b789f1344f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0"/>
            <a:ext cx="4572000" cy="6857999"/>
          </a:xfrm>
          <a:prstGeom xmlns:a="http://schemas.openxmlformats.org/drawingml/2006/main" prst="rect">
            <a:avLst/>
          </a:prstGeom>
        </p:spPr>
      </p:pic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A25B55A5-AB46-4420-A317-27946E39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40" y="702913"/>
            <a:ext cx="1002030" cy="2070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0"/>
              </a:spcBef>
              <a:buNone/>
            </a:pPr>
            <a:r>
              <a:rPr sz="1200" spc="-10">
                <a:solidFill>
                  <a:srgbClr val="007EBC"/>
                </a:solidFill>
                <a:latin typeface="Liberation Sans"/>
                <a:ea typeface="Liberation Sans"/>
                <a:cs typeface="Liberation Sans"/>
              </a:rPr>
              <a:t>SMARTVITRA</a:t>
            </a:r>
            <a:endParaRPr sz="120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2482A15F-F725-4E4D-9882-C4A713B9CC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8840" y="986567"/>
            <a:ext cx="6119495" cy="12401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ts val="4880"/>
              </a:lnSpc>
              <a:buNone/>
            </a:pPr>
            <a:r>
              <a:rPr sz="3900" spc="-330"/>
              <a:t>Una</a:t>
            </a:r>
            <a:r>
              <a:rPr sz="3900" spc="-120"/>
              <a:t> </a:t>
            </a:r>
            <a:r>
              <a:rPr sz="3900" spc="-280"/>
              <a:t>propuesta</a:t>
            </a:r>
            <a:r>
              <a:rPr sz="3900" spc="-120"/>
              <a:t> </a:t>
            </a:r>
            <a:r>
              <a:rPr sz="3900" spc="-275"/>
              <a:t>creada</a:t>
            </a:r>
            <a:r>
              <a:rPr sz="3900" spc="-120"/>
              <a:t> </a:t>
            </a:r>
            <a:r>
              <a:rPr sz="3900" spc="-340"/>
              <a:t>para </a:t>
            </a:r>
            <a:r>
              <a:rPr sz="3900" spc="-245"/>
              <a:t>esta</a:t>
            </a:r>
            <a:r>
              <a:rPr sz="3900" spc="-105"/>
              <a:t> </a:t>
            </a:r>
            <a:r>
              <a:rPr sz="3900" spc="-85"/>
              <a:t>vivienda</a:t>
            </a:r>
            <a:endParaRPr sz="3900"/>
          </a:p>
        </p:txBody>
      </p:sp>
      <p:sp>
        <p:nvSpPr>
          <p:cNvPr id="5" name="sv_s01_intro_text">
            <a:extLst xmlns:a="http://schemas.openxmlformats.org/drawingml/2006/main">
              <a:ext uri="{FF2B5EF4-FFF2-40B4-BE49-F238E27FC236}">
                <a16:creationId xmlns:a16="http://schemas.microsoft.com/office/drawing/2014/main" id="{809E11EF-C5B2-4212-83CA-58B1366E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40" y="2492070"/>
            <a:ext cx="5848985" cy="93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37900"/>
              </a:lnSpc>
              <a:spcBef>
                <a:spcPts val="90"/>
              </a:spcBef>
              <a:buNone/>
            </a:pP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Hemos</a:t>
            </a:r>
            <a:r>
              <a:rPr sz="1450" spc="17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estudiado</a:t>
            </a:r>
            <a:r>
              <a:rPr sz="1450" spc="17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vuestra</a:t>
            </a:r>
            <a:r>
              <a:rPr sz="1450" spc="18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vivienda</a:t>
            </a:r>
            <a:r>
              <a:rPr sz="1450" spc="17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para</a:t>
            </a:r>
            <a:r>
              <a:rPr sz="1450" spc="17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diseñar</a:t>
            </a:r>
            <a:r>
              <a:rPr sz="1450" spc="18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una</a:t>
            </a:r>
            <a:r>
              <a:rPr sz="1450" spc="17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solución</a:t>
            </a:r>
            <a:r>
              <a:rPr sz="1450" spc="18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 spc="-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que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mejore</a:t>
            </a:r>
            <a:r>
              <a:rPr sz="1450" spc="1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el</a:t>
            </a:r>
            <a:r>
              <a:rPr sz="1450" spc="13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confort,</a:t>
            </a:r>
            <a:r>
              <a:rPr sz="1450" spc="1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el</a:t>
            </a:r>
            <a:r>
              <a:rPr sz="1450" spc="13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aislamiento</a:t>
            </a:r>
            <a:r>
              <a:rPr sz="1450" spc="1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 spc="8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y</a:t>
            </a:r>
            <a:r>
              <a:rPr sz="1450" spc="13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la</a:t>
            </a:r>
            <a:r>
              <a:rPr sz="1450" spc="13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estética,</a:t>
            </a:r>
            <a:r>
              <a:rPr sz="1450" spc="1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adaptándonos</a:t>
            </a:r>
            <a:r>
              <a:rPr sz="1450" spc="13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 spc="-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 </a:t>
            </a:r>
            <a:r>
              <a:rPr sz="1450" spc="4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vuestras</a:t>
            </a:r>
            <a:r>
              <a:rPr sz="1450" spc="6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necesidades.</a:t>
            </a:r>
            <a:endParaRPr sz="145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75D49C5E-888F-4661-A864-4D868A6B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00" y="3817873"/>
            <a:ext cx="701675" cy="2527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14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Cliente:</a:t>
            </a:r>
            <a:endParaRPr sz="145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7" name="sv_s01_customer_name">
            <a:extLst xmlns:a="http://schemas.openxmlformats.org/drawingml/2006/main">
              <a:ext uri="{FF2B5EF4-FFF2-40B4-BE49-F238E27FC236}">
                <a16:creationId xmlns:a16="http://schemas.microsoft.com/office/drawing/2014/main" id="{D84C40BE-C490-4AEB-88D5-9C02FDA5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064" y="3817873"/>
            <a:ext cx="1482725" cy="2527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1450" spc="5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Sara</a:t>
            </a:r>
            <a:r>
              <a:rPr sz="1450" spc="6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Ru</a:t>
            </a:r>
            <a:r>
              <a:rPr sz="1450" spc="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Poyatos</a:t>
            </a:r>
            <a:endParaRPr sz="145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6EA78290-1E59-479C-8846-EC3E211E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00" y="4360798"/>
            <a:ext cx="926465" cy="2527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14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Dirección:</a:t>
            </a:r>
            <a:endParaRPr sz="145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9" name="sv_s01_address">
            <a:extLst xmlns:a="http://schemas.openxmlformats.org/drawingml/2006/main">
              <a:ext uri="{FF2B5EF4-FFF2-40B4-BE49-F238E27FC236}">
                <a16:creationId xmlns:a16="http://schemas.microsoft.com/office/drawing/2014/main" id="{30EF1AA6-E27F-4411-8C60-B20EAF6C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019" y="4360798"/>
            <a:ext cx="4838981" cy="2527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no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C/</a:t>
            </a:r>
            <a:r>
              <a:rPr sz="1450" spc="7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Dulcinea</a:t>
            </a:r>
            <a:r>
              <a:rPr sz="1450" spc="7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7,</a:t>
            </a:r>
            <a:r>
              <a:rPr sz="1450" spc="7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Alcorcón</a:t>
            </a:r>
            <a:endParaRPr sz="145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E63A4D6C-D247-4DD8-9E87-25696A8D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00" y="4835220"/>
            <a:ext cx="1200785" cy="63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37900"/>
              </a:lnSpc>
              <a:spcBef>
                <a:spcPts val="90"/>
              </a:spcBef>
              <a:buNone/>
            </a:pPr>
            <a:r>
              <a:rPr sz="1450" spc="-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Nº </a:t>
            </a:r>
            <a:r>
              <a:rPr sz="14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Presupuesto:</a:t>
            </a:r>
            <a:endParaRPr sz="145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11" name="sv_s01_proposal_number">
            <a:extLst xmlns:a="http://schemas.openxmlformats.org/drawingml/2006/main">
              <a:ext uri="{FF2B5EF4-FFF2-40B4-BE49-F238E27FC236}">
                <a16:creationId xmlns:a16="http://schemas.microsoft.com/office/drawing/2014/main" id="{AB127010-BB35-48C1-BC1B-ADAF2575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014" y="4913248"/>
            <a:ext cx="691515" cy="2527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14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S00195</a:t>
            </a:r>
            <a:endParaRPr sz="145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7E2EEFFF-8C95-42AD-9F5C-C34EC620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00" y="5760973"/>
            <a:ext cx="619760" cy="2527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1450" spc="4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Fecha:</a:t>
            </a:r>
            <a:endParaRPr sz="145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13" name="sv_s01_date">
            <a:extLst xmlns:a="http://schemas.openxmlformats.org/drawingml/2006/main">
              <a:ext uri="{FF2B5EF4-FFF2-40B4-BE49-F238E27FC236}">
                <a16:creationId xmlns:a16="http://schemas.microsoft.com/office/drawing/2014/main" id="{96EFDDB1-C53F-4D78-AA25-CFA1AE04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171" y="5760973"/>
            <a:ext cx="805180" cy="2527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14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15/07/26</a:t>
            </a:r>
            <a:endParaRPr sz="1450">
              <a:latin typeface="Liberation Sans"/>
              <a:ea typeface="Liberation Sans"/>
              <a:cs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1051111904"/>
      </p:ext>
    </p:extLst>
  </p:cSld>
</p:sld>
</file>

<file path=ppt/slides/slide2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sv_s02_problem_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9e7a7a95a4f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572000" cy="6857999"/>
          </a:xfrm>
          <a:prstGeom xmlns:a="http://schemas.openxmlformats.org/drawingml/2006/main" prst="rect">
            <a:avLst/>
          </a:prstGeom>
        </p:spPr>
      </p:pic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5A86327B-8BC7-47B2-9061-FB4D4AB64D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20842" y="1358042"/>
            <a:ext cx="5506720" cy="621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33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5"/>
              </a:spcBef>
              <a:buNone/>
            </a:pPr>
            <a:r>
              <a:rPr sz="3900" spc="-365"/>
              <a:t>Lo</a:t>
            </a:r>
            <a:r>
              <a:rPr sz="3900" spc="-130"/>
              <a:t> </a:t>
            </a:r>
            <a:r>
              <a:rPr sz="3900" spc="-265"/>
              <a:t>que</a:t>
            </a:r>
            <a:r>
              <a:rPr sz="3900" spc="-130"/>
              <a:t> </a:t>
            </a:r>
            <a:r>
              <a:rPr sz="3900" spc="-310"/>
              <a:t>hemos</a:t>
            </a:r>
            <a:r>
              <a:rPr sz="3900" spc="-130"/>
              <a:t> </a:t>
            </a:r>
            <a:r>
              <a:rPr sz="3900" spc="-200"/>
              <a:t>detectado</a:t>
            </a:r>
            <a:endParaRPr sz="3900"/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206D2554-274F-4675-B308-86C045CE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335000"/>
            <a:ext cx="285115" cy="245110"/>
          </a:xfrm>
          <a:custGeom xmlns:a="http://schemas.openxmlformats.org/drawingml/2006/main">
            <a:rect l="l" t="t" r="r" b="b"/>
            <a:pathLst>
              <a:path w="285114" h="245110">
                <a:moveTo>
                  <a:pt x="165252" y="0"/>
                </a:moveTo>
                <a:lnTo>
                  <a:pt x="158800" y="0"/>
                </a:lnTo>
                <a:lnTo>
                  <a:pt x="150952" y="7835"/>
                </a:lnTo>
                <a:lnTo>
                  <a:pt x="150952" y="14300"/>
                </a:lnTo>
                <a:lnTo>
                  <a:pt x="248983" y="112344"/>
                </a:lnTo>
                <a:lnTo>
                  <a:pt x="4559" y="112344"/>
                </a:lnTo>
                <a:lnTo>
                  <a:pt x="0" y="116890"/>
                </a:lnTo>
                <a:lnTo>
                  <a:pt x="0" y="128041"/>
                </a:lnTo>
                <a:lnTo>
                  <a:pt x="4559" y="132588"/>
                </a:lnTo>
                <a:lnTo>
                  <a:pt x="248983" y="132588"/>
                </a:lnTo>
                <a:lnTo>
                  <a:pt x="150952" y="230632"/>
                </a:lnTo>
                <a:lnTo>
                  <a:pt x="150952" y="237083"/>
                </a:lnTo>
                <a:lnTo>
                  <a:pt x="158800" y="244932"/>
                </a:lnTo>
                <a:lnTo>
                  <a:pt x="165252" y="244932"/>
                </a:lnTo>
                <a:lnTo>
                  <a:pt x="284505" y="125691"/>
                </a:lnTo>
                <a:lnTo>
                  <a:pt x="284505" y="119240"/>
                </a:lnTo>
                <a:lnTo>
                  <a:pt x="165252" y="0"/>
                </a:lnTo>
                <a:close/>
              </a:path>
            </a:pathLst>
          </a:custGeom>
          <a:solidFill xmlns:a="http://schemas.openxmlformats.org/drawingml/2006/main">
            <a:srgbClr val="007EB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v_s02_issue_1">
            <a:extLst xmlns:a="http://schemas.openxmlformats.org/drawingml/2006/main">
              <a:ext uri="{FF2B5EF4-FFF2-40B4-BE49-F238E27FC236}">
                <a16:creationId xmlns:a16="http://schemas.microsoft.com/office/drawing/2014/main" id="{0587C1DA-AA11-4861-BC2F-F52FFBC5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053" y="2250000"/>
            <a:ext cx="2338705" cy="8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1450" b="1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NULO</a:t>
            </a:r>
            <a:r>
              <a:rPr sz="1450" b="1" spc="-5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aislamiento</a:t>
            </a:r>
            <a:r>
              <a:rPr sz="1450" spc="8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térmico</a:t>
            </a:r>
            <a:endParaRPr sz="145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FBB6F35F-6358-4F6E-BEB8-0FB4F941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5000"/>
            <a:ext cx="285115" cy="245110"/>
          </a:xfrm>
          <a:custGeom xmlns:a="http://schemas.openxmlformats.org/drawingml/2006/main">
            <a:rect l="l" t="t" r="r" b="b"/>
            <a:pathLst>
              <a:path w="285115" h="245110">
                <a:moveTo>
                  <a:pt x="165252" y="0"/>
                </a:moveTo>
                <a:lnTo>
                  <a:pt x="158800" y="0"/>
                </a:lnTo>
                <a:lnTo>
                  <a:pt x="150952" y="7835"/>
                </a:lnTo>
                <a:lnTo>
                  <a:pt x="150952" y="14300"/>
                </a:lnTo>
                <a:lnTo>
                  <a:pt x="248983" y="112344"/>
                </a:lnTo>
                <a:lnTo>
                  <a:pt x="4559" y="112344"/>
                </a:lnTo>
                <a:lnTo>
                  <a:pt x="0" y="116890"/>
                </a:lnTo>
                <a:lnTo>
                  <a:pt x="0" y="128041"/>
                </a:lnTo>
                <a:lnTo>
                  <a:pt x="4559" y="132588"/>
                </a:lnTo>
                <a:lnTo>
                  <a:pt x="248983" y="132588"/>
                </a:lnTo>
                <a:lnTo>
                  <a:pt x="150952" y="230632"/>
                </a:lnTo>
                <a:lnTo>
                  <a:pt x="150952" y="237083"/>
                </a:lnTo>
                <a:lnTo>
                  <a:pt x="158800" y="244932"/>
                </a:lnTo>
                <a:lnTo>
                  <a:pt x="165252" y="244932"/>
                </a:lnTo>
                <a:lnTo>
                  <a:pt x="284505" y="125691"/>
                </a:lnTo>
                <a:lnTo>
                  <a:pt x="284505" y="119240"/>
                </a:lnTo>
                <a:lnTo>
                  <a:pt x="165252" y="0"/>
                </a:lnTo>
                <a:close/>
              </a:path>
            </a:pathLst>
          </a:custGeom>
          <a:solidFill xmlns:a="http://schemas.openxmlformats.org/drawingml/2006/main">
            <a:srgbClr val="007EB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v_s02_issue_2">
            <a:extLst xmlns:a="http://schemas.openxmlformats.org/drawingml/2006/main">
              <a:ext uri="{FF2B5EF4-FFF2-40B4-BE49-F238E27FC236}">
                <a16:creationId xmlns:a16="http://schemas.microsoft.com/office/drawing/2014/main" id="{057532DC-9EC4-41BF-8A74-2351C4B8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531" y="2250000"/>
            <a:ext cx="2433320" cy="8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37900"/>
              </a:lnSpc>
              <a:spcBef>
                <a:spcPts val="90"/>
              </a:spcBef>
              <a:buNone/>
            </a:pP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Renovar</a:t>
            </a:r>
            <a:r>
              <a:rPr sz="1450" spc="2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ventanas</a:t>
            </a:r>
            <a:r>
              <a:rPr sz="1450" spc="2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antiguas </a:t>
            </a:r>
            <a:r>
              <a:rPr sz="1450" spc="8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y</a:t>
            </a:r>
            <a:r>
              <a:rPr sz="1450" spc="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450" spc="7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 b="1" spc="6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MUY</a:t>
            </a:r>
            <a:r>
              <a:rPr sz="1450" b="1" spc="-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 b="1" spc="7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BAJA</a:t>
            </a:r>
            <a:r>
              <a:rPr sz="1450" b="1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calidad</a:t>
            </a:r>
            <a:endParaRPr sz="145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1AD08C16-DD13-4456-BBD8-D690FE18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835000"/>
            <a:ext cx="285115" cy="245110"/>
          </a:xfrm>
          <a:custGeom xmlns:a="http://schemas.openxmlformats.org/drawingml/2006/main">
            <a:rect l="l" t="t" r="r" b="b"/>
            <a:pathLst>
              <a:path w="285114" h="245110">
                <a:moveTo>
                  <a:pt x="165252" y="0"/>
                </a:moveTo>
                <a:lnTo>
                  <a:pt x="158800" y="0"/>
                </a:lnTo>
                <a:lnTo>
                  <a:pt x="150952" y="7835"/>
                </a:lnTo>
                <a:lnTo>
                  <a:pt x="150952" y="14300"/>
                </a:lnTo>
                <a:lnTo>
                  <a:pt x="248983" y="112344"/>
                </a:lnTo>
                <a:lnTo>
                  <a:pt x="4559" y="112344"/>
                </a:lnTo>
                <a:lnTo>
                  <a:pt x="0" y="116890"/>
                </a:lnTo>
                <a:lnTo>
                  <a:pt x="0" y="128041"/>
                </a:lnTo>
                <a:lnTo>
                  <a:pt x="4559" y="132588"/>
                </a:lnTo>
                <a:lnTo>
                  <a:pt x="248983" y="132588"/>
                </a:lnTo>
                <a:lnTo>
                  <a:pt x="150952" y="230632"/>
                </a:lnTo>
                <a:lnTo>
                  <a:pt x="150952" y="237083"/>
                </a:lnTo>
                <a:lnTo>
                  <a:pt x="158800" y="244932"/>
                </a:lnTo>
                <a:lnTo>
                  <a:pt x="165252" y="244932"/>
                </a:lnTo>
                <a:lnTo>
                  <a:pt x="284505" y="125691"/>
                </a:lnTo>
                <a:lnTo>
                  <a:pt x="284505" y="119240"/>
                </a:lnTo>
                <a:lnTo>
                  <a:pt x="165252" y="0"/>
                </a:lnTo>
                <a:close/>
              </a:path>
            </a:pathLst>
          </a:custGeom>
          <a:solidFill xmlns:a="http://schemas.openxmlformats.org/drawingml/2006/main">
            <a:srgbClr val="007EB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v_s02_issue_3">
            <a:extLst xmlns:a="http://schemas.openxmlformats.org/drawingml/2006/main">
              <a:ext uri="{FF2B5EF4-FFF2-40B4-BE49-F238E27FC236}">
                <a16:creationId xmlns:a16="http://schemas.microsoft.com/office/drawing/2014/main" id="{61116C64-B4B8-4D44-8FD9-DE65679C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456" y="3750000"/>
            <a:ext cx="2330450" cy="8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33600"/>
              </a:lnSpc>
              <a:spcBef>
                <a:spcPts val="90"/>
              </a:spcBef>
              <a:buNone/>
            </a:pPr>
            <a:r>
              <a:rPr sz="1450" b="1" spc="-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REDUCIDA</a:t>
            </a:r>
            <a:r>
              <a:rPr sz="1450" b="1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entrada</a:t>
            </a:r>
            <a:r>
              <a:rPr sz="1450" spc="7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450" spc="7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 spc="-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luz </a:t>
            </a:r>
            <a:r>
              <a:rPr sz="14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natural</a:t>
            </a:r>
            <a:endParaRPr sz="145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C435022F-14D5-43CD-B941-6DE045B4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35000"/>
            <a:ext cx="285115" cy="245110"/>
          </a:xfrm>
          <a:custGeom xmlns:a="http://schemas.openxmlformats.org/drawingml/2006/main">
            <a:rect l="l" t="t" r="r" b="b"/>
            <a:pathLst>
              <a:path w="285115" h="245110">
                <a:moveTo>
                  <a:pt x="165252" y="0"/>
                </a:moveTo>
                <a:lnTo>
                  <a:pt x="158800" y="0"/>
                </a:lnTo>
                <a:lnTo>
                  <a:pt x="150952" y="7835"/>
                </a:lnTo>
                <a:lnTo>
                  <a:pt x="150952" y="14300"/>
                </a:lnTo>
                <a:lnTo>
                  <a:pt x="248983" y="112344"/>
                </a:lnTo>
                <a:lnTo>
                  <a:pt x="4559" y="112344"/>
                </a:lnTo>
                <a:lnTo>
                  <a:pt x="0" y="116890"/>
                </a:lnTo>
                <a:lnTo>
                  <a:pt x="0" y="128041"/>
                </a:lnTo>
                <a:lnTo>
                  <a:pt x="4559" y="132588"/>
                </a:lnTo>
                <a:lnTo>
                  <a:pt x="248983" y="132588"/>
                </a:lnTo>
                <a:lnTo>
                  <a:pt x="150952" y="230632"/>
                </a:lnTo>
                <a:lnTo>
                  <a:pt x="150952" y="237083"/>
                </a:lnTo>
                <a:lnTo>
                  <a:pt x="158800" y="244932"/>
                </a:lnTo>
                <a:lnTo>
                  <a:pt x="165252" y="244932"/>
                </a:lnTo>
                <a:lnTo>
                  <a:pt x="284505" y="125691"/>
                </a:lnTo>
                <a:lnTo>
                  <a:pt x="284505" y="119240"/>
                </a:lnTo>
                <a:lnTo>
                  <a:pt x="165252" y="0"/>
                </a:lnTo>
                <a:close/>
              </a:path>
            </a:pathLst>
          </a:custGeom>
          <a:solidFill xmlns:a="http://schemas.openxmlformats.org/drawingml/2006/main">
            <a:srgbClr val="007EB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v_s02_issue_4">
            <a:extLst xmlns:a="http://schemas.openxmlformats.org/drawingml/2006/main">
              <a:ext uri="{FF2B5EF4-FFF2-40B4-BE49-F238E27FC236}">
                <a16:creationId xmlns:a16="http://schemas.microsoft.com/office/drawing/2014/main" id="{7F2D64F3-564D-4CDF-84DD-F411014E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531" y="3750000"/>
            <a:ext cx="2341880" cy="8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33600"/>
              </a:lnSpc>
              <a:spcBef>
                <a:spcPts val="90"/>
              </a:spcBef>
              <a:buNone/>
            </a:pPr>
            <a:r>
              <a:rPr sz="1450" b="1" spc="6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CAJONES</a:t>
            </a:r>
            <a:r>
              <a:rPr sz="1450" b="1" spc="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450" spc="7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persianas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enormes</a:t>
            </a:r>
            <a:r>
              <a:rPr sz="1450" spc="13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 spc="8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y</a:t>
            </a:r>
            <a:r>
              <a:rPr sz="1450" spc="13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sin</a:t>
            </a:r>
            <a:r>
              <a:rPr sz="1450" spc="13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aislamiento</a:t>
            </a:r>
            <a:endParaRPr sz="145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ED62A270-A1F6-4D0A-8EC3-5FFBE02F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335000"/>
            <a:ext cx="285115" cy="245110"/>
          </a:xfrm>
          <a:custGeom xmlns:a="http://schemas.openxmlformats.org/drawingml/2006/main">
            <a:rect l="l" t="t" r="r" b="b"/>
            <a:pathLst>
              <a:path w="285114" h="245110">
                <a:moveTo>
                  <a:pt x="165252" y="0"/>
                </a:moveTo>
                <a:lnTo>
                  <a:pt x="158800" y="0"/>
                </a:lnTo>
                <a:lnTo>
                  <a:pt x="150952" y="7835"/>
                </a:lnTo>
                <a:lnTo>
                  <a:pt x="150952" y="14300"/>
                </a:lnTo>
                <a:lnTo>
                  <a:pt x="248983" y="112344"/>
                </a:lnTo>
                <a:lnTo>
                  <a:pt x="4559" y="112344"/>
                </a:lnTo>
                <a:lnTo>
                  <a:pt x="0" y="116890"/>
                </a:lnTo>
                <a:lnTo>
                  <a:pt x="0" y="128041"/>
                </a:lnTo>
                <a:lnTo>
                  <a:pt x="4559" y="132588"/>
                </a:lnTo>
                <a:lnTo>
                  <a:pt x="248983" y="132588"/>
                </a:lnTo>
                <a:lnTo>
                  <a:pt x="150952" y="230632"/>
                </a:lnTo>
                <a:lnTo>
                  <a:pt x="150952" y="237083"/>
                </a:lnTo>
                <a:lnTo>
                  <a:pt x="158800" y="244932"/>
                </a:lnTo>
                <a:lnTo>
                  <a:pt x="165252" y="244932"/>
                </a:lnTo>
                <a:lnTo>
                  <a:pt x="284505" y="125691"/>
                </a:lnTo>
                <a:lnTo>
                  <a:pt x="284505" y="119240"/>
                </a:lnTo>
                <a:lnTo>
                  <a:pt x="165252" y="0"/>
                </a:lnTo>
                <a:close/>
              </a:path>
            </a:pathLst>
          </a:custGeom>
          <a:solidFill xmlns:a="http://schemas.openxmlformats.org/drawingml/2006/main">
            <a:srgbClr val="007EB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v_s02_issue_5">
            <a:extLst xmlns:a="http://schemas.openxmlformats.org/drawingml/2006/main">
              <a:ext uri="{FF2B5EF4-FFF2-40B4-BE49-F238E27FC236}">
                <a16:creationId xmlns:a16="http://schemas.microsoft.com/office/drawing/2014/main" id="{197C2FBA-35AE-497C-B76D-CA6AE8B4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053" y="5250000"/>
            <a:ext cx="2002155" cy="8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8572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675"/>
              </a:spcBef>
              <a:buNone/>
            </a:pPr>
            <a:r>
              <a:rPr sz="1450" b="1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PROBLEMA 5</a:t>
            </a:r>
            <a:endParaRPr sz="145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E3656505-6889-400C-BBCD-4EF1AD7F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5000"/>
            <a:ext cx="285115" cy="245110"/>
          </a:xfrm>
          <a:custGeom xmlns:a="http://schemas.openxmlformats.org/drawingml/2006/main">
            <a:rect l="l" t="t" r="r" b="b"/>
            <a:pathLst>
              <a:path w="285115" h="245110">
                <a:moveTo>
                  <a:pt x="165252" y="0"/>
                </a:moveTo>
                <a:lnTo>
                  <a:pt x="158800" y="0"/>
                </a:lnTo>
                <a:lnTo>
                  <a:pt x="150952" y="7835"/>
                </a:lnTo>
                <a:lnTo>
                  <a:pt x="150952" y="14300"/>
                </a:lnTo>
                <a:lnTo>
                  <a:pt x="248983" y="112344"/>
                </a:lnTo>
                <a:lnTo>
                  <a:pt x="4559" y="112344"/>
                </a:lnTo>
                <a:lnTo>
                  <a:pt x="0" y="116890"/>
                </a:lnTo>
                <a:lnTo>
                  <a:pt x="0" y="128041"/>
                </a:lnTo>
                <a:lnTo>
                  <a:pt x="4559" y="132588"/>
                </a:lnTo>
                <a:lnTo>
                  <a:pt x="248983" y="132588"/>
                </a:lnTo>
                <a:lnTo>
                  <a:pt x="150952" y="230632"/>
                </a:lnTo>
                <a:lnTo>
                  <a:pt x="150952" y="237083"/>
                </a:lnTo>
                <a:lnTo>
                  <a:pt x="158800" y="244932"/>
                </a:lnTo>
                <a:lnTo>
                  <a:pt x="165252" y="244932"/>
                </a:lnTo>
                <a:lnTo>
                  <a:pt x="284505" y="125691"/>
                </a:lnTo>
                <a:lnTo>
                  <a:pt x="284505" y="119240"/>
                </a:lnTo>
                <a:lnTo>
                  <a:pt x="165252" y="0"/>
                </a:lnTo>
                <a:close/>
              </a:path>
            </a:pathLst>
          </a:custGeom>
          <a:solidFill xmlns:a="http://schemas.openxmlformats.org/drawingml/2006/main">
            <a:srgbClr val="007EB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v_s02_issue_6">
            <a:extLst xmlns:a="http://schemas.openxmlformats.org/drawingml/2006/main">
              <a:ext uri="{FF2B5EF4-FFF2-40B4-BE49-F238E27FC236}">
                <a16:creationId xmlns:a16="http://schemas.microsoft.com/office/drawing/2014/main" id="{4C5B16E6-E53A-4285-B16D-1113A2BB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0261" y="5250000"/>
            <a:ext cx="2107565" cy="105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889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01600"/>
              </a:lnSpc>
              <a:spcBef>
                <a:spcPts val="70"/>
              </a:spcBef>
              <a:buNone/>
            </a:pPr>
            <a:r>
              <a:rPr sz="2400" b="1" i="1" spc="-310">
                <a:solidFill>
                  <a:srgbClr val="F44343"/>
                </a:solidFill>
                <a:latin typeface="Liberation Serif"/>
                <a:ea typeface="Liberation Serif"/>
                <a:cs typeface="Liberation Serif"/>
              </a:rPr>
              <a:t>DERROCHE</a:t>
            </a:r>
            <a:r>
              <a:rPr sz="2400" b="1" i="1" spc="-90">
                <a:solidFill>
                  <a:srgbClr val="F44343"/>
                </a:solidFill>
                <a:latin typeface="Liberation Serif"/>
                <a:ea typeface="Liberation Serif"/>
                <a:cs typeface="Liberation Serif"/>
              </a:rPr>
              <a:t> </a:t>
            </a:r>
            <a:r>
              <a:rPr sz="2400" b="1" i="1" spc="-325">
                <a:solidFill>
                  <a:srgbClr val="F44343"/>
                </a:solidFill>
                <a:latin typeface="Liberation Serif"/>
                <a:ea typeface="Liberation Serif"/>
                <a:cs typeface="Liberation Serif"/>
              </a:rPr>
              <a:t>DE </a:t>
            </a:r>
            <a:r>
              <a:rPr sz="2400" b="1" i="1" spc="-300">
                <a:solidFill>
                  <a:srgbClr val="F44343"/>
                </a:solidFill>
                <a:latin typeface="Liberation Serif"/>
                <a:ea typeface="Liberation Serif"/>
                <a:cs typeface="Liberation Serif"/>
              </a:rPr>
              <a:t>DINERO</a:t>
            </a:r>
            <a:endParaRPr sz="2400">
              <a:latin typeface="Liberation Serif"/>
              <a:ea typeface="Liberation Serif"/>
              <a:cs typeface="Liberation Serif"/>
            </a:endParaRPr>
          </a:p>
        </p:txBody>
      </p:sp>
    </p:spTree>
    <p:extLst>
      <p:ext uri="{BB962C8B-B14F-4D97-AF65-F5344CB8AC3E}">
        <p14:creationId xmlns:p14="http://schemas.microsoft.com/office/powerpoint/2010/main" val="1882281352"/>
      </p:ext>
    </p:extLst>
  </p:cSld>
</p:sld>
</file>

<file path=ppt/slides/slide3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sv_s03_generated_solution_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aa0b64d864e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0"/>
            <a:ext cx="4572000" cy="6857999"/>
          </a:xfrm>
          <a:prstGeom xmlns:a="http://schemas.openxmlformats.org/drawingml/2006/main" prst="rect">
            <a:avLst/>
          </a:prstGeom>
        </p:spPr>
      </p:pic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6C663D7B-719D-42E6-8147-0B04A49DF1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4604" rIns="0" bIns="0">
            <a:spAutoFit/>
          </a:bodyPr>
          <a:lstStyle xmlns:a="http://schemas.openxmlformats.org/drawingml/2006/main"/>
          <a:p xmlns:a="http://schemas.openxmlformats.org/drawingml/2006/main">
            <a:pPr marL="12065">
              <a:lnSpc>
                <a:spcPct val="100000"/>
              </a:lnSpc>
              <a:spcBef>
                <a:spcPts val="114"/>
              </a:spcBef>
              <a:buNone/>
            </a:pPr>
            <a:r>
              <a:rPr sz="3400" spc="-235"/>
              <a:t>Nuestra</a:t>
            </a:r>
            <a:r>
              <a:rPr sz="3400" spc="-70"/>
              <a:t> </a:t>
            </a:r>
            <a:r>
              <a:rPr sz="3400" spc="-210"/>
              <a:t>propuesta</a:t>
            </a:r>
            <a:endParaRPr sz="3400"/>
          </a:p>
        </p:txBody>
      </p:sp>
      <p:pic>
        <p:nvPicPr>
          <p:cNvPr id="30" name="sv_s03_solution_1_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4f43ce64e44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899" y="1499895"/>
            <a:ext cx="247649" cy="247649"/>
          </a:xfrm>
          <a:prstGeom xmlns:a="http://schemas.openxmlformats.org/drawingml/2006/main" prst="rect">
            <a:avLst/>
          </a:prstGeom>
        </p:spPr>
      </p:pic>
      <p:sp>
        <p:nvSpPr>
          <p:cNvPr id="5" name="sv_s03_solution_1">
            <a:extLst xmlns:a="http://schemas.openxmlformats.org/drawingml/2006/main">
              <a:ext uri="{FF2B5EF4-FFF2-40B4-BE49-F238E27FC236}">
                <a16:creationId xmlns:a16="http://schemas.microsoft.com/office/drawing/2014/main" id="{05A19B23-DD30-4ED6-850D-68BD74C4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260" y="1498346"/>
            <a:ext cx="2075180" cy="2241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3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PVC</a:t>
            </a:r>
            <a:r>
              <a:rPr sz="1300" spc="9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300" spc="9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altas</a:t>
            </a:r>
            <a:r>
              <a:rPr sz="1300" spc="9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0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prestaciones</a:t>
            </a:r>
            <a:endParaRPr sz="130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6" name="sv_s03_solution_2_icon">
            <a:extLst xmlns:a="http://schemas.openxmlformats.org/drawingml/2006/main">
              <a:ext uri="{FF2B5EF4-FFF2-40B4-BE49-F238E27FC236}">
                <a16:creationId xmlns:a16="http://schemas.microsoft.com/office/drawing/2014/main" id="{95E0870E-D974-43E3-AA8B-A99F60E6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90495"/>
            <a:ext cx="248285" cy="248285"/>
          </a:xfrm>
          <a:custGeom xmlns:a="http://schemas.openxmlformats.org/drawingml/2006/main">
            <a:rect l="l" t="t" r="r" b="b"/>
            <a:pathLst>
              <a:path w="248284" h="248285">
                <a:moveTo>
                  <a:pt x="37673" y="211734"/>
                </a:moveTo>
                <a:lnTo>
                  <a:pt x="59526" y="189750"/>
                </a:lnTo>
              </a:path>
              <a:path w="248284" h="248285">
                <a:moveTo>
                  <a:pt x="189656" y="188353"/>
                </a:moveTo>
                <a:lnTo>
                  <a:pt x="213206" y="212026"/>
                </a:lnTo>
              </a:path>
              <a:path w="248284" h="248285">
                <a:moveTo>
                  <a:pt x="0" y="125349"/>
                </a:moveTo>
                <a:lnTo>
                  <a:pt x="32142" y="125196"/>
                </a:lnTo>
              </a:path>
              <a:path w="248284" h="248285">
                <a:moveTo>
                  <a:pt x="215249" y="125234"/>
                </a:moveTo>
                <a:lnTo>
                  <a:pt x="247947" y="125234"/>
                </a:lnTo>
              </a:path>
              <a:path w="248284" h="248285">
                <a:moveTo>
                  <a:pt x="35068" y="38138"/>
                </a:moveTo>
                <a:lnTo>
                  <a:pt x="57056" y="60934"/>
                </a:lnTo>
              </a:path>
              <a:path w="248284" h="248285">
                <a:moveTo>
                  <a:pt x="124757" y="0"/>
                </a:moveTo>
                <a:lnTo>
                  <a:pt x="124787" y="35953"/>
                </a:lnTo>
              </a:path>
              <a:path w="248284" h="248285">
                <a:moveTo>
                  <a:pt x="190783" y="61887"/>
                </a:moveTo>
                <a:lnTo>
                  <a:pt x="213281" y="39522"/>
                </a:lnTo>
              </a:path>
              <a:path w="248284" h="248285">
                <a:moveTo>
                  <a:pt x="69264" y="156578"/>
                </a:moveTo>
                <a:lnTo>
                  <a:pt x="67101" y="152717"/>
                </a:lnTo>
                <a:lnTo>
                  <a:pt x="65360" y="148666"/>
                </a:lnTo>
                <a:lnTo>
                  <a:pt x="64046" y="144424"/>
                </a:lnTo>
                <a:lnTo>
                  <a:pt x="62735" y="140195"/>
                </a:lnTo>
                <a:lnTo>
                  <a:pt x="61873" y="135864"/>
                </a:lnTo>
                <a:lnTo>
                  <a:pt x="61465" y="131457"/>
                </a:lnTo>
                <a:lnTo>
                  <a:pt x="61064" y="127038"/>
                </a:lnTo>
                <a:lnTo>
                  <a:pt x="61118" y="122631"/>
                </a:lnTo>
                <a:lnTo>
                  <a:pt x="74989" y="85953"/>
                </a:lnTo>
                <a:lnTo>
                  <a:pt x="77995" y="82702"/>
                </a:lnTo>
                <a:lnTo>
                  <a:pt x="81001" y="79438"/>
                </a:lnTo>
                <a:lnTo>
                  <a:pt x="84316" y="76530"/>
                </a:lnTo>
                <a:lnTo>
                  <a:pt x="87937" y="73977"/>
                </a:lnTo>
                <a:lnTo>
                  <a:pt x="91554" y="71412"/>
                </a:lnTo>
                <a:lnTo>
                  <a:pt x="95398" y="69253"/>
                </a:lnTo>
                <a:lnTo>
                  <a:pt x="99471" y="67500"/>
                </a:lnTo>
                <a:lnTo>
                  <a:pt x="103544" y="65735"/>
                </a:lnTo>
                <a:lnTo>
                  <a:pt x="107751" y="64427"/>
                </a:lnTo>
                <a:lnTo>
                  <a:pt x="112102" y="63563"/>
                </a:lnTo>
                <a:lnTo>
                  <a:pt x="116447" y="62687"/>
                </a:lnTo>
                <a:lnTo>
                  <a:pt x="120837" y="62280"/>
                </a:lnTo>
                <a:lnTo>
                  <a:pt x="125274" y="62331"/>
                </a:lnTo>
                <a:lnTo>
                  <a:pt x="129703" y="62382"/>
                </a:lnTo>
                <a:lnTo>
                  <a:pt x="134084" y="62890"/>
                </a:lnTo>
                <a:lnTo>
                  <a:pt x="138409" y="63868"/>
                </a:lnTo>
                <a:lnTo>
                  <a:pt x="142736" y="64833"/>
                </a:lnTo>
                <a:lnTo>
                  <a:pt x="146913" y="66243"/>
                </a:lnTo>
                <a:lnTo>
                  <a:pt x="150945" y="68097"/>
                </a:lnTo>
                <a:lnTo>
                  <a:pt x="154974" y="69938"/>
                </a:lnTo>
                <a:lnTo>
                  <a:pt x="179720" y="94589"/>
                </a:lnTo>
                <a:lnTo>
                  <a:pt x="181893" y="98437"/>
                </a:lnTo>
                <a:lnTo>
                  <a:pt x="187582" y="119697"/>
                </a:lnTo>
                <a:lnTo>
                  <a:pt x="187999" y="124104"/>
                </a:lnTo>
                <a:lnTo>
                  <a:pt x="179064" y="157861"/>
                </a:lnTo>
                <a:lnTo>
                  <a:pt x="176813" y="161683"/>
                </a:lnTo>
                <a:lnTo>
                  <a:pt x="161269" y="177241"/>
                </a:lnTo>
                <a:lnTo>
                  <a:pt x="157659" y="179819"/>
                </a:lnTo>
                <a:lnTo>
                  <a:pt x="153818" y="181991"/>
                </a:lnTo>
                <a:lnTo>
                  <a:pt x="149750" y="183756"/>
                </a:lnTo>
                <a:lnTo>
                  <a:pt x="145682" y="185521"/>
                </a:lnTo>
                <a:lnTo>
                  <a:pt x="141475" y="186842"/>
                </a:lnTo>
                <a:lnTo>
                  <a:pt x="137134" y="187718"/>
                </a:lnTo>
              </a:path>
              <a:path w="248284" h="248285">
                <a:moveTo>
                  <a:pt x="124757" y="215328"/>
                </a:moveTo>
                <a:lnTo>
                  <a:pt x="124777" y="247878"/>
                </a:lnTo>
              </a:path>
              <a:path w="248284" h="248285">
                <a:moveTo>
                  <a:pt x="137115" y="187617"/>
                </a:moveTo>
                <a:lnTo>
                  <a:pt x="128933" y="188670"/>
                </a:lnTo>
                <a:lnTo>
                  <a:pt x="120503" y="188626"/>
                </a:lnTo>
                <a:lnTo>
                  <a:pt x="111832" y="187363"/>
                </a:lnTo>
                <a:lnTo>
                  <a:pt x="102924" y="184759"/>
                </a:lnTo>
                <a:lnTo>
                  <a:pt x="92701" y="179892"/>
                </a:lnTo>
                <a:lnTo>
                  <a:pt x="83745" y="173539"/>
                </a:lnTo>
                <a:lnTo>
                  <a:pt x="76056" y="165700"/>
                </a:lnTo>
                <a:lnTo>
                  <a:pt x="69636" y="156375"/>
                </a:lnTo>
              </a:path>
            </a:pathLst>
          </a:custGeom>
          <a:ln xmlns:a="http://schemas.openxmlformats.org/drawingml/2006/main" w="10981">
            <a:solidFill>
              <a:srgbClr val="007EBC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v_s03_solution_2">
            <a:extLst xmlns:a="http://schemas.openxmlformats.org/drawingml/2006/main">
              <a:ext uri="{FF2B5EF4-FFF2-40B4-BE49-F238E27FC236}">
                <a16:creationId xmlns:a16="http://schemas.microsoft.com/office/drawing/2014/main" id="{947F4ACF-9BDB-4731-A31B-D2B63964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260" y="2239695"/>
            <a:ext cx="1725930" cy="52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25000"/>
              </a:lnSpc>
              <a:spcBef>
                <a:spcPts val="100"/>
              </a:spcBef>
              <a:buNone/>
            </a:pPr>
            <a:r>
              <a:rPr sz="13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Vidrio</a:t>
            </a:r>
            <a:r>
              <a:rPr sz="1300" spc="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que</a:t>
            </a:r>
            <a:r>
              <a:rPr sz="1300" spc="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cuide</a:t>
            </a:r>
            <a:r>
              <a:rPr sz="1300" spc="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300" spc="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00" spc="-3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la </a:t>
            </a:r>
            <a:r>
              <a:rPr sz="130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temperatura</a:t>
            </a:r>
            <a:endParaRPr sz="1300">
              <a:latin typeface="Liberation Sans"/>
              <a:ea typeface="Liberation Sans"/>
              <a:cs typeface="Liberation Sans"/>
            </a:endParaRPr>
          </a:p>
        </p:txBody>
      </p:sp>
      <p:pic>
        <p:nvPicPr>
          <p:cNvPr id="34" name="sv_s03_solution_3_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e4645bcb94e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345" y="3089182"/>
            <a:ext cx="258991" cy="251390"/>
          </a:xfrm>
          <a:prstGeom xmlns:a="http://schemas.openxmlformats.org/drawingml/2006/main" prst="rect">
            <a:avLst/>
          </a:prstGeom>
        </p:spPr>
      </p:pic>
      <p:sp>
        <p:nvSpPr>
          <p:cNvPr id="9" name="sv_s03_solution_3">
            <a:extLst xmlns:a="http://schemas.openxmlformats.org/drawingml/2006/main">
              <a:ext uri="{FF2B5EF4-FFF2-40B4-BE49-F238E27FC236}">
                <a16:creationId xmlns:a16="http://schemas.microsoft.com/office/drawing/2014/main" id="{447C6F2D-7458-4ADE-9B6D-4EDA128C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260" y="3030270"/>
            <a:ext cx="2103755" cy="52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25000"/>
              </a:lnSpc>
              <a:spcBef>
                <a:spcPts val="100"/>
              </a:spcBef>
              <a:buNone/>
            </a:pPr>
            <a:r>
              <a:rPr sz="13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Ventanas</a:t>
            </a:r>
            <a:r>
              <a:rPr sz="1300" spc="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300" spc="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una</a:t>
            </a:r>
            <a:r>
              <a:rPr sz="1300" spc="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hoja</a:t>
            </a:r>
            <a:r>
              <a:rPr sz="1300" spc="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00" spc="-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para </a:t>
            </a:r>
            <a:r>
              <a:rPr sz="13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ganar</a:t>
            </a:r>
            <a:r>
              <a:rPr sz="1300" spc="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0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luminosidad</a:t>
            </a:r>
            <a:endParaRPr sz="1300">
              <a:latin typeface="Liberation Sans"/>
              <a:ea typeface="Liberation Sans"/>
              <a:cs typeface="Liberation Sans"/>
            </a:endParaRPr>
          </a:p>
        </p:txBody>
      </p:sp>
      <p:pic>
        <p:nvPicPr>
          <p:cNvPr id="36" name="sv_s03_solution_4_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689efadc042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4601" y="3875654"/>
            <a:ext cx="226723" cy="258924"/>
          </a:xfrm>
          <a:prstGeom xmlns:a="http://schemas.openxmlformats.org/drawingml/2006/main" prst="rect">
            <a:avLst/>
          </a:prstGeom>
        </p:spPr>
      </p:pic>
      <p:sp>
        <p:nvSpPr>
          <p:cNvPr id="11" name="sv_s03_solution_4">
            <a:extLst xmlns:a="http://schemas.openxmlformats.org/drawingml/2006/main">
              <a:ext uri="{FF2B5EF4-FFF2-40B4-BE49-F238E27FC236}">
                <a16:creationId xmlns:a16="http://schemas.microsoft.com/office/drawing/2014/main" id="{C059B4A9-6F41-4691-B60F-6CD63EF4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260" y="3879596"/>
            <a:ext cx="1146175" cy="2241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30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Oscilobatiente</a:t>
            </a:r>
            <a:endParaRPr sz="130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12" name="sv_s03_solution_5_icon">
            <a:extLst xmlns:a="http://schemas.openxmlformats.org/drawingml/2006/main">
              <a:ext uri="{FF2B5EF4-FFF2-40B4-BE49-F238E27FC236}">
                <a16:creationId xmlns:a16="http://schemas.microsoft.com/office/drawing/2014/main" id="{5277E396-AE52-4A2D-A6EB-92AB65E3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6536"/>
            <a:ext cx="248285" cy="198755"/>
          </a:xfrm>
          <a:custGeom xmlns:a="http://schemas.openxmlformats.org/drawingml/2006/main">
            <a:rect l="l" t="t" r="r" b="b"/>
            <a:pathLst>
              <a:path w="248284" h="198754">
                <a:moveTo>
                  <a:pt x="168722" y="73787"/>
                </a:moveTo>
                <a:lnTo>
                  <a:pt x="200868" y="53263"/>
                </a:lnTo>
                <a:lnTo>
                  <a:pt x="202619" y="49796"/>
                </a:lnTo>
              </a:path>
              <a:path w="248284" h="198754">
                <a:moveTo>
                  <a:pt x="161364" y="137185"/>
                </a:moveTo>
                <a:lnTo>
                  <a:pt x="185961" y="147904"/>
                </a:lnTo>
                <a:lnTo>
                  <a:pt x="187295" y="149466"/>
                </a:lnTo>
              </a:path>
              <a:path w="248284" h="198754">
                <a:moveTo>
                  <a:pt x="202619" y="49796"/>
                </a:moveTo>
                <a:lnTo>
                  <a:pt x="204022" y="45872"/>
                </a:lnTo>
                <a:lnTo>
                  <a:pt x="204951" y="42011"/>
                </a:lnTo>
                <a:lnTo>
                  <a:pt x="205472" y="38125"/>
                </a:lnTo>
                <a:lnTo>
                  <a:pt x="205601" y="34213"/>
                </a:lnTo>
                <a:lnTo>
                  <a:pt x="205347" y="30353"/>
                </a:lnTo>
                <a:lnTo>
                  <a:pt x="177695" y="457"/>
                </a:lnTo>
                <a:lnTo>
                  <a:pt x="173860" y="0"/>
                </a:lnTo>
                <a:lnTo>
                  <a:pt x="170016" y="0"/>
                </a:lnTo>
                <a:lnTo>
                  <a:pt x="141014" y="27228"/>
                </a:lnTo>
                <a:lnTo>
                  <a:pt x="140766" y="29578"/>
                </a:lnTo>
                <a:lnTo>
                  <a:pt x="140637" y="32143"/>
                </a:lnTo>
              </a:path>
              <a:path w="248284" h="198754">
                <a:moveTo>
                  <a:pt x="175488" y="105752"/>
                </a:moveTo>
                <a:lnTo>
                  <a:pt x="216782" y="95542"/>
                </a:lnTo>
                <a:lnTo>
                  <a:pt x="245045" y="60032"/>
                </a:lnTo>
                <a:lnTo>
                  <a:pt x="247704" y="47866"/>
                </a:lnTo>
                <a:lnTo>
                  <a:pt x="247947" y="41148"/>
                </a:lnTo>
              </a:path>
              <a:path w="248284" h="198754">
                <a:moveTo>
                  <a:pt x="0" y="105918"/>
                </a:moveTo>
                <a:lnTo>
                  <a:pt x="175488" y="105752"/>
                </a:lnTo>
              </a:path>
              <a:path w="248284" h="198754">
                <a:moveTo>
                  <a:pt x="74" y="74015"/>
                </a:moveTo>
                <a:lnTo>
                  <a:pt x="168722" y="73787"/>
                </a:lnTo>
              </a:path>
              <a:path w="248284" h="198754">
                <a:moveTo>
                  <a:pt x="51931" y="137160"/>
                </a:moveTo>
                <a:lnTo>
                  <a:pt x="161364" y="137185"/>
                </a:lnTo>
              </a:path>
              <a:path w="248284" h="198754">
                <a:moveTo>
                  <a:pt x="186928" y="149783"/>
                </a:moveTo>
                <a:lnTo>
                  <a:pt x="193123" y="161607"/>
                </a:lnTo>
                <a:lnTo>
                  <a:pt x="193690" y="163791"/>
                </a:lnTo>
                <a:lnTo>
                  <a:pt x="193997" y="166014"/>
                </a:lnTo>
                <a:lnTo>
                  <a:pt x="194052" y="168262"/>
                </a:lnTo>
                <a:lnTo>
                  <a:pt x="194101" y="170522"/>
                </a:lnTo>
                <a:lnTo>
                  <a:pt x="193898" y="172745"/>
                </a:lnTo>
                <a:lnTo>
                  <a:pt x="193437" y="174955"/>
                </a:lnTo>
                <a:lnTo>
                  <a:pt x="192975" y="177165"/>
                </a:lnTo>
                <a:lnTo>
                  <a:pt x="192271" y="179285"/>
                </a:lnTo>
                <a:lnTo>
                  <a:pt x="191319" y="181330"/>
                </a:lnTo>
                <a:lnTo>
                  <a:pt x="190366" y="183375"/>
                </a:lnTo>
                <a:lnTo>
                  <a:pt x="183078" y="191846"/>
                </a:lnTo>
                <a:lnTo>
                  <a:pt x="181321" y="193255"/>
                </a:lnTo>
                <a:lnTo>
                  <a:pt x="179421" y="194449"/>
                </a:lnTo>
                <a:lnTo>
                  <a:pt x="177388" y="195414"/>
                </a:lnTo>
                <a:lnTo>
                  <a:pt x="175353" y="196392"/>
                </a:lnTo>
                <a:lnTo>
                  <a:pt x="173235" y="197129"/>
                </a:lnTo>
                <a:lnTo>
                  <a:pt x="171038" y="197612"/>
                </a:lnTo>
                <a:lnTo>
                  <a:pt x="168835" y="198094"/>
                </a:lnTo>
                <a:lnTo>
                  <a:pt x="166603" y="198323"/>
                </a:lnTo>
                <a:lnTo>
                  <a:pt x="164350" y="198297"/>
                </a:lnTo>
                <a:lnTo>
                  <a:pt x="162093" y="198272"/>
                </a:lnTo>
                <a:lnTo>
                  <a:pt x="159871" y="197993"/>
                </a:lnTo>
                <a:lnTo>
                  <a:pt x="157683" y="197446"/>
                </a:lnTo>
                <a:lnTo>
                  <a:pt x="155496" y="196913"/>
                </a:lnTo>
                <a:lnTo>
                  <a:pt x="153391" y="196126"/>
                </a:lnTo>
                <a:lnTo>
                  <a:pt x="151382" y="195097"/>
                </a:lnTo>
                <a:lnTo>
                  <a:pt x="149373" y="194081"/>
                </a:lnTo>
                <a:lnTo>
                  <a:pt x="136251" y="176466"/>
                </a:lnTo>
                <a:lnTo>
                  <a:pt x="135840" y="174256"/>
                </a:lnTo>
              </a:path>
            </a:pathLst>
          </a:custGeom>
          <a:ln xmlns:a="http://schemas.openxmlformats.org/drawingml/2006/main" w="10981">
            <a:solidFill>
              <a:srgbClr val="007EBC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v_s03_solution_5">
            <a:extLst xmlns:a="http://schemas.openxmlformats.org/drawingml/2006/main">
              <a:ext uri="{FF2B5EF4-FFF2-40B4-BE49-F238E27FC236}">
                <a16:creationId xmlns:a16="http://schemas.microsoft.com/office/drawing/2014/main" id="{5A3BAE9A-B190-4DCE-B851-4F1AFF8C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260" y="4670171"/>
            <a:ext cx="1307465" cy="2241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30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Microventilación</a:t>
            </a:r>
            <a:endParaRPr sz="1300">
              <a:latin typeface="Liberation Sans"/>
              <a:ea typeface="Liberation Sans"/>
              <a:cs typeface="Liberation Sans"/>
            </a:endParaRPr>
          </a:p>
        </p:txBody>
      </p:sp>
      <p:pic>
        <p:nvPicPr>
          <p:cNvPr id="40" name="sv_s03_solution_6_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3cc2e04b748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451" y="5456847"/>
            <a:ext cx="258809" cy="258822"/>
          </a:xfrm>
          <a:prstGeom xmlns:a="http://schemas.openxmlformats.org/drawingml/2006/main" prst="rect">
            <a:avLst/>
          </a:prstGeom>
        </p:spPr>
      </p:pic>
      <p:sp>
        <p:nvSpPr>
          <p:cNvPr id="15" name="sv_s03_solution_6">
            <a:extLst xmlns:a="http://schemas.openxmlformats.org/drawingml/2006/main">
              <a:ext uri="{FF2B5EF4-FFF2-40B4-BE49-F238E27FC236}">
                <a16:creationId xmlns:a16="http://schemas.microsoft.com/office/drawing/2014/main" id="{0E06042D-781C-4DFF-9BC8-B36A9703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260" y="5428075"/>
            <a:ext cx="1614170" cy="286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1700" b="1" spc="-100">
                <a:solidFill>
                  <a:srgbClr val="262424"/>
                </a:solidFill>
                <a:latin typeface="Liberation Serif"/>
                <a:ea typeface="Liberation Serif"/>
                <a:cs typeface="Liberation Serif"/>
              </a:rPr>
              <a:t>Aislamieto</a:t>
            </a:r>
            <a:r>
              <a:rPr sz="1700" b="1" spc="-45">
                <a:solidFill>
                  <a:srgbClr val="262424"/>
                </a:solidFill>
                <a:latin typeface="Liberation Serif"/>
                <a:ea typeface="Liberation Serif"/>
                <a:cs typeface="Liberation Serif"/>
              </a:rPr>
              <a:t> </a:t>
            </a:r>
            <a:r>
              <a:rPr sz="1700" b="1" spc="-60">
                <a:solidFill>
                  <a:srgbClr val="262424"/>
                </a:solidFill>
                <a:latin typeface="Liberation Serif"/>
                <a:ea typeface="Liberation Serif"/>
                <a:cs typeface="Liberation Serif"/>
              </a:rPr>
              <a:t>total</a:t>
            </a:r>
            <a:endParaRPr sz="1700">
              <a:latin typeface="Liberation Serif"/>
              <a:ea typeface="Liberation Serif"/>
              <a:cs typeface="Liberation Serif"/>
            </a:endParaRP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C7D6D7C2-DE0E-4A92-892A-B6A1A175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9550" y="1495424"/>
            <a:ext cx="2952750" cy="3305176"/>
          </a:xfrm>
          <a:custGeom xmlns:a="http://schemas.openxmlformats.org/drawingml/2006/main">
            <a:rect l="l" t="t" r="r" b="b"/>
            <a:pathLst>
              <a:path w="2952750" h="2143125">
                <a:moveTo>
                  <a:pt x="2898660" y="0"/>
                </a:moveTo>
                <a:lnTo>
                  <a:pt x="54089" y="0"/>
                </a:lnTo>
                <a:lnTo>
                  <a:pt x="50330" y="368"/>
                </a:lnTo>
                <a:lnTo>
                  <a:pt x="14262" y="19634"/>
                </a:lnTo>
                <a:lnTo>
                  <a:pt x="0" y="54089"/>
                </a:lnTo>
                <a:lnTo>
                  <a:pt x="0" y="2085238"/>
                </a:lnTo>
                <a:lnTo>
                  <a:pt x="0" y="2089035"/>
                </a:lnTo>
                <a:lnTo>
                  <a:pt x="19634" y="2128862"/>
                </a:lnTo>
                <a:lnTo>
                  <a:pt x="54089" y="2143125"/>
                </a:lnTo>
                <a:lnTo>
                  <a:pt x="2898660" y="2143125"/>
                </a:lnTo>
                <a:lnTo>
                  <a:pt x="2938487" y="2123478"/>
                </a:lnTo>
                <a:lnTo>
                  <a:pt x="2952750" y="2089035"/>
                </a:lnTo>
                <a:lnTo>
                  <a:pt x="2952750" y="54089"/>
                </a:lnTo>
                <a:lnTo>
                  <a:pt x="2933103" y="14262"/>
                </a:lnTo>
                <a:lnTo>
                  <a:pt x="2902432" y="368"/>
                </a:lnTo>
                <a:lnTo>
                  <a:pt x="2898660" y="0"/>
                </a:lnTo>
                <a:close/>
              </a:path>
            </a:pathLst>
          </a:custGeom>
          <a:solidFill xmlns:a="http://schemas.openxmlformats.org/drawingml/2006/main">
            <a:srgbClr val="CCEE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3" name="object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dc6bf73c846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20210" y="1823827"/>
            <a:ext cx="196926" cy="233574"/>
          </a:xfrm>
          <a:prstGeom xmlns:a="http://schemas.openxmlformats.org/drawingml/2006/main" prst="rect">
            <a:avLst/>
          </a:prstGeom>
        </p:spPr>
      </p:pic>
      <p:sp>
        <p:nvSpPr>
          <p:cNvPr id="19" name="sv_s03_main_benefit">
            <a:extLst xmlns:a="http://schemas.openxmlformats.org/drawingml/2006/main">
              <a:ext uri="{FF2B5EF4-FFF2-40B4-BE49-F238E27FC236}">
                <a16:creationId xmlns:a16="http://schemas.microsoft.com/office/drawing/2014/main" id="{B0FF61F3-225A-49B4-9F07-4AE4D8F1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803" y="1751589"/>
            <a:ext cx="2195830" cy="14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1700" b="1" spc="-100">
                <a:latin typeface="Liberation Serif"/>
                <a:ea typeface="Liberation Serif"/>
                <a:cs typeface="Liberation Serif"/>
              </a:rPr>
              <a:t>Beneficio</a:t>
            </a:r>
            <a:r>
              <a:rPr sz="1700" b="1" spc="-30">
                <a:latin typeface="Liberation Serif"/>
                <a:ea typeface="Liberation Serif"/>
                <a:cs typeface="Liberation Serif"/>
              </a:rPr>
              <a:t> </a:t>
            </a:r>
            <a:r>
              <a:rPr sz="1700" b="1" spc="-10">
                <a:latin typeface="Liberation Serif"/>
                <a:ea typeface="Liberation Serif"/>
                <a:cs typeface="Liberation Serif"/>
              </a:rPr>
              <a:t>principal</a:t>
            </a:r>
            <a:endParaRPr sz="1700">
              <a:latin typeface="Liberation Serif"/>
              <a:ea typeface="Liberation Serif"/>
              <a:cs typeface="Liberation Serif"/>
            </a:endParaRPr>
          </a:p>
          <a:p xmlns:a="http://schemas.openxmlformats.org/drawingml/2006/main">
            <a:pPr marL="12700" marR="5080">
              <a:lnSpc>
                <a:spcPct val="125000"/>
              </a:lnSpc>
              <a:spcBef>
                <a:spcPts val="1120"/>
              </a:spcBef>
              <a:buNone/>
            </a:pPr>
            <a:r>
              <a:rPr sz="1300">
                <a:solidFill/>
                <a:latin typeface="Liberation Sans"/>
                <a:ea typeface="Liberation Sans"/>
                <a:cs typeface="Liberation Sans"/>
              </a:rPr>
              <a:t>Más</a:t>
            </a:r>
            <a:r>
              <a:rPr sz="1300" spc="-15">
                <a:latin typeface="Liberation Sans"/>
                <a:ea typeface="Liberation Sans"/>
                <a:cs typeface="Liberation Sans"/>
              </a:rPr>
              <a:t> </a:t>
            </a:r>
            <a:r>
              <a:rPr sz="1300">
                <a:latin typeface="Liberation Sans"/>
                <a:ea typeface="Liberation Sans"/>
                <a:cs typeface="Liberation Sans"/>
              </a:rPr>
              <a:t>confort</a:t>
            </a:r>
            <a:r>
              <a:rPr sz="1300" spc="-10">
                <a:latin typeface="Liberation Sans"/>
                <a:ea typeface="Liberation Sans"/>
                <a:cs typeface="Liberation Sans"/>
              </a:rPr>
              <a:t> </a:t>
            </a:r>
            <a:r>
              <a:rPr sz="1300">
                <a:latin typeface="Liberation Sans"/>
                <a:ea typeface="Liberation Sans"/>
                <a:cs typeface="Liberation Sans"/>
              </a:rPr>
              <a:t>durante</a:t>
            </a:r>
            <a:r>
              <a:rPr sz="1300" spc="-10">
                <a:latin typeface="Liberation Sans"/>
                <a:ea typeface="Liberation Sans"/>
                <a:cs typeface="Liberation Sans"/>
              </a:rPr>
              <a:t> </a:t>
            </a:r>
            <a:r>
              <a:rPr sz="1300" spc="-35">
                <a:latin typeface="Liberation Sans"/>
                <a:ea typeface="Liberation Sans"/>
                <a:cs typeface="Liberation Sans"/>
              </a:rPr>
              <a:t>todo</a:t>
            </a:r>
            <a:r>
              <a:rPr sz="1300" spc="-10">
                <a:latin typeface="Liberation Sans"/>
                <a:ea typeface="Liberation Sans"/>
                <a:cs typeface="Liberation Sans"/>
              </a:rPr>
              <a:t> </a:t>
            </a:r>
            <a:r>
              <a:rPr sz="1300" spc="-25">
                <a:latin typeface="Liberation Sans"/>
                <a:ea typeface="Liberation Sans"/>
                <a:cs typeface="Liberation Sans"/>
              </a:rPr>
              <a:t>el </a:t>
            </a:r>
            <a:r>
              <a:rPr sz="1300">
                <a:latin typeface="Liberation Sans"/>
                <a:ea typeface="Liberation Sans"/>
                <a:cs typeface="Liberation Sans"/>
              </a:rPr>
              <a:t>año</a:t>
            </a:r>
            <a:r>
              <a:rPr sz="1300" spc="30">
                <a:latin typeface="Liberation Sans"/>
                <a:ea typeface="Liberation Sans"/>
                <a:cs typeface="Liberation Sans"/>
              </a:rPr>
              <a:t> </a:t>
            </a:r>
            <a:r>
              <a:rPr sz="1300">
                <a:latin typeface="Liberation Sans"/>
                <a:ea typeface="Liberation Sans"/>
                <a:cs typeface="Liberation Sans"/>
              </a:rPr>
              <a:t>con</a:t>
            </a:r>
            <a:r>
              <a:rPr sz="1300" spc="35">
                <a:latin typeface="Liberation Sans"/>
                <a:ea typeface="Liberation Sans"/>
                <a:cs typeface="Liberation Sans"/>
              </a:rPr>
              <a:t> </a:t>
            </a:r>
            <a:r>
              <a:rPr sz="1300">
                <a:latin typeface="Liberation Sans"/>
                <a:ea typeface="Liberation Sans"/>
                <a:cs typeface="Liberation Sans"/>
              </a:rPr>
              <a:t>una</a:t>
            </a:r>
            <a:r>
              <a:rPr sz="1300" spc="35">
                <a:latin typeface="Liberation Sans"/>
                <a:ea typeface="Liberation Sans"/>
                <a:cs typeface="Liberation Sans"/>
              </a:rPr>
              <a:t> </a:t>
            </a:r>
            <a:r>
              <a:rPr sz="1300">
                <a:latin typeface="Liberation Sans"/>
                <a:ea typeface="Liberation Sans"/>
                <a:cs typeface="Liberation Sans"/>
              </a:rPr>
              <a:t>vivienda</a:t>
            </a:r>
            <a:r>
              <a:rPr sz="1300" spc="35">
                <a:latin typeface="Liberation Sans"/>
                <a:ea typeface="Liberation Sans"/>
                <a:cs typeface="Liberation Sans"/>
              </a:rPr>
              <a:t> </a:t>
            </a:r>
            <a:r>
              <a:rPr sz="1300" spc="-25">
                <a:latin typeface="Liberation Sans"/>
                <a:ea typeface="Liberation Sans"/>
                <a:cs typeface="Liberation Sans"/>
              </a:rPr>
              <a:t>más </a:t>
            </a:r>
            <a:r>
              <a:rPr sz="1300">
                <a:latin typeface="Liberation Sans"/>
                <a:ea typeface="Liberation Sans"/>
                <a:cs typeface="Liberation Sans"/>
              </a:rPr>
              <a:t>eficiente</a:t>
            </a:r>
            <a:r>
              <a:rPr sz="1300" spc="60">
                <a:latin typeface="Liberation Sans"/>
                <a:ea typeface="Liberation Sans"/>
                <a:cs typeface="Liberation Sans"/>
              </a:rPr>
              <a:t> </a:t>
            </a:r>
            <a:r>
              <a:rPr sz="1300" spc="50">
                <a:latin typeface="Liberation Sans"/>
                <a:ea typeface="Liberation Sans"/>
                <a:cs typeface="Liberation Sans"/>
              </a:rPr>
              <a:t>y</a:t>
            </a:r>
            <a:r>
              <a:rPr sz="1300" spc="65">
                <a:latin typeface="Liberation Sans"/>
                <a:ea typeface="Liberation Sans"/>
                <a:cs typeface="Liberation Sans"/>
              </a:rPr>
              <a:t> </a:t>
            </a:r>
            <a:r>
              <a:rPr sz="1300" spc="-10">
                <a:latin typeface="Liberation Sans"/>
                <a:ea typeface="Liberation Sans"/>
                <a:cs typeface="Liberation Sans"/>
              </a:rPr>
              <a:t>luminosa.</a:t>
            </a:r>
            <a:endParaRPr sz="130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20" name="sv_s03_main_benefit_secondary">
            <a:extLst xmlns:a="http://schemas.openxmlformats.org/drawingml/2006/main">
              <a:ext uri="{FF2B5EF4-FFF2-40B4-BE49-F238E27FC236}">
                <a16:creationId xmlns:a16="http://schemas.microsoft.com/office/drawing/2014/main" id="{19FB20C7-CCB5-4901-88D3-B5C9809C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803" y="3545914"/>
            <a:ext cx="2054860" cy="95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25000"/>
              </a:lnSpc>
              <a:spcBef>
                <a:spcPts val="100"/>
              </a:spcBef>
              <a:buNone/>
            </a:pPr>
            <a:r>
              <a:rPr sz="1300">
                <a:latin typeface="Liberation Sans"/>
                <a:ea typeface="Liberation Sans"/>
                <a:cs typeface="Liberation Sans"/>
              </a:rPr>
              <a:t>Nuestras</a:t>
            </a:r>
            <a:r>
              <a:rPr sz="1300" spc="120">
                <a:latin typeface="Liberation Sans"/>
                <a:ea typeface="Liberation Sans"/>
                <a:cs typeface="Liberation Sans"/>
              </a:rPr>
              <a:t> </a:t>
            </a:r>
            <a:r>
              <a:rPr sz="1300">
                <a:latin typeface="Liberation Sans"/>
                <a:ea typeface="Liberation Sans"/>
                <a:cs typeface="Liberation Sans"/>
              </a:rPr>
              <a:t>ventanas</a:t>
            </a:r>
            <a:r>
              <a:rPr sz="1300" spc="120">
                <a:latin typeface="Liberation Sans"/>
                <a:ea typeface="Liberation Sans"/>
                <a:cs typeface="Liberation Sans"/>
              </a:rPr>
              <a:t> </a:t>
            </a:r>
            <a:r>
              <a:rPr sz="1300" spc="-10">
                <a:latin typeface="Liberation Sans"/>
                <a:ea typeface="Liberation Sans"/>
                <a:cs typeface="Liberation Sans"/>
              </a:rPr>
              <a:t>cuidan </a:t>
            </a:r>
            <a:r>
              <a:rPr sz="1300">
                <a:latin typeface="Liberation Sans"/>
                <a:ea typeface="Liberation Sans"/>
                <a:cs typeface="Liberation Sans"/>
              </a:rPr>
              <a:t>de</a:t>
            </a:r>
            <a:r>
              <a:rPr sz="1300" spc="5">
                <a:latin typeface="Liberation Sans"/>
                <a:ea typeface="Liberation Sans"/>
                <a:cs typeface="Liberation Sans"/>
              </a:rPr>
              <a:t> </a:t>
            </a:r>
            <a:r>
              <a:rPr sz="1300">
                <a:latin typeface="Liberation Sans"/>
                <a:ea typeface="Liberation Sans"/>
                <a:cs typeface="Liberation Sans"/>
              </a:rPr>
              <a:t>tu</a:t>
            </a:r>
            <a:r>
              <a:rPr sz="1300" spc="10">
                <a:latin typeface="Liberation Sans"/>
                <a:ea typeface="Liberation Sans"/>
                <a:cs typeface="Liberation Sans"/>
              </a:rPr>
              <a:t> </a:t>
            </a:r>
            <a:r>
              <a:rPr sz="1300" spc="55">
                <a:latin typeface="Liberation Sans"/>
                <a:ea typeface="Liberation Sans"/>
                <a:cs typeface="Liberation Sans"/>
              </a:rPr>
              <a:t>casa</a:t>
            </a:r>
            <a:r>
              <a:rPr sz="1300" spc="5">
                <a:latin typeface="Liberation Sans"/>
                <a:ea typeface="Liberation Sans"/>
                <a:cs typeface="Liberation Sans"/>
              </a:rPr>
              <a:t> </a:t>
            </a:r>
            <a:r>
              <a:rPr sz="1300" spc="50">
                <a:latin typeface="Liberation Sans"/>
                <a:ea typeface="Liberation Sans"/>
                <a:cs typeface="Liberation Sans"/>
              </a:rPr>
              <a:t>y</a:t>
            </a:r>
            <a:r>
              <a:rPr sz="1300" spc="10">
                <a:latin typeface="Liberation Sans"/>
                <a:ea typeface="Liberation Sans"/>
                <a:cs typeface="Liberation Sans"/>
              </a:rPr>
              <a:t> </a:t>
            </a:r>
            <a:r>
              <a:rPr sz="1300">
                <a:latin typeface="Liberation Sans"/>
                <a:ea typeface="Liberation Sans"/>
                <a:cs typeface="Liberation Sans"/>
              </a:rPr>
              <a:t>tu</a:t>
            </a:r>
            <a:r>
              <a:rPr sz="1300" spc="5">
                <a:latin typeface="Liberation Sans"/>
                <a:ea typeface="Liberation Sans"/>
                <a:cs typeface="Liberation Sans"/>
              </a:rPr>
              <a:t> </a:t>
            </a:r>
            <a:r>
              <a:rPr sz="1300" spc="-10">
                <a:latin typeface="Liberation Sans"/>
                <a:ea typeface="Liberation Sans"/>
                <a:cs typeface="Liberation Sans"/>
              </a:rPr>
              <a:t>bolsillo</a:t>
            </a:r>
            <a:endParaRPr sz="130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21" name="sv_s03_benefit_claim">
            <a:extLst xmlns:a="http://schemas.openxmlformats.org/drawingml/2006/main">
              <a:ext uri="{FF2B5EF4-FFF2-40B4-BE49-F238E27FC236}">
                <a16:creationId xmlns:a16="http://schemas.microsoft.com/office/drawing/2014/main" id="{E10AB1D9-1BAB-442B-B39E-5F0DB5E3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998625"/>
            <a:ext cx="2370455" cy="63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ct val="125000"/>
              </a:lnSpc>
              <a:spcBef>
                <a:spcPts val="95"/>
              </a:spcBef>
              <a:buNone/>
            </a:pPr>
            <a:r>
              <a:rPr sz="1600" b="1" spc="-30">
                <a:solidFill>
                  <a:srgbClr val="1F7034"/>
                </a:solidFill>
                <a:latin typeface="Liberation Sans"/>
                <a:ea typeface="Liberation Sans"/>
                <a:cs typeface="Liberation Sans"/>
              </a:rPr>
              <a:t>AHORRO,</a:t>
            </a:r>
            <a:r>
              <a:rPr sz="1600" b="1" spc="-75">
                <a:solidFill>
                  <a:srgbClr val="1F703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1" spc="-10">
                <a:solidFill>
                  <a:srgbClr val="1F7034"/>
                </a:solidFill>
                <a:latin typeface="Liberation Sans"/>
                <a:ea typeface="Liberation Sans"/>
                <a:cs typeface="Liberation Sans"/>
              </a:rPr>
              <a:t>CONFORT, </a:t>
            </a:r>
            <a:r>
              <a:rPr sz="1600" b="1">
                <a:solidFill>
                  <a:srgbClr val="1F7034"/>
                </a:solidFill>
                <a:latin typeface="Liberation Sans"/>
                <a:ea typeface="Liberation Sans"/>
                <a:cs typeface="Liberation Sans"/>
              </a:rPr>
              <a:t>ESTÉTICA</a:t>
            </a:r>
            <a:r>
              <a:rPr sz="1600" b="1" spc="-35">
                <a:solidFill>
                  <a:srgbClr val="1F703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1" spc="105">
                <a:solidFill>
                  <a:srgbClr val="1F7034"/>
                </a:solidFill>
                <a:latin typeface="Liberation Sans"/>
                <a:ea typeface="Liberation Sans"/>
                <a:cs typeface="Liberation Sans"/>
              </a:rPr>
              <a:t>Y</a:t>
            </a:r>
            <a:r>
              <a:rPr sz="1600" b="1" spc="-35">
                <a:solidFill>
                  <a:srgbClr val="1F703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1" spc="-60">
                <a:solidFill>
                  <a:srgbClr val="1F7034"/>
                </a:solidFill>
                <a:latin typeface="Liberation Sans"/>
                <a:ea typeface="Liberation Sans"/>
                <a:cs typeface="Liberation Sans"/>
              </a:rPr>
              <a:t>FELICIDAD</a:t>
            </a:r>
            <a:endParaRPr sz="1600">
              <a:latin typeface="Liberation Sans"/>
              <a:ea typeface="Liberation Sans"/>
              <a:cs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1609083938"/>
      </p:ext>
    </p:extLst>
  </p:cSld>
</p:sld>
</file>

<file path=ppt/slides/slide4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n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f9ec0ea264bc0">
            <a:alphaModFix amt="3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792685"/>
          </a:xfrm>
          <a:prstGeom xmlns:a="http://schemas.openxmlformats.org/drawingml/2006/main" prst="rect">
            <a:avLst/>
          </a:prstGeom>
        </p:spPr>
      </p:pic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888F32DE-84EF-4356-8B18-86EF2E12A3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78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40"/>
              </a:spcBef>
              <a:buNone/>
            </a:pPr>
            <a:r>
              <a:rPr sz="3500" spc="-280"/>
              <a:t>Una</a:t>
            </a:r>
            <a:r>
              <a:rPr sz="3500" spc="-90"/>
              <a:t> </a:t>
            </a:r>
            <a:r>
              <a:rPr sz="3500" spc="-175"/>
              <a:t>instalación</a:t>
            </a:r>
            <a:r>
              <a:rPr sz="3500" spc="-85"/>
              <a:t> </a:t>
            </a:r>
            <a:r>
              <a:rPr sz="3500" spc="-225"/>
              <a:t>que</a:t>
            </a:r>
            <a:r>
              <a:rPr sz="3500" spc="-85"/>
              <a:t> </a:t>
            </a:r>
            <a:r>
              <a:rPr sz="3500" spc="-260"/>
              <a:t>marca</a:t>
            </a:r>
            <a:r>
              <a:rPr sz="3500" spc="-85"/>
              <a:t> </a:t>
            </a:r>
            <a:r>
              <a:rPr sz="3500" spc="-170"/>
              <a:t>la</a:t>
            </a:r>
            <a:r>
              <a:rPr sz="3500" spc="-85"/>
              <a:t> </a:t>
            </a:r>
            <a:r>
              <a:rPr sz="3500" spc="-130"/>
              <a:t>diferencia</a:t>
            </a:r>
            <a:endParaRPr sz="3500"/>
          </a:p>
        </p:txBody>
      </p:sp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3E2D3B9E-9F4C-4FDB-B608-A178EDB9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40" y="1340040"/>
            <a:ext cx="8415655" cy="2311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35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No</a:t>
            </a:r>
            <a:r>
              <a:rPr sz="1350" spc="-5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5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solo sustituimos ventanas.</a:t>
            </a:r>
            <a:r>
              <a:rPr sz="1350" spc="-5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5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Entregamos un trabajo </a:t>
            </a:r>
            <a:r>
              <a:rPr sz="1350" spc="-2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completamente</a:t>
            </a:r>
            <a:r>
              <a:rPr sz="1350" spc="-5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50" spc="-1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terminado,</a:t>
            </a:r>
            <a:r>
              <a:rPr sz="135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 cuidando cada</a:t>
            </a:r>
            <a:r>
              <a:rPr sz="1350" spc="-5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50" spc="-1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detalle.</a:t>
            </a:r>
            <a:endParaRPr sz="1350">
              <a:latin typeface="Liberation Sans"/>
              <a:ea typeface="Liberation Sans"/>
              <a:cs typeface="Liberation Sans"/>
            </a:endParaRPr>
          </a:p>
        </p:txBody>
      </p:sp>
      <p:pic>
        <p:nvPicPr>
          <p:cNvPr id="30" name="object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95fc8092342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7981" y="2000487"/>
            <a:ext cx="268846" cy="156837"/>
          </a:xfrm>
          <a:prstGeom xmlns:a="http://schemas.openxmlformats.org/drawingml/2006/main" prst="rect">
            <a:avLst/>
          </a:prstGeom>
        </p:spPr>
      </p:pic>
      <p:sp>
        <p:nvSp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31B2806A-377C-4F2E-8FF8-2811D4F9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458" y="1949640"/>
            <a:ext cx="3397250" cy="2311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35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Protección</a:t>
            </a:r>
            <a:r>
              <a:rPr sz="1350" spc="45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5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350" spc="5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5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suelos</a:t>
            </a:r>
            <a:r>
              <a:rPr sz="1350" spc="5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50" spc="55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y</a:t>
            </a:r>
            <a:r>
              <a:rPr sz="1350" spc="45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5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muebles</a:t>
            </a:r>
            <a:r>
              <a:rPr sz="1350" spc="5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50" spc="-1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cercanos</a:t>
            </a:r>
            <a:endParaRPr sz="1350">
              <a:latin typeface="Liberation Sans"/>
              <a:ea typeface="Liberation Sans"/>
              <a:cs typeface="Liberation Sans"/>
            </a:endParaRPr>
          </a:p>
        </p:txBody>
      </p:sp>
      <p:pic>
        <p:nvPicPr>
          <p:cNvPr id="32" name="object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0520acc2044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18215" y="2776280"/>
            <a:ext cx="268056" cy="262439"/>
          </a:xfrm>
          <a:prstGeom xmlns:a="http://schemas.openxmlformats.org/drawingml/2006/main" prst="rect">
            <a:avLst/>
          </a:prstGeom>
        </p:spPr>
      </p:pic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83BE7387-951B-42CF-9195-C60F1692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899" y="2784305"/>
            <a:ext cx="257175" cy="248920"/>
          </a:xfrm>
          <a:custGeom xmlns:a="http://schemas.openxmlformats.org/drawingml/2006/main">
            <a:rect l="l" t="t" r="r" b="b"/>
            <a:pathLst>
              <a:path w="257175" h="248919">
                <a:moveTo>
                  <a:pt x="256681" y="0"/>
                </a:moveTo>
                <a:lnTo>
                  <a:pt x="256877" y="248772"/>
                </a:lnTo>
              </a:path>
              <a:path w="257175" h="248919">
                <a:moveTo>
                  <a:pt x="5" y="185655"/>
                </a:moveTo>
                <a:lnTo>
                  <a:pt x="0" y="248772"/>
                </a:lnTo>
              </a:path>
              <a:path w="257175" h="248919">
                <a:moveTo>
                  <a:pt x="160977" y="186442"/>
                </a:moveTo>
                <a:lnTo>
                  <a:pt x="130026" y="195042"/>
                </a:lnTo>
              </a:path>
            </a:pathLst>
          </a:custGeom>
          <a:ln xmlns:a="http://schemas.openxmlformats.org/drawingml/2006/main" w="11380">
            <a:solidFill>
              <a:srgbClr val="007DBD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6D6DB6A2-E5C5-4D33-AA31-A367B000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458" y="2778315"/>
            <a:ext cx="1844675" cy="2311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35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Instalación</a:t>
            </a:r>
            <a:r>
              <a:rPr sz="1350" spc="-15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50" spc="-1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profesional</a:t>
            </a:r>
            <a:endParaRPr sz="1350">
              <a:latin typeface="Liberation Sans"/>
              <a:ea typeface="Liberation Sans"/>
              <a:cs typeface="Liberation Sans"/>
            </a:endParaRPr>
          </a:p>
        </p:txBody>
      </p:sp>
      <p:pic>
        <p:nvPicPr>
          <p:cNvPr id="35" name="object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37f8fdc7b47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505" y="3611476"/>
            <a:ext cx="237469" cy="268693"/>
          </a:xfrm>
          <a:prstGeom xmlns:a="http://schemas.openxmlformats.org/drawingml/2006/main" prst="rect">
            <a:avLst/>
          </a:prstGeom>
        </p:spPr>
      </p:pic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78FD3EFE-6DA9-4526-BE4A-8D453F2C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458" y="3616515"/>
            <a:ext cx="875665" cy="2311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350" spc="-1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Albañilería</a:t>
            </a:r>
            <a:endParaRPr sz="1350">
              <a:latin typeface="Liberation Sans"/>
              <a:ea typeface="Liberation Sans"/>
              <a:cs typeface="Liberation Sans"/>
            </a:endParaRPr>
          </a:p>
        </p:txBody>
      </p:sp>
      <p:pic>
        <p:nvPicPr>
          <p:cNvPr id="37" name="object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72ab1bcf945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7051" y="1997878"/>
            <a:ext cx="226272" cy="154026"/>
          </a:xfrm>
          <a:prstGeom xmlns:a="http://schemas.openxmlformats.org/drawingml/2006/main" prst="rect">
            <a:avLst/>
          </a:prstGeom>
        </p:spPr>
      </p:pic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25E5FC3E-3810-466D-BA3D-85A6D3E0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206" y="1949640"/>
            <a:ext cx="1720214" cy="2311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35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Sellados</a:t>
            </a:r>
            <a:r>
              <a:rPr sz="1350" spc="7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50" spc="55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y</a:t>
            </a:r>
            <a:r>
              <a:rPr sz="1350" spc="75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50" spc="-1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nivelación</a:t>
            </a:r>
            <a:endParaRPr sz="1350">
              <a:latin typeface="Liberation Sans"/>
              <a:ea typeface="Liberation Sans"/>
              <a:cs typeface="Liberation Sans"/>
            </a:endParaRPr>
          </a:p>
        </p:txBody>
      </p:sp>
      <p:pic>
        <p:nvPicPr>
          <p:cNvPr id="39" name="object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535d64d5440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5372" y="2773453"/>
            <a:ext cx="249760" cy="268254"/>
          </a:xfrm>
          <a:prstGeom xmlns:a="http://schemas.openxmlformats.org/drawingml/2006/main" prst="rect">
            <a:avLst/>
          </a:prstGeom>
        </p:spPr>
      </p:pic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2AA314C1-C49E-4899-81A0-D2D2D373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206" y="2778315"/>
            <a:ext cx="1139825" cy="2311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06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35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Limpieza</a:t>
            </a:r>
            <a:r>
              <a:rPr sz="1350" spc="2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350" spc="-10">
                <a:solidFill>
                  <a:srgbClr val="262525"/>
                </a:solidFill>
                <a:latin typeface="Liberation Sans"/>
                <a:ea typeface="Liberation Sans"/>
                <a:cs typeface="Liberation Sans"/>
              </a:rPr>
              <a:t>final</a:t>
            </a:r>
            <a:endParaRPr sz="135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D3BAFDC2-072C-484B-B65D-47780CAB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7224" y="4476749"/>
            <a:ext cx="10877550" cy="1847850"/>
          </a:xfrm>
          <a:custGeom xmlns:a="http://schemas.openxmlformats.org/drawingml/2006/main">
            <a:rect l="l" t="t" r="r" b="b"/>
            <a:pathLst>
              <a:path w="10877550" h="1847850">
                <a:moveTo>
                  <a:pt x="10821529" y="1847849"/>
                </a:moveTo>
                <a:lnTo>
                  <a:pt x="56019" y="1847849"/>
                </a:lnTo>
                <a:lnTo>
                  <a:pt x="52120" y="1847465"/>
                </a:lnTo>
                <a:lnTo>
                  <a:pt x="14777" y="1827505"/>
                </a:lnTo>
                <a:lnTo>
                  <a:pt x="0" y="1791830"/>
                </a:lnTo>
                <a:lnTo>
                  <a:pt x="0" y="1787894"/>
                </a:lnTo>
                <a:lnTo>
                  <a:pt x="0" y="56018"/>
                </a:lnTo>
                <a:lnTo>
                  <a:pt x="14777" y="20344"/>
                </a:lnTo>
                <a:lnTo>
                  <a:pt x="52120" y="383"/>
                </a:lnTo>
                <a:lnTo>
                  <a:pt x="56019" y="0"/>
                </a:lnTo>
                <a:lnTo>
                  <a:pt x="10821529" y="0"/>
                </a:lnTo>
                <a:lnTo>
                  <a:pt x="10857202" y="14776"/>
                </a:lnTo>
                <a:lnTo>
                  <a:pt x="10877163" y="52119"/>
                </a:lnTo>
                <a:lnTo>
                  <a:pt x="10877548" y="56018"/>
                </a:lnTo>
                <a:lnTo>
                  <a:pt x="10877548" y="1791830"/>
                </a:lnTo>
                <a:lnTo>
                  <a:pt x="10862769" y="1827505"/>
                </a:lnTo>
                <a:lnTo>
                  <a:pt x="10825427" y="1847465"/>
                </a:lnTo>
                <a:lnTo>
                  <a:pt x="10821529" y="1847849"/>
                </a:lnTo>
                <a:close/>
              </a:path>
            </a:pathLst>
          </a:custGeom>
          <a:solidFill xmlns:a="http://schemas.openxmlformats.org/drawingml/2006/main">
            <a:srgbClr val="CCED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2" name="object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0879309a040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60738" y="4725581"/>
            <a:ext cx="149888" cy="149888"/>
          </a:xfrm>
          <a:prstGeom xmlns:a="http://schemas.openxmlformats.org/drawingml/2006/main" prst="rect">
            <a:avLst/>
          </a:prstGeom>
        </p:spPr>
      </p:pic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A1DF9A20-8BA3-4F39-A729-BBB81DC5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458" y="4652876"/>
            <a:ext cx="5443855" cy="1468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1550">
                <a:latin typeface="Segoe UI Symbol"/>
              </a:rPr>
              <a:t>✔ </a:t>
            </a:r>
            <a:r>
              <a:rPr sz="1350">
                <a:latin typeface="Liberation Sans"/>
              </a:rPr>
              <a:t>Protección y seguridad durante toda la instalación</a:t>
            </a:r>
            <a:endParaRPr sz="1350">
              <a:latin typeface="Liberation Sans"/>
              <a:ea typeface="Liberation Sans"/>
              <a:cs typeface="Liberation Sans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290"/>
              </a:spcBef>
              <a:buNone/>
            </a:pPr>
            <a:r>
              <a:rPr sz="1550">
                <a:latin typeface="Segoe UI Symbol"/>
              </a:rPr>
              <a:t>✔ </a:t>
            </a:r>
            <a:r>
              <a:rPr sz="1350">
                <a:latin typeface="Liberation Sans"/>
              </a:rPr>
              <a:t>Trabajo profesional y cuidado de cada detalle</a:t>
            </a:r>
            <a:endParaRPr sz="1350">
              <a:latin typeface="Liberation Sans"/>
              <a:ea typeface="Liberation Sans"/>
              <a:cs typeface="Liberation Sans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290"/>
              </a:spcBef>
              <a:buNone/>
            </a:pPr>
            <a:r>
              <a:rPr sz="1550">
                <a:latin typeface="Segoe UI Symbol"/>
              </a:rPr>
              <a:t>✔ </a:t>
            </a:r>
            <a:r>
              <a:rPr sz="1350">
                <a:latin typeface="Liberation Sans"/>
              </a:rPr>
              <a:t>Remates exteriores completamente terminados</a:t>
            </a:r>
            <a:endParaRPr sz="1350">
              <a:latin typeface="Liberation Sans"/>
              <a:ea typeface="Liberation Sans"/>
              <a:cs typeface="Liberation Sans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290"/>
              </a:spcBef>
              <a:buNone/>
            </a:pPr>
            <a:r>
              <a:rPr sz="1550">
                <a:latin typeface="Segoe UI Symbol"/>
              </a:rPr>
              <a:t>✔ </a:t>
            </a:r>
            <a:r>
              <a:rPr sz="1350">
                <a:latin typeface="Liberation Sans"/>
              </a:rPr>
              <a:t>Acabado final listo, excepto remates de pintura y su preparación</a:t>
            </a:r>
            <a:endParaRPr sz="1350">
              <a:latin typeface="Liberation Sans"/>
              <a:ea typeface="Liberation Sans"/>
              <a:cs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1641479067"/>
      </p:ext>
    </p:extLst>
  </p:cSld>
</p:sld>
</file>

<file path=ppt/slides/slide5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AAF08974-9D0B-4B18-B240-6544401F0A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065">
              <a:lnSpc>
                <a:spcPct val="100000"/>
              </a:lnSpc>
              <a:spcBef>
                <a:spcPts val="100"/>
              </a:spcBef>
              <a:buNone/>
            </a:pPr>
            <a:r>
              <a:rPr spc="-145"/>
              <a:t>Proyectos</a:t>
            </a:r>
            <a:r>
              <a:rPr spc="-50"/>
              <a:t> </a:t>
            </a:r>
            <a:r>
              <a:rPr spc="-100"/>
              <a:t>similares</a:t>
            </a:r>
          </a:p>
        </p:txBody>
      </p:sp>
      <p:pic>
        <p:nvPicPr>
          <p:cNvPr id="11" name="sv_s05_project_photo_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3ebf4f1db46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990599"/>
            <a:ext cx="3571874" cy="4752973"/>
          </a:xfrm>
          <a:prstGeom xmlns:a="http://schemas.openxmlformats.org/drawingml/2006/main" prst="rect">
            <a:avLst/>
          </a:prstGeom>
        </p:spPr>
      </p:pic>
      <p:pic>
        <p:nvPicPr>
          <p:cNvPr id="12" name="sv_s05_project_photo_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d3f67192d4c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14825" y="990599"/>
            <a:ext cx="3562349" cy="4752973"/>
          </a:xfrm>
          <a:prstGeom xmlns:a="http://schemas.openxmlformats.org/drawingml/2006/main" prst="rect">
            <a:avLst/>
          </a:prstGeom>
        </p:spPr>
      </p:pic>
      <p:pic>
        <p:nvPicPr>
          <p:cNvPr id="13" name="sv_s05_project_photo_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de821352140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3375" y="990599"/>
            <a:ext cx="3571874" cy="4752973"/>
          </a:xfrm>
          <a:prstGeom xmlns:a="http://schemas.openxmlformats.org/drawingml/2006/main" prst="rect">
            <a:avLst/>
          </a:prstGeom>
        </p:spPr>
      </p:pic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510D4360-95F1-4B79-8405-33E09395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40" y="5845936"/>
            <a:ext cx="1442085" cy="1390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0"/>
              </a:spcBef>
              <a:buNone/>
            </a:pPr>
            <a:r>
              <a:rPr sz="7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Cerramientos</a:t>
            </a:r>
            <a:r>
              <a:rPr sz="750" spc="1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7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·</a:t>
            </a:r>
            <a:r>
              <a:rPr sz="750" spc="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7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Antes</a:t>
            </a:r>
            <a:r>
              <a:rPr sz="750" spc="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7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/</a:t>
            </a:r>
            <a:r>
              <a:rPr sz="750" spc="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7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Después</a:t>
            </a:r>
            <a:endParaRPr sz="750">
              <a:latin typeface="Liberation Sans"/>
              <a:ea typeface="Liberation Sans"/>
              <a:cs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99148663"/>
      </p:ext>
    </p:extLst>
  </p:cSld>
</p:sld>
</file>

<file path=ppt/slides/slide6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360193D0-360A-4F70-A89A-4FD63C9FAA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8840" y="649192"/>
            <a:ext cx="5515610" cy="500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397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3100" spc="-295"/>
              <a:t>Lo</a:t>
            </a:r>
            <a:r>
              <a:rPr sz="3100" spc="-80"/>
              <a:t> </a:t>
            </a:r>
            <a:r>
              <a:rPr sz="3100" spc="-215"/>
              <a:t>que</a:t>
            </a:r>
            <a:r>
              <a:rPr sz="3100" spc="-80"/>
              <a:t> </a:t>
            </a:r>
            <a:r>
              <a:rPr sz="3100" spc="-170"/>
              <a:t>dicen</a:t>
            </a:r>
            <a:r>
              <a:rPr sz="3100" spc="-80"/>
              <a:t> </a:t>
            </a:r>
            <a:r>
              <a:rPr sz="3100" spc="-210"/>
              <a:t>nuestros</a:t>
            </a:r>
            <a:r>
              <a:rPr sz="3100" spc="-80"/>
              <a:t> </a:t>
            </a:r>
            <a:r>
              <a:rPr sz="3100" spc="-110"/>
              <a:t>clientes</a:t>
            </a:r>
            <a:endParaRPr sz="3100"/>
          </a:p>
        </p:txBody>
      </p:sp>
      <p:sp>
        <p:nvSpPr>
          <p:cNvPr id="4" name="object 4">
            <a:extLst xmlns:a="http://schemas.openxmlformats.org/drawingml/2006/main">
              <a:ext uri="{FF2B5EF4-FFF2-40B4-BE49-F238E27FC236}">
                <a16:creationId xmlns:a16="http://schemas.microsoft.com/office/drawing/2014/main" id="{07C32D4D-FB8E-4CF2-9F23-03A147AA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" y="1438274"/>
            <a:ext cx="3524250" cy="4362450"/>
          </a:xfrm>
          <a:custGeom xmlns:a="http://schemas.openxmlformats.org/drawingml/2006/main">
            <a:rect l="l" t="t" r="r" b="b"/>
            <a:pathLst>
              <a:path w="3524250" h="4362450">
                <a:moveTo>
                  <a:pt x="0" y="4319254"/>
                </a:moveTo>
                <a:lnTo>
                  <a:pt x="0" y="43192"/>
                </a:lnTo>
                <a:lnTo>
                  <a:pt x="0" y="37465"/>
                </a:lnTo>
                <a:lnTo>
                  <a:pt x="1096" y="31953"/>
                </a:lnTo>
                <a:lnTo>
                  <a:pt x="3289" y="26670"/>
                </a:lnTo>
                <a:lnTo>
                  <a:pt x="5481" y="21374"/>
                </a:lnTo>
                <a:lnTo>
                  <a:pt x="8601" y="16700"/>
                </a:lnTo>
                <a:lnTo>
                  <a:pt x="12650" y="12649"/>
                </a:lnTo>
                <a:lnTo>
                  <a:pt x="16703" y="8597"/>
                </a:lnTo>
                <a:lnTo>
                  <a:pt x="21371" y="5486"/>
                </a:lnTo>
                <a:lnTo>
                  <a:pt x="26664" y="3289"/>
                </a:lnTo>
                <a:lnTo>
                  <a:pt x="31958" y="1092"/>
                </a:lnTo>
                <a:lnTo>
                  <a:pt x="37465" y="0"/>
                </a:lnTo>
                <a:lnTo>
                  <a:pt x="43195" y="0"/>
                </a:lnTo>
                <a:lnTo>
                  <a:pt x="3481057" y="0"/>
                </a:lnTo>
                <a:lnTo>
                  <a:pt x="3486785" y="0"/>
                </a:lnTo>
                <a:lnTo>
                  <a:pt x="3492296" y="1092"/>
                </a:lnTo>
                <a:lnTo>
                  <a:pt x="3497580" y="3289"/>
                </a:lnTo>
                <a:lnTo>
                  <a:pt x="3502875" y="5486"/>
                </a:lnTo>
                <a:lnTo>
                  <a:pt x="3507549" y="8597"/>
                </a:lnTo>
                <a:lnTo>
                  <a:pt x="3511600" y="12649"/>
                </a:lnTo>
                <a:lnTo>
                  <a:pt x="3515652" y="16700"/>
                </a:lnTo>
                <a:lnTo>
                  <a:pt x="3518763" y="21374"/>
                </a:lnTo>
                <a:lnTo>
                  <a:pt x="3520960" y="26670"/>
                </a:lnTo>
                <a:lnTo>
                  <a:pt x="3523157" y="31953"/>
                </a:lnTo>
                <a:lnTo>
                  <a:pt x="3524250" y="37465"/>
                </a:lnTo>
                <a:lnTo>
                  <a:pt x="3524250" y="43192"/>
                </a:lnTo>
                <a:lnTo>
                  <a:pt x="3524250" y="4319254"/>
                </a:lnTo>
                <a:lnTo>
                  <a:pt x="3524250" y="4324979"/>
                </a:lnTo>
                <a:lnTo>
                  <a:pt x="3523157" y="4330491"/>
                </a:lnTo>
                <a:lnTo>
                  <a:pt x="3497580" y="4359160"/>
                </a:lnTo>
                <a:lnTo>
                  <a:pt x="3492296" y="4361354"/>
                </a:lnTo>
                <a:lnTo>
                  <a:pt x="3486785" y="4362450"/>
                </a:lnTo>
                <a:lnTo>
                  <a:pt x="3481057" y="4362450"/>
                </a:lnTo>
                <a:lnTo>
                  <a:pt x="43195" y="4362450"/>
                </a:lnTo>
                <a:lnTo>
                  <a:pt x="37465" y="4362450"/>
                </a:lnTo>
                <a:lnTo>
                  <a:pt x="31958" y="4361354"/>
                </a:lnTo>
                <a:lnTo>
                  <a:pt x="26664" y="4359160"/>
                </a:lnTo>
                <a:lnTo>
                  <a:pt x="21371" y="4356968"/>
                </a:lnTo>
                <a:lnTo>
                  <a:pt x="3289" y="4335785"/>
                </a:lnTo>
                <a:lnTo>
                  <a:pt x="1096" y="4330491"/>
                </a:lnTo>
                <a:lnTo>
                  <a:pt x="0" y="4324979"/>
                </a:lnTo>
                <a:lnTo>
                  <a:pt x="0" y="4319254"/>
                </a:lnTo>
                <a:close/>
              </a:path>
            </a:pathLst>
          </a:custGeom>
          <a:ln xmlns:a="http://schemas.openxmlformats.org/drawingml/2006/main" w="19050">
            <a:solidFill>
              <a:srgbClr val="B1D4E5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6" name="object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83cded65443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85216" y="1371600"/>
            <a:ext cx="222504" cy="173736"/>
          </a:xfrm>
          <a:prstGeom xmlns:a="http://schemas.openxmlformats.org/drawingml/2006/main" prst="rect">
            <a:avLst/>
          </a:prstGeom>
        </p:spPr>
      </p:pic>
      <p:pic>
        <p:nvPicPr>
          <p:cNvPr id="47" name="object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9f6145cd34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50792" y="5684520"/>
            <a:ext cx="231648" cy="182880"/>
          </a:xfrm>
          <a:prstGeom xmlns:a="http://schemas.openxmlformats.org/drawingml/2006/main" prst="rect">
            <a:avLst/>
          </a:prstGeom>
        </p:spPr>
      </p:pic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C3AAE604-4DE4-4B11-9D67-919A1065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12" y="1560468"/>
            <a:ext cx="3070225" cy="340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192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60"/>
              </a:spcBef>
              <a:buNone/>
            </a:pP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Hace</a:t>
            </a:r>
            <a:r>
              <a:rPr sz="1150" spc="10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3</a:t>
            </a:r>
            <a:r>
              <a:rPr sz="1150" spc="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meses</a:t>
            </a:r>
            <a:endParaRPr sz="1150">
              <a:latin typeface="Liberation Sans"/>
              <a:ea typeface="Liberation Sans"/>
              <a:cs typeface="Liberation Sans"/>
            </a:endParaRPr>
          </a:p>
          <a:p xmlns:a="http://schemas.openxmlformats.org/drawingml/2006/main">
            <a:pPr marL="12700" marR="5080">
              <a:lnSpc>
                <a:spcPct val="123600"/>
              </a:lnSpc>
              <a:spcBef>
                <a:spcPts val="545"/>
              </a:spcBef>
              <a:buNone/>
            </a:pP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Increíble</a:t>
            </a:r>
            <a:r>
              <a:rPr sz="1150" spc="8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la</a:t>
            </a:r>
            <a:r>
              <a:rPr sz="1150" spc="8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profesionalidad</a:t>
            </a:r>
            <a:r>
              <a:rPr sz="1150" spc="9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150" spc="8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José</a:t>
            </a:r>
            <a:r>
              <a:rPr sz="1150" spc="9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y</a:t>
            </a:r>
            <a:r>
              <a:rPr sz="1150" spc="8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su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equipo.</a:t>
            </a:r>
            <a:r>
              <a:rPr sz="1150" spc="47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Desde</a:t>
            </a:r>
            <a:r>
              <a:rPr sz="1150" spc="9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el</a:t>
            </a:r>
            <a:r>
              <a:rPr sz="1150" spc="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primer</a:t>
            </a:r>
            <a:r>
              <a:rPr sz="1150" spc="9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momento</a:t>
            </a:r>
            <a:r>
              <a:rPr sz="1150" spc="5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analizan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la</a:t>
            </a:r>
            <a:r>
              <a:rPr sz="1150" spc="14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situación</a:t>
            </a:r>
            <a:r>
              <a:rPr sz="1150" spc="14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150" spc="14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colocación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150" spc="14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tu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proyecto,</a:t>
            </a:r>
            <a:r>
              <a:rPr sz="1150" spc="47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la</a:t>
            </a:r>
            <a:r>
              <a:rPr sz="1150" spc="9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iluminación</a:t>
            </a:r>
            <a:r>
              <a:rPr sz="1150" spc="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según</a:t>
            </a:r>
            <a:r>
              <a:rPr sz="1150" spc="9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la</a:t>
            </a:r>
            <a:r>
              <a:rPr sz="1150" spc="9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luz</a:t>
            </a:r>
            <a:r>
              <a:rPr sz="1150" spc="9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del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sol,</a:t>
            </a:r>
            <a:r>
              <a:rPr sz="1150" spc="8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el</a:t>
            </a:r>
            <a:r>
              <a:rPr sz="1150" spc="9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tipo</a:t>
            </a:r>
            <a:r>
              <a:rPr sz="1150" spc="9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150" spc="9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cristal</a:t>
            </a:r>
            <a:r>
              <a:rPr sz="1150" spc="9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que</a:t>
            </a:r>
            <a:r>
              <a:rPr sz="1150" spc="9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mejor</a:t>
            </a:r>
            <a:r>
              <a:rPr sz="1150" spc="9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se</a:t>
            </a:r>
            <a:r>
              <a:rPr sz="1150" spc="8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adapta</a:t>
            </a:r>
            <a:r>
              <a:rPr sz="1150" spc="9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la</a:t>
            </a:r>
            <a:r>
              <a:rPr sz="1150" spc="114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propuesta...</a:t>
            </a:r>
            <a:r>
              <a:rPr sz="1150" spc="1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Bajo</a:t>
            </a:r>
            <a:r>
              <a:rPr sz="1150" spc="1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nuestro</a:t>
            </a:r>
            <a:r>
              <a:rPr sz="1150" spc="1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punto</a:t>
            </a:r>
            <a:r>
              <a:rPr sz="1150" spc="1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150" spc="1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vista,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distan</a:t>
            </a:r>
            <a:r>
              <a:rPr sz="1150" spc="1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mucho</a:t>
            </a:r>
            <a:r>
              <a:rPr sz="1150" spc="1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150" spc="1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otros</a:t>
            </a:r>
            <a:r>
              <a:rPr sz="1150" spc="1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profesionales</a:t>
            </a:r>
            <a:r>
              <a:rPr sz="1150" spc="1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que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acudieron</a:t>
            </a:r>
            <a:r>
              <a:rPr sz="1150" spc="15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</a:t>
            </a:r>
            <a:r>
              <a:rPr sz="1150" spc="16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darnos</a:t>
            </a:r>
            <a:r>
              <a:rPr sz="1150" spc="16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presupuesto.</a:t>
            </a:r>
            <a:r>
              <a:rPr sz="1150" spc="16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Añadir</a:t>
            </a:r>
            <a:r>
              <a:rPr sz="1150" spc="16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la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calidad</a:t>
            </a:r>
            <a:r>
              <a:rPr sz="1150" spc="1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150" spc="1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la</a:t>
            </a:r>
            <a:r>
              <a:rPr sz="1150" spc="13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presentación</a:t>
            </a:r>
            <a:r>
              <a:rPr sz="1150" spc="1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del</a:t>
            </a:r>
            <a:r>
              <a:rPr sz="1150" spc="1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proyecto</a:t>
            </a:r>
            <a:r>
              <a:rPr sz="1150" spc="13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en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un</a:t>
            </a:r>
            <a:r>
              <a:rPr sz="1150" spc="7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formato</a:t>
            </a:r>
            <a:r>
              <a:rPr sz="1150" spc="7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único,</a:t>
            </a:r>
            <a:r>
              <a:rPr sz="1150" spc="434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pero</a:t>
            </a:r>
            <a:r>
              <a:rPr sz="1150" spc="7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sobretodo,</a:t>
            </a:r>
            <a:r>
              <a:rPr sz="1150" spc="434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la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calidad</a:t>
            </a:r>
            <a:r>
              <a:rPr sz="1150" spc="8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humana</a:t>
            </a:r>
            <a:r>
              <a:rPr sz="1150" spc="8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y</a:t>
            </a:r>
            <a:r>
              <a:rPr sz="1150" spc="9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el</a:t>
            </a:r>
            <a:r>
              <a:rPr sz="1150" spc="8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nivel</a:t>
            </a:r>
            <a:r>
              <a:rPr sz="1150" spc="9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150" spc="8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perfección</a:t>
            </a:r>
            <a:r>
              <a:rPr sz="1150" spc="5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que</a:t>
            </a:r>
            <a:r>
              <a:rPr sz="1150" spc="4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le</a:t>
            </a:r>
            <a:r>
              <a:rPr sz="1150" spc="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ponen</a:t>
            </a:r>
            <a:r>
              <a:rPr sz="1150" spc="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en</a:t>
            </a:r>
            <a:r>
              <a:rPr sz="1150" spc="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todo</a:t>
            </a:r>
            <a:r>
              <a:rPr sz="1150" spc="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momento.</a:t>
            </a:r>
            <a:r>
              <a:rPr sz="1150" spc="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Sin</a:t>
            </a:r>
            <a:r>
              <a:rPr sz="1150" spc="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duda,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volvería</a:t>
            </a:r>
            <a:r>
              <a:rPr sz="1150" spc="1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</a:t>
            </a:r>
            <a:r>
              <a:rPr sz="1150" spc="13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contratar</a:t>
            </a:r>
            <a:r>
              <a:rPr sz="1150" spc="13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6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sus</a:t>
            </a:r>
            <a:r>
              <a:rPr sz="1150" spc="1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3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servicios.</a:t>
            </a:r>
            <a:endParaRPr sz="1150">
              <a:latin typeface="Liberation Sans"/>
              <a:ea typeface="Liberation Sans"/>
              <a:cs typeface="Liberation Sans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270"/>
              </a:spcBef>
              <a:buNone/>
            </a:pP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Simplemente</a:t>
            </a:r>
            <a:r>
              <a:rPr sz="1150" spc="8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gracias.</a:t>
            </a:r>
            <a:endParaRPr sz="115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0219980D-998F-44A6-9BD1-13847B31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12" y="5342159"/>
            <a:ext cx="1071880" cy="20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—</a:t>
            </a:r>
            <a:r>
              <a:rPr sz="1150" spc="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5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Luz</a:t>
            </a:r>
            <a:r>
              <a:rPr sz="1150" spc="1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Rodrigo</a:t>
            </a:r>
            <a:endParaRPr sz="115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478CF193-744E-4395-8E42-50FDC0AE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4" y="1438274"/>
            <a:ext cx="3524250" cy="4362450"/>
          </a:xfrm>
          <a:custGeom xmlns:a="http://schemas.openxmlformats.org/drawingml/2006/main">
            <a:rect l="l" t="t" r="r" b="b"/>
            <a:pathLst>
              <a:path w="3524250" h="4362450">
                <a:moveTo>
                  <a:pt x="0" y="4319254"/>
                </a:moveTo>
                <a:lnTo>
                  <a:pt x="0" y="43192"/>
                </a:lnTo>
                <a:lnTo>
                  <a:pt x="0" y="37465"/>
                </a:lnTo>
                <a:lnTo>
                  <a:pt x="1092" y="31953"/>
                </a:lnTo>
                <a:lnTo>
                  <a:pt x="3289" y="26670"/>
                </a:lnTo>
                <a:lnTo>
                  <a:pt x="5473" y="21374"/>
                </a:lnTo>
                <a:lnTo>
                  <a:pt x="8597" y="16700"/>
                </a:lnTo>
                <a:lnTo>
                  <a:pt x="12649" y="12649"/>
                </a:lnTo>
                <a:lnTo>
                  <a:pt x="16700" y="8597"/>
                </a:lnTo>
                <a:lnTo>
                  <a:pt x="21374" y="5486"/>
                </a:lnTo>
                <a:lnTo>
                  <a:pt x="26670" y="3289"/>
                </a:lnTo>
                <a:lnTo>
                  <a:pt x="31953" y="1092"/>
                </a:lnTo>
                <a:lnTo>
                  <a:pt x="37465" y="0"/>
                </a:lnTo>
                <a:lnTo>
                  <a:pt x="43192" y="0"/>
                </a:lnTo>
                <a:lnTo>
                  <a:pt x="3481057" y="0"/>
                </a:lnTo>
                <a:lnTo>
                  <a:pt x="3486785" y="0"/>
                </a:lnTo>
                <a:lnTo>
                  <a:pt x="3492296" y="1092"/>
                </a:lnTo>
                <a:lnTo>
                  <a:pt x="3497580" y="3289"/>
                </a:lnTo>
                <a:lnTo>
                  <a:pt x="3502875" y="5486"/>
                </a:lnTo>
                <a:lnTo>
                  <a:pt x="3507549" y="8597"/>
                </a:lnTo>
                <a:lnTo>
                  <a:pt x="3511600" y="12649"/>
                </a:lnTo>
                <a:lnTo>
                  <a:pt x="3515652" y="16700"/>
                </a:lnTo>
                <a:lnTo>
                  <a:pt x="3518763" y="21374"/>
                </a:lnTo>
                <a:lnTo>
                  <a:pt x="3520960" y="26670"/>
                </a:lnTo>
                <a:lnTo>
                  <a:pt x="3523157" y="31953"/>
                </a:lnTo>
                <a:lnTo>
                  <a:pt x="3524250" y="37465"/>
                </a:lnTo>
                <a:lnTo>
                  <a:pt x="3524250" y="43192"/>
                </a:lnTo>
                <a:lnTo>
                  <a:pt x="3524250" y="4319254"/>
                </a:lnTo>
                <a:lnTo>
                  <a:pt x="3524250" y="4324979"/>
                </a:lnTo>
                <a:lnTo>
                  <a:pt x="3523157" y="4330491"/>
                </a:lnTo>
                <a:lnTo>
                  <a:pt x="3520960" y="4335785"/>
                </a:lnTo>
                <a:lnTo>
                  <a:pt x="3518763" y="4341078"/>
                </a:lnTo>
                <a:lnTo>
                  <a:pt x="3515652" y="4345747"/>
                </a:lnTo>
                <a:lnTo>
                  <a:pt x="3511600" y="4349799"/>
                </a:lnTo>
                <a:lnTo>
                  <a:pt x="3507549" y="4353848"/>
                </a:lnTo>
                <a:lnTo>
                  <a:pt x="3502875" y="4356968"/>
                </a:lnTo>
                <a:lnTo>
                  <a:pt x="3497580" y="4359160"/>
                </a:lnTo>
                <a:lnTo>
                  <a:pt x="3492296" y="4361354"/>
                </a:lnTo>
                <a:lnTo>
                  <a:pt x="3486785" y="4362450"/>
                </a:lnTo>
                <a:lnTo>
                  <a:pt x="3481057" y="4362450"/>
                </a:lnTo>
                <a:lnTo>
                  <a:pt x="43192" y="4362450"/>
                </a:lnTo>
                <a:lnTo>
                  <a:pt x="37465" y="4362450"/>
                </a:lnTo>
                <a:lnTo>
                  <a:pt x="31953" y="4361354"/>
                </a:lnTo>
                <a:lnTo>
                  <a:pt x="26670" y="4359160"/>
                </a:lnTo>
                <a:lnTo>
                  <a:pt x="21374" y="4356968"/>
                </a:lnTo>
                <a:lnTo>
                  <a:pt x="3289" y="4335785"/>
                </a:lnTo>
                <a:lnTo>
                  <a:pt x="1092" y="4330491"/>
                </a:lnTo>
                <a:lnTo>
                  <a:pt x="0" y="4324979"/>
                </a:lnTo>
                <a:lnTo>
                  <a:pt x="0" y="4319254"/>
                </a:lnTo>
                <a:close/>
              </a:path>
            </a:pathLst>
          </a:custGeom>
          <a:ln xmlns:a="http://schemas.openxmlformats.org/drawingml/2006/main" w="19050">
            <a:solidFill>
              <a:srgbClr val="B1D4E5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1" name="object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ba004f01041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51959" y="1371600"/>
            <a:ext cx="222503" cy="173736"/>
          </a:xfrm>
          <a:prstGeom xmlns:a="http://schemas.openxmlformats.org/drawingml/2006/main" prst="rect">
            <a:avLst/>
          </a:prstGeom>
        </p:spPr>
      </p:pic>
      <p:pic>
        <p:nvPicPr>
          <p:cNvPr id="52" name="object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02f8eef754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717535" y="5684520"/>
            <a:ext cx="231648" cy="182880"/>
          </a:xfrm>
          <a:prstGeom xmlns:a="http://schemas.openxmlformats.org/drawingml/2006/main" prst="rect">
            <a:avLst/>
          </a:prstGeom>
        </p:spPr>
      </p:pic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D4FDEBA3-3C0C-4E9B-9725-D366DA7B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772" y="1560468"/>
            <a:ext cx="3065780" cy="340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192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60"/>
              </a:spcBef>
              <a:buNone/>
            </a:pP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Hace</a:t>
            </a:r>
            <a:r>
              <a:rPr sz="1150" spc="10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9</a:t>
            </a:r>
            <a:r>
              <a:rPr sz="1150" spc="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meses</a:t>
            </a:r>
            <a:endParaRPr sz="1150">
              <a:latin typeface="Liberation Sans"/>
              <a:ea typeface="Liberation Sans"/>
              <a:cs typeface="Liberation Sans"/>
            </a:endParaRPr>
          </a:p>
          <a:p xmlns:a="http://schemas.openxmlformats.org/drawingml/2006/main">
            <a:pPr marL="12700" marR="5080">
              <a:lnSpc>
                <a:spcPct val="123400"/>
              </a:lnSpc>
              <a:spcBef>
                <a:spcPts val="550"/>
              </a:spcBef>
              <a:buNone/>
            </a:pPr>
            <a:r>
              <a:rPr sz="1150" spc="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Responsables</a:t>
            </a:r>
            <a:r>
              <a:rPr sz="1150" spc="8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en</a:t>
            </a:r>
            <a:r>
              <a:rPr sz="1150" spc="8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tiempo</a:t>
            </a:r>
            <a:r>
              <a:rPr sz="1150" spc="8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y</a:t>
            </a:r>
            <a:r>
              <a:rPr sz="1150" spc="8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trabajo.</a:t>
            </a:r>
            <a:r>
              <a:rPr sz="1150" spc="8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Me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cambiaron</a:t>
            </a:r>
            <a:r>
              <a:rPr sz="1150" spc="1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las</a:t>
            </a:r>
            <a:r>
              <a:rPr sz="1150" spc="1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5</a:t>
            </a:r>
            <a:r>
              <a:rPr sz="1150" spc="1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ventanas</a:t>
            </a:r>
            <a:r>
              <a:rPr sz="1150" spc="1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150" spc="1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mi</a:t>
            </a:r>
            <a:r>
              <a:rPr sz="1150" spc="1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4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casa.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Cumplieron</a:t>
            </a:r>
            <a:r>
              <a:rPr sz="1150" spc="14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con</a:t>
            </a:r>
            <a:r>
              <a:rPr sz="1150" spc="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los</a:t>
            </a:r>
            <a:r>
              <a:rPr sz="1150" spc="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plazos</a:t>
            </a:r>
            <a:r>
              <a:rPr sz="1150" spc="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y</a:t>
            </a:r>
            <a:r>
              <a:rPr sz="1150" spc="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acabados</a:t>
            </a:r>
            <a:r>
              <a:rPr sz="1150" spc="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tal</a:t>
            </a:r>
            <a:r>
              <a:rPr sz="1150" spc="5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y</a:t>
            </a:r>
            <a:r>
              <a:rPr sz="1150" spc="8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como</a:t>
            </a:r>
            <a:r>
              <a:rPr sz="1150" spc="9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me</a:t>
            </a:r>
            <a:r>
              <a:rPr sz="1150" spc="9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dijeron.</a:t>
            </a:r>
            <a:r>
              <a:rPr sz="1150" spc="8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Desde</a:t>
            </a:r>
            <a:r>
              <a:rPr sz="1150" spc="9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Jose</a:t>
            </a:r>
            <a:r>
              <a:rPr sz="1150" spc="5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(comercial)</a:t>
            </a:r>
            <a:r>
              <a:rPr sz="1150" spc="2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hasta</a:t>
            </a:r>
            <a:r>
              <a:rPr sz="1150" spc="2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Samanta</a:t>
            </a:r>
            <a:r>
              <a:rPr sz="1150" spc="2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(comunicación)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han</a:t>
            </a:r>
            <a:r>
              <a:rPr sz="1150" spc="6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sido</a:t>
            </a:r>
            <a:r>
              <a:rPr sz="1150" spc="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muy</a:t>
            </a:r>
            <a:r>
              <a:rPr sz="1150" spc="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atentos</a:t>
            </a:r>
            <a:r>
              <a:rPr sz="1150" spc="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en</a:t>
            </a:r>
            <a:r>
              <a:rPr sz="1150" spc="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todo</a:t>
            </a:r>
            <a:r>
              <a:rPr sz="1150" spc="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momento,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resolviendo</a:t>
            </a:r>
            <a:r>
              <a:rPr sz="1150" spc="13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todas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las</a:t>
            </a:r>
            <a:r>
              <a:rPr sz="1150" spc="13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dudas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y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preguntas.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Especial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atención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Aitor</a:t>
            </a:r>
            <a:r>
              <a:rPr sz="1150" spc="14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y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Jampier,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que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pesar</a:t>
            </a:r>
            <a:r>
              <a:rPr sz="1150" spc="1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150" spc="114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su</a:t>
            </a:r>
            <a:r>
              <a:rPr sz="1150" spc="10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joven</a:t>
            </a:r>
            <a:r>
              <a:rPr sz="1150" spc="114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edad</a:t>
            </a:r>
            <a:r>
              <a:rPr sz="1150" spc="1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han</a:t>
            </a:r>
            <a:r>
              <a:rPr sz="1150" spc="114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sido</a:t>
            </a:r>
            <a:r>
              <a:rPr sz="1150" spc="114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muy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profesionales,</a:t>
            </a:r>
            <a:r>
              <a:rPr sz="1150" spc="2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destacando</a:t>
            </a:r>
            <a:r>
              <a:rPr sz="1150" spc="2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un</a:t>
            </a:r>
            <a:r>
              <a:rPr sz="1150" spc="2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trabajo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CUIDADOSO,</a:t>
            </a:r>
            <a:r>
              <a:rPr sz="1150" spc="7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LIMPIO</a:t>
            </a:r>
            <a:r>
              <a:rPr sz="1150" spc="7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8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</a:t>
            </a:r>
            <a:r>
              <a:rPr sz="1150" spc="8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4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IMPECABLE.</a:t>
            </a:r>
            <a:r>
              <a:rPr sz="1150" spc="7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No</a:t>
            </a:r>
            <a:endParaRPr sz="1150">
              <a:latin typeface="Liberation Sans"/>
              <a:ea typeface="Liberation Sans"/>
              <a:cs typeface="Liberation Sans"/>
            </a:endParaRPr>
          </a:p>
          <a:p xmlns:a="http://schemas.openxmlformats.org/drawingml/2006/main">
            <a:pPr marL="12700" marR="59055">
              <a:lnSpc>
                <a:spcPct val="125000"/>
              </a:lnSpc>
              <a:buNone/>
            </a:pP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puedo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decir</a:t>
            </a:r>
            <a:r>
              <a:rPr sz="1150" spc="14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más</a:t>
            </a:r>
            <a:r>
              <a:rPr sz="1150" spc="14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que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cualidades</a:t>
            </a:r>
            <a:r>
              <a:rPr sz="1150" spc="14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positivas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Aspa.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Sin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duda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les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volvería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llamar.</a:t>
            </a:r>
            <a:endParaRPr sz="1150">
              <a:latin typeface="Liberation Sans"/>
              <a:ea typeface="Liberation Sans"/>
              <a:cs typeface="Liberation Sans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270"/>
              </a:spcBef>
              <a:buNone/>
            </a:pPr>
            <a:r>
              <a:rPr sz="1150" spc="3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Gracias.</a:t>
            </a:r>
            <a:endParaRPr sz="115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47480B67-CF93-4BA4-9D86-3CF4D7CA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772" y="5342159"/>
            <a:ext cx="1297305" cy="20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—</a:t>
            </a:r>
            <a:r>
              <a:rPr sz="1150" spc="3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Alonso</a:t>
            </a:r>
            <a:r>
              <a:rPr sz="1150" spc="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Donoso</a:t>
            </a:r>
            <a:endParaRPr sz="115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B8CE81A5-AF2D-4C26-8671-81268F6D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0999" y="1438274"/>
            <a:ext cx="3524250" cy="4362450"/>
          </a:xfrm>
          <a:custGeom xmlns:a="http://schemas.openxmlformats.org/drawingml/2006/main">
            <a:rect l="l" t="t" r="r" b="b"/>
            <a:pathLst>
              <a:path w="3524250" h="4362450">
                <a:moveTo>
                  <a:pt x="0" y="4319254"/>
                </a:moveTo>
                <a:lnTo>
                  <a:pt x="0" y="43192"/>
                </a:lnTo>
                <a:lnTo>
                  <a:pt x="0" y="37465"/>
                </a:lnTo>
                <a:lnTo>
                  <a:pt x="1092" y="31953"/>
                </a:lnTo>
                <a:lnTo>
                  <a:pt x="3289" y="26670"/>
                </a:lnTo>
                <a:lnTo>
                  <a:pt x="5473" y="21374"/>
                </a:lnTo>
                <a:lnTo>
                  <a:pt x="8597" y="16700"/>
                </a:lnTo>
                <a:lnTo>
                  <a:pt x="12649" y="12649"/>
                </a:lnTo>
                <a:lnTo>
                  <a:pt x="16700" y="8597"/>
                </a:lnTo>
                <a:lnTo>
                  <a:pt x="21374" y="5486"/>
                </a:lnTo>
                <a:lnTo>
                  <a:pt x="26670" y="3289"/>
                </a:lnTo>
                <a:lnTo>
                  <a:pt x="31953" y="1092"/>
                </a:lnTo>
                <a:lnTo>
                  <a:pt x="37465" y="0"/>
                </a:lnTo>
                <a:lnTo>
                  <a:pt x="43192" y="0"/>
                </a:lnTo>
                <a:lnTo>
                  <a:pt x="3481057" y="0"/>
                </a:lnTo>
                <a:lnTo>
                  <a:pt x="3486785" y="0"/>
                </a:lnTo>
                <a:lnTo>
                  <a:pt x="3492296" y="1092"/>
                </a:lnTo>
                <a:lnTo>
                  <a:pt x="3497580" y="3289"/>
                </a:lnTo>
                <a:lnTo>
                  <a:pt x="3502875" y="5486"/>
                </a:lnTo>
                <a:lnTo>
                  <a:pt x="3507549" y="8597"/>
                </a:lnTo>
                <a:lnTo>
                  <a:pt x="3511600" y="12649"/>
                </a:lnTo>
                <a:lnTo>
                  <a:pt x="3515652" y="16700"/>
                </a:lnTo>
                <a:lnTo>
                  <a:pt x="3518763" y="21374"/>
                </a:lnTo>
                <a:lnTo>
                  <a:pt x="3520960" y="26670"/>
                </a:lnTo>
                <a:lnTo>
                  <a:pt x="3523157" y="31953"/>
                </a:lnTo>
                <a:lnTo>
                  <a:pt x="3524250" y="37465"/>
                </a:lnTo>
                <a:lnTo>
                  <a:pt x="3524250" y="43192"/>
                </a:lnTo>
                <a:lnTo>
                  <a:pt x="3524250" y="4319254"/>
                </a:lnTo>
                <a:lnTo>
                  <a:pt x="3524250" y="4324979"/>
                </a:lnTo>
                <a:lnTo>
                  <a:pt x="3523157" y="4330491"/>
                </a:lnTo>
                <a:lnTo>
                  <a:pt x="3497580" y="4359160"/>
                </a:lnTo>
                <a:lnTo>
                  <a:pt x="3492296" y="4361354"/>
                </a:lnTo>
                <a:lnTo>
                  <a:pt x="3486785" y="4362450"/>
                </a:lnTo>
                <a:lnTo>
                  <a:pt x="3481057" y="4362450"/>
                </a:lnTo>
                <a:lnTo>
                  <a:pt x="43192" y="4362450"/>
                </a:lnTo>
                <a:lnTo>
                  <a:pt x="37465" y="4362450"/>
                </a:lnTo>
                <a:lnTo>
                  <a:pt x="31953" y="4361354"/>
                </a:lnTo>
                <a:lnTo>
                  <a:pt x="26670" y="4359160"/>
                </a:lnTo>
                <a:lnTo>
                  <a:pt x="21374" y="4356968"/>
                </a:lnTo>
                <a:lnTo>
                  <a:pt x="3289" y="4335785"/>
                </a:lnTo>
                <a:lnTo>
                  <a:pt x="1092" y="4330491"/>
                </a:lnTo>
                <a:lnTo>
                  <a:pt x="0" y="4324979"/>
                </a:lnTo>
                <a:lnTo>
                  <a:pt x="0" y="4319254"/>
                </a:lnTo>
                <a:close/>
              </a:path>
            </a:pathLst>
          </a:custGeom>
          <a:ln xmlns:a="http://schemas.openxmlformats.org/drawingml/2006/main" w="19050">
            <a:solidFill>
              <a:srgbClr val="B1D4E5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6" name="object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ba004f01041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909559" y="1371600"/>
            <a:ext cx="222503" cy="173736"/>
          </a:xfrm>
          <a:prstGeom xmlns:a="http://schemas.openxmlformats.org/drawingml/2006/main" prst="rect">
            <a:avLst/>
          </a:prstGeom>
        </p:spPr>
      </p:pic>
      <p:pic>
        <p:nvPicPr>
          <p:cNvPr id="57" name="object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e89818dc44c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1375135" y="5684520"/>
            <a:ext cx="231648" cy="182880"/>
          </a:xfrm>
          <a:prstGeom xmlns:a="http://schemas.openxmlformats.org/drawingml/2006/main" prst="rect">
            <a:avLst/>
          </a:prstGeom>
        </p:spPr>
      </p:pic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44ED58B2-0202-4533-AB35-E1BDABDD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9732" y="1560468"/>
            <a:ext cx="3056890" cy="2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192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960"/>
              </a:spcBef>
              <a:buNone/>
            </a:pP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Hace</a:t>
            </a:r>
            <a:r>
              <a:rPr sz="1150" spc="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5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2</a:t>
            </a:r>
            <a:r>
              <a:rPr sz="1150" spc="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semanas</a:t>
            </a:r>
            <a:endParaRPr sz="1150">
              <a:latin typeface="Liberation Sans"/>
              <a:ea typeface="Liberation Sans"/>
              <a:cs typeface="Liberation Sans"/>
            </a:endParaRPr>
          </a:p>
          <a:p xmlns:a="http://schemas.openxmlformats.org/drawingml/2006/main">
            <a:pPr marL="12700" marR="5080">
              <a:lnSpc>
                <a:spcPct val="123200"/>
              </a:lnSpc>
              <a:spcBef>
                <a:spcPts val="550"/>
              </a:spcBef>
              <a:buNone/>
            </a:pP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Muy</a:t>
            </a:r>
            <a:r>
              <a:rPr sz="1150" spc="17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buenos</a:t>
            </a:r>
            <a:r>
              <a:rPr sz="1150" spc="18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profesionales.</a:t>
            </a:r>
            <a:r>
              <a:rPr sz="1150" spc="18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Estamos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encantados</a:t>
            </a:r>
            <a:r>
              <a:rPr sz="1150" spc="204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con</a:t>
            </a:r>
            <a:r>
              <a:rPr sz="1150" spc="2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las</a:t>
            </a:r>
            <a:r>
              <a:rPr sz="1150" spc="204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nuevas</a:t>
            </a:r>
            <a:r>
              <a:rPr sz="1150" spc="2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ventanas.</a:t>
            </a:r>
            <a:r>
              <a:rPr sz="1150" spc="5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Aíslan</a:t>
            </a:r>
            <a:r>
              <a:rPr sz="1150" spc="14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del</a:t>
            </a:r>
            <a:r>
              <a:rPr sz="1150" spc="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calor,</a:t>
            </a:r>
            <a:r>
              <a:rPr sz="1150" spc="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frío,</a:t>
            </a:r>
            <a:r>
              <a:rPr sz="1150" spc="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ruido...</a:t>
            </a:r>
            <a:r>
              <a:rPr sz="1150" spc="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Una</a:t>
            </a:r>
            <a:r>
              <a:rPr sz="1150" spc="14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maravilla. </a:t>
            </a:r>
            <a:r>
              <a:rPr sz="1150" spc="114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Y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la</a:t>
            </a:r>
            <a:r>
              <a:rPr sz="1150" spc="14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relación</a:t>
            </a:r>
            <a:r>
              <a:rPr sz="1150" spc="14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calidad-precio</a:t>
            </a:r>
            <a:r>
              <a:rPr sz="1150" spc="14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inmejorable.</a:t>
            </a:r>
            <a:endParaRPr sz="1150">
              <a:latin typeface="Liberation Sans"/>
              <a:ea typeface="Liberation Sans"/>
              <a:cs typeface="Liberation Sans"/>
            </a:endParaRPr>
          </a:p>
          <a:p xmlns:a="http://schemas.openxmlformats.org/drawingml/2006/main">
            <a:pPr marL="12700" marR="15875">
              <a:lnSpc>
                <a:spcPct val="122800"/>
              </a:lnSpc>
              <a:spcBef>
                <a:spcPts val="30"/>
              </a:spcBef>
              <a:buNone/>
            </a:pP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Mucho</a:t>
            </a:r>
            <a:r>
              <a:rPr sz="1150" spc="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mejor</a:t>
            </a:r>
            <a:r>
              <a:rPr sz="1150" spc="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con</a:t>
            </a:r>
            <a:r>
              <a:rPr sz="1150" spc="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respecto</a:t>
            </a:r>
            <a:r>
              <a:rPr sz="1150" spc="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</a:t>
            </a:r>
            <a:r>
              <a:rPr sz="1150" spc="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otros</a:t>
            </a:r>
            <a:r>
              <a:rPr sz="1150" spc="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sitios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que</a:t>
            </a:r>
            <a:r>
              <a:rPr sz="1150" spc="1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habíamos</a:t>
            </a:r>
            <a:r>
              <a:rPr sz="1150" spc="114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comparado.</a:t>
            </a:r>
            <a:r>
              <a:rPr sz="1150" spc="1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Nos</a:t>
            </a:r>
            <a:r>
              <a:rPr sz="1150" spc="114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mandaron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unos</a:t>
            </a:r>
            <a:r>
              <a:rPr sz="1150" spc="13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chicos</a:t>
            </a:r>
            <a:r>
              <a:rPr sz="1150" spc="13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jóvenes</a:t>
            </a:r>
            <a:r>
              <a:rPr sz="1150" spc="13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hacer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la</a:t>
            </a:r>
            <a:r>
              <a:rPr sz="1150" spc="13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obra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y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nos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sorprendieron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con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su</a:t>
            </a:r>
            <a:r>
              <a:rPr sz="1150" spc="1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profesionalidad: </a:t>
            </a:r>
            <a:r>
              <a:rPr sz="1150" spc="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Rapidez,</a:t>
            </a:r>
            <a:r>
              <a:rPr sz="1150" spc="18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limpieza,</a:t>
            </a:r>
            <a:r>
              <a:rPr sz="1150" spc="18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educación...</a:t>
            </a:r>
            <a:r>
              <a:rPr sz="1150" spc="18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Así</a:t>
            </a:r>
            <a:r>
              <a:rPr sz="1150" spc="18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da </a:t>
            </a:r>
            <a:r>
              <a:rPr sz="115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gusto.</a:t>
            </a:r>
            <a:endParaRPr sz="115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F53B71CD-5914-4846-9D9F-9C01106D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9732" y="5342159"/>
            <a:ext cx="1007744" cy="20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11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—</a:t>
            </a:r>
            <a:r>
              <a:rPr sz="1150" spc="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5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Javier</a:t>
            </a:r>
            <a:r>
              <a:rPr sz="1150" spc="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50" spc="-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M.P.</a:t>
            </a:r>
            <a:endParaRPr sz="115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01F7C57B-5EDB-488A-8DF5-C572C050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23" y="6105525"/>
            <a:ext cx="44450" cy="9525"/>
          </a:xfrm>
          <a:custGeom xmlns:a="http://schemas.openxmlformats.org/drawingml/2006/main">
            <a:rect l="l" t="t" r="r" b="b"/>
            <a:pathLst>
              <a:path w="44450" h="9525">
                <a:moveTo>
                  <a:pt x="44361" y="0"/>
                </a:moveTo>
                <a:lnTo>
                  <a:pt x="0" y="0"/>
                </a:lnTo>
                <a:lnTo>
                  <a:pt x="0" y="9524"/>
                </a:lnTo>
                <a:lnTo>
                  <a:pt x="44361" y="9524"/>
                </a:lnTo>
                <a:lnTo>
                  <a:pt x="44361" y="0"/>
                </a:lnTo>
                <a:close/>
              </a:path>
            </a:pathLst>
          </a:custGeom>
          <a:solidFill xmlns:a="http://schemas.openxmlformats.org/drawingml/2006/main">
            <a:srgbClr val="007EBC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9800A273-359F-4DD8-B2AD-F4C335B3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57" y="5932709"/>
            <a:ext cx="3334385" cy="20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714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35"/>
              </a:spcBef>
              <a:buNone/>
            </a:pPr>
            <a:r>
              <a:rPr sz="1150" b="1" u="sng" spc="-10">
                <a:solidFill>
                  <a:srgbClr val="007EBC"/>
                </a:solidFill>
                <a:latin typeface="Liberation Sans"/>
                <a:ea typeface="Liberation Sans"/>
                <a:cs typeface="Liberation Sans"/>
                <a:hlinkClick xmlns:r="http://schemas.openxmlformats.org/officeDocument/2006/relationships" r:id="R1ce604b18b064775"/>
              </a:rPr>
              <a:t>https://g</a:t>
            </a:r>
            <a:r>
              <a:rPr sz="1150" b="1" spc="-10">
                <a:solidFill>
                  <a:srgbClr val="007EBC"/>
                </a:solidFill>
                <a:latin typeface="Liberation Sans"/>
                <a:ea typeface="Liberation Sans"/>
                <a:cs typeface="Liberation Sans"/>
                <a:hlinkClick xmlns:r="http://schemas.openxmlformats.org/officeDocument/2006/relationships" r:id="R7cde76b9d6d140f8"/>
              </a:rPr>
              <a:t>.</a:t>
            </a:r>
            <a:r>
              <a:rPr sz="1150" b="1" u="sng" spc="-10">
                <a:solidFill>
                  <a:srgbClr val="007EBC"/>
                </a:solidFill>
                <a:latin typeface="Liberation Sans"/>
                <a:ea typeface="Liberation Sans"/>
                <a:cs typeface="Liberation Sans"/>
                <a:hlinkClick xmlns:r="http://schemas.openxmlformats.org/officeDocument/2006/relationships" r:id="Re2466251b76d4f58"/>
              </a:rPr>
              <a:t>page/r/CfoccmQ83BZCEBM/review</a:t>
            </a:r>
            <a:endParaRPr sz="115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23" name="sv_s06_rating_1_1">
            <a:extLst xmlns:a="http://schemas.openxmlformats.org/drawingml/2006/main">
              <a:ext uri="{FF2B5EF4-FFF2-40B4-BE49-F238E27FC236}">
                <a16:creationId xmlns:a16="http://schemas.microsoft.com/office/drawing/2014/main" id="{3E816317-8C72-4FB3-BE5C-A6CA6F8F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12" y="1573168"/>
            <a:ext cx="107950" cy="10795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1A9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sv_s06_rating_1_2">
            <a:extLst xmlns:a="http://schemas.openxmlformats.org/drawingml/2006/main">
              <a:ext uri="{FF2B5EF4-FFF2-40B4-BE49-F238E27FC236}">
                <a16:creationId xmlns:a16="http://schemas.microsoft.com/office/drawing/2014/main" id="{7B388F68-EDC7-4D9A-BCE8-3F9A8063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12" y="1573168"/>
            <a:ext cx="107950" cy="10795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1A9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sv_s06_rating_1_3">
            <a:extLst xmlns:a="http://schemas.openxmlformats.org/drawingml/2006/main">
              <a:ext uri="{FF2B5EF4-FFF2-40B4-BE49-F238E27FC236}">
                <a16:creationId xmlns:a16="http://schemas.microsoft.com/office/drawing/2014/main" id="{BEAB8DEC-9821-4BBB-8565-B3DD03B9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812" y="1573168"/>
            <a:ext cx="107950" cy="10795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1A9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sv_s06_rating_1_4">
            <a:extLst xmlns:a="http://schemas.openxmlformats.org/drawingml/2006/main">
              <a:ext uri="{FF2B5EF4-FFF2-40B4-BE49-F238E27FC236}">
                <a16:creationId xmlns:a16="http://schemas.microsoft.com/office/drawing/2014/main" id="{13AA92DD-9FA2-4CD4-9C55-B0B83658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812" y="1573168"/>
            <a:ext cx="107950" cy="10795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1A9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sv_s06_rating_1_5">
            <a:extLst xmlns:a="http://schemas.openxmlformats.org/drawingml/2006/main">
              <a:ext uri="{FF2B5EF4-FFF2-40B4-BE49-F238E27FC236}">
                <a16:creationId xmlns:a16="http://schemas.microsoft.com/office/drawing/2014/main" id="{5773B68E-9878-4761-A89F-4461C39E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812" y="1573168"/>
            <a:ext cx="107950" cy="10795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1A9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sv_s06_rating_2_1">
            <a:extLst xmlns:a="http://schemas.openxmlformats.org/drawingml/2006/main">
              <a:ext uri="{FF2B5EF4-FFF2-40B4-BE49-F238E27FC236}">
                <a16:creationId xmlns:a16="http://schemas.microsoft.com/office/drawing/2014/main" id="{F78A4E43-BD63-4B30-8831-36277829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772" y="1573168"/>
            <a:ext cx="107950" cy="10795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1A9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sv_s06_rating_2_2">
            <a:extLst xmlns:a="http://schemas.openxmlformats.org/drawingml/2006/main">
              <a:ext uri="{FF2B5EF4-FFF2-40B4-BE49-F238E27FC236}">
                <a16:creationId xmlns:a16="http://schemas.microsoft.com/office/drawing/2014/main" id="{C6C09BA5-41A6-42CE-948F-A9486A08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772" y="1573168"/>
            <a:ext cx="107950" cy="10795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1A9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sv_s06_rating_2_3">
            <a:extLst xmlns:a="http://schemas.openxmlformats.org/drawingml/2006/main">
              <a:ext uri="{FF2B5EF4-FFF2-40B4-BE49-F238E27FC236}">
                <a16:creationId xmlns:a16="http://schemas.microsoft.com/office/drawing/2014/main" id="{785A5C12-12C4-4BE6-8B3C-43331D59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772" y="1573168"/>
            <a:ext cx="107950" cy="10795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1A9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sv_s06_rating_2_4">
            <a:extLst xmlns:a="http://schemas.openxmlformats.org/drawingml/2006/main">
              <a:ext uri="{FF2B5EF4-FFF2-40B4-BE49-F238E27FC236}">
                <a16:creationId xmlns:a16="http://schemas.microsoft.com/office/drawing/2014/main" id="{C3B1E02F-5517-43E9-8898-FE7942FF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72" y="1573168"/>
            <a:ext cx="107950" cy="10795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1A9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sv_s06_rating_2_5">
            <a:extLst xmlns:a="http://schemas.openxmlformats.org/drawingml/2006/main">
              <a:ext uri="{FF2B5EF4-FFF2-40B4-BE49-F238E27FC236}">
                <a16:creationId xmlns:a16="http://schemas.microsoft.com/office/drawing/2014/main" id="{0AA20037-6094-4D2F-BDDA-DFE56AD8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772" y="1573168"/>
            <a:ext cx="107950" cy="10795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1A9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sv_s06_rating_3_1">
            <a:extLst xmlns:a="http://schemas.openxmlformats.org/drawingml/2006/main">
              <a:ext uri="{FF2B5EF4-FFF2-40B4-BE49-F238E27FC236}">
                <a16:creationId xmlns:a16="http://schemas.microsoft.com/office/drawing/2014/main" id="{12D6C45A-2DFE-4CFA-AB4D-465EBF9D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9732" y="1573168"/>
            <a:ext cx="107950" cy="10795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1A9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sv_s06_rating_3_2">
            <a:extLst xmlns:a="http://schemas.openxmlformats.org/drawingml/2006/main">
              <a:ext uri="{FF2B5EF4-FFF2-40B4-BE49-F238E27FC236}">
                <a16:creationId xmlns:a16="http://schemas.microsoft.com/office/drawing/2014/main" id="{89817A38-A4D5-4ED3-B5E9-3FE02617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6732" y="1573168"/>
            <a:ext cx="107950" cy="10795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1A9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sv_s06_rating_3_3">
            <a:extLst xmlns:a="http://schemas.openxmlformats.org/drawingml/2006/main">
              <a:ext uri="{FF2B5EF4-FFF2-40B4-BE49-F238E27FC236}">
                <a16:creationId xmlns:a16="http://schemas.microsoft.com/office/drawing/2014/main" id="{FD9E5D0B-FCE3-40B0-9825-A26E7A89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3732" y="1573168"/>
            <a:ext cx="107950" cy="10795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1A9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sv_s06_rating_3_4">
            <a:extLst xmlns:a="http://schemas.openxmlformats.org/drawingml/2006/main">
              <a:ext uri="{FF2B5EF4-FFF2-40B4-BE49-F238E27FC236}">
                <a16:creationId xmlns:a16="http://schemas.microsoft.com/office/drawing/2014/main" id="{D560F964-1A1C-4DD9-B71E-6B60819F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0732" y="1573168"/>
            <a:ext cx="107950" cy="10795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1A9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sv_s06_rating_3_5">
            <a:extLst xmlns:a="http://schemas.openxmlformats.org/drawingml/2006/main">
              <a:ext uri="{FF2B5EF4-FFF2-40B4-BE49-F238E27FC236}">
                <a16:creationId xmlns:a16="http://schemas.microsoft.com/office/drawing/2014/main" id="{AA2D5929-55F4-4EE6-BE80-13CB4CCB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7732" y="1573168"/>
            <a:ext cx="107950" cy="10795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1A9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930223"/>
      </p:ext>
    </p:extLst>
  </p:cSld>
</p:sld>
</file>

<file path=ppt/slides/slide7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sv_s07_generated_result_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7e0270f9249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0"/>
            <a:ext cx="4572000" cy="6857999"/>
          </a:xfrm>
          <a:prstGeom xmlns:a="http://schemas.openxmlformats.org/drawingml/2006/main" prst="rect">
            <a:avLst/>
          </a:prstGeom>
        </p:spPr>
      </p:pic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31F17E65-AD09-4CC7-9AF7-4E2E664917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8840" y="472503"/>
            <a:ext cx="5370830" cy="939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81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>
              <a:lnSpc>
                <a:spcPts val="3679"/>
              </a:lnSpc>
              <a:spcBef>
                <a:spcPts val="30"/>
              </a:spcBef>
              <a:buNone/>
            </a:pPr>
            <a:r>
              <a:rPr sz="2900" spc="-200"/>
              <a:t>Nuestra</a:t>
            </a:r>
            <a:r>
              <a:rPr sz="2900" spc="-60"/>
              <a:t> </a:t>
            </a:r>
            <a:r>
              <a:rPr sz="2900" spc="-200"/>
              <a:t>propuesta</a:t>
            </a:r>
            <a:r>
              <a:rPr sz="2900" spc="-55"/>
              <a:t> </a:t>
            </a:r>
            <a:r>
              <a:rPr sz="2900" spc="-229"/>
              <a:t>para</a:t>
            </a:r>
            <a:r>
              <a:rPr sz="2900" spc="-60"/>
              <a:t> </a:t>
            </a:r>
            <a:r>
              <a:rPr sz="2900" spc="-150"/>
              <a:t>vuestra </a:t>
            </a:r>
            <a:r>
              <a:rPr sz="2900" spc="-30"/>
              <a:t>vivienda</a:t>
            </a:r>
            <a:endParaRPr sz="2900"/>
          </a:p>
        </p:txBody>
      </p:sp>
      <p:sp>
        <p:nvSpPr>
          <p:cNvPr id="4" name="sv_s07_project_summary">
            <a:extLst xmlns:a="http://schemas.openxmlformats.org/drawingml/2006/main">
              <a:ext uri="{FF2B5EF4-FFF2-40B4-BE49-F238E27FC236}">
                <a16:creationId xmlns:a16="http://schemas.microsoft.com/office/drawing/2014/main" id="{F5B6972D-2815-4038-BD31-0C6710F0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40" y="1696751"/>
            <a:ext cx="3281045" cy="25165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460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15"/>
              </a:spcBef>
              <a:buNone/>
            </a:pPr>
            <a:r>
              <a:rPr sz="1450" b="1" spc="-125">
                <a:latin typeface="Liberation Serif"/>
                <a:ea typeface="Liberation Serif"/>
                <a:cs typeface="Liberation Serif"/>
              </a:rPr>
              <a:t>Resumen</a:t>
            </a:r>
            <a:r>
              <a:rPr sz="1450" b="1" spc="-10">
                <a:latin typeface="Liberation Serif"/>
                <a:ea typeface="Liberation Serif"/>
                <a:cs typeface="Liberation Serif"/>
              </a:rPr>
              <a:t> </a:t>
            </a:r>
            <a:r>
              <a:rPr sz="1450" b="1" spc="-80">
                <a:latin typeface="Liberation Serif"/>
                <a:ea typeface="Liberation Serif"/>
                <a:cs typeface="Liberation Serif"/>
              </a:rPr>
              <a:t>del</a:t>
            </a:r>
            <a:r>
              <a:rPr sz="1450" b="1" spc="-5">
                <a:latin typeface="Liberation Serif"/>
                <a:ea typeface="Liberation Serif"/>
                <a:cs typeface="Liberation Serif"/>
              </a:rPr>
              <a:t> </a:t>
            </a:r>
            <a:r>
              <a:rPr sz="1450" b="1" spc="-10">
                <a:latin typeface="Liberation Serif"/>
                <a:ea typeface="Liberation Serif"/>
                <a:cs typeface="Liberation Serif"/>
              </a:rPr>
              <a:t>proyecto</a:t>
            </a:r>
            <a:endParaRPr sz="1450">
              <a:latin typeface="Liberation Serif"/>
              <a:ea typeface="Liberation Serif"/>
              <a:cs typeface="Liberation Serif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010"/>
              </a:spcBef>
              <a:buNone/>
            </a:pP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Cerramiento</a:t>
            </a:r>
            <a:r>
              <a:rPr sz="1100" spc="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100" spc="3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salón</a:t>
            </a:r>
            <a:r>
              <a:rPr sz="1100" spc="3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spc="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y</a:t>
            </a:r>
            <a:r>
              <a:rPr sz="1100" spc="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cocina</a:t>
            </a:r>
            <a:endParaRPr sz="1100">
              <a:latin typeface="Liberation Sans"/>
              <a:ea typeface="Liberation Sans"/>
              <a:cs typeface="Liberation Sans"/>
            </a:endParaRPr>
          </a:p>
          <a:p xmlns:a="http://schemas.openxmlformats.org/drawingml/2006/main">
            <a:pPr marL="12700" marR="50800">
              <a:lnSpc>
                <a:spcPct val="119300"/>
              </a:lnSpc>
              <a:spcBef>
                <a:spcPts val="750"/>
              </a:spcBef>
              <a:buNone/>
            </a:pP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Forros</a:t>
            </a:r>
            <a:r>
              <a:rPr sz="1100" spc="6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100" spc="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barandillas</a:t>
            </a:r>
            <a:r>
              <a:rPr sz="1100" spc="6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con</a:t>
            </a:r>
            <a:r>
              <a:rPr sz="1100" spc="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panel</a:t>
            </a:r>
            <a:r>
              <a:rPr sz="1100" spc="6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sandwich</a:t>
            </a:r>
            <a:r>
              <a:rPr sz="1100" spc="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100" spc="6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spc="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24 </a:t>
            </a:r>
            <a:r>
              <a:rPr sz="1100" spc="-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mm</a:t>
            </a:r>
            <a:endParaRPr sz="1100">
              <a:latin typeface="Liberation Sans"/>
              <a:ea typeface="Liberation Sans"/>
              <a:cs typeface="Liberation Sans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005"/>
              </a:spcBef>
              <a:buNone/>
            </a:pP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Pasamanos</a:t>
            </a:r>
            <a:r>
              <a:rPr sz="1100" spc="7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en</a:t>
            </a:r>
            <a:r>
              <a:rPr sz="1100" spc="7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ambos</a:t>
            </a:r>
            <a:r>
              <a:rPr sz="1100" spc="7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cerramientos</a:t>
            </a:r>
            <a:endParaRPr sz="1100">
              <a:latin typeface="Liberation Sans"/>
              <a:ea typeface="Liberation Sans"/>
              <a:cs typeface="Liberation Sans"/>
            </a:endParaRPr>
          </a:p>
          <a:p xmlns:a="http://schemas.openxmlformats.org/drawingml/2006/main">
            <a:pPr marL="12700" marR="376555">
              <a:lnSpc>
                <a:spcPct val="116500"/>
              </a:lnSpc>
              <a:spcBef>
                <a:spcPts val="785"/>
              </a:spcBef>
              <a:buNone/>
            </a:pPr>
            <a:r>
              <a:rPr sz="1100" spc="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3</a:t>
            </a:r>
            <a:r>
              <a:rPr sz="1100" spc="4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ventanas</a:t>
            </a:r>
            <a:r>
              <a:rPr sz="1100" spc="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100" spc="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dormitorios.</a:t>
            </a:r>
            <a:r>
              <a:rPr sz="1100" spc="4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Incluye</a:t>
            </a:r>
            <a:r>
              <a:rPr sz="1100" spc="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forro</a:t>
            </a:r>
            <a:r>
              <a:rPr sz="1100" spc="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spc="-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piedras</a:t>
            </a:r>
            <a:r>
              <a:rPr sz="1100" spc="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y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remates</a:t>
            </a:r>
            <a:r>
              <a:rPr sz="1100" spc="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exteriores</a:t>
            </a:r>
            <a:r>
              <a:rPr sz="1100" spc="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+</a:t>
            </a:r>
            <a:r>
              <a:rPr sz="1100" spc="5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trabajos</a:t>
            </a:r>
            <a:r>
              <a:rPr sz="1100" spc="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spc="-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 </a:t>
            </a:r>
            <a:r>
              <a:rPr sz="110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albañilería</a:t>
            </a:r>
            <a:endParaRPr sz="1100">
              <a:latin typeface="Liberation Sans"/>
              <a:ea typeface="Liberation Sans"/>
              <a:cs typeface="Liberation Sans"/>
            </a:endParaRPr>
          </a:p>
          <a:p xmlns:a="http://schemas.openxmlformats.org/drawingml/2006/main">
            <a:pPr marL="12700" marR="5080">
              <a:lnSpc>
                <a:spcPct val="119300"/>
              </a:lnSpc>
              <a:spcBef>
                <a:spcPts val="750"/>
              </a:spcBef>
              <a:buNone/>
            </a:pPr>
            <a:r>
              <a:rPr sz="110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Adjuntamos</a:t>
            </a:r>
            <a:r>
              <a:rPr sz="1100" spc="3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detalle</a:t>
            </a:r>
            <a:r>
              <a:rPr sz="1100" spc="3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componentes</a:t>
            </a:r>
            <a:r>
              <a:rPr sz="1100" spc="3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100" spc="3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cada</a:t>
            </a:r>
            <a:r>
              <a:rPr sz="1100" spc="3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pieza.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Doc.</a:t>
            </a:r>
            <a:r>
              <a:rPr sz="1100" spc="1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Equipamiento</a:t>
            </a:r>
            <a:endParaRPr sz="110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5" name="sv_s07_budget_block">
            <a:extLst xmlns:a="http://schemas.openxmlformats.org/drawingml/2006/main">
              <a:ext uri="{FF2B5EF4-FFF2-40B4-BE49-F238E27FC236}">
                <a16:creationId xmlns:a16="http://schemas.microsoft.com/office/drawing/2014/main" id="{C5E2F569-BEBB-4A77-8412-A9608126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802" y="1674909"/>
            <a:ext cx="2619375" cy="26904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6195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285"/>
              </a:spcBef>
              <a:buNone/>
            </a:pPr>
            <a:r>
              <a:rPr sz="1450" b="1" spc="-10">
                <a:latin typeface="Liberation Serif"/>
                <a:ea typeface="Liberation Serif"/>
                <a:cs typeface="Liberation Serif"/>
              </a:rPr>
              <a:t>Presupuesto</a:t>
            </a:r>
            <a:endParaRPr sz="1450">
              <a:latin typeface="Liberation Serif"/>
              <a:ea typeface="Liberation Serif"/>
              <a:cs typeface="Liberation Serif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509"/>
              </a:spcBef>
              <a:buNone/>
            </a:pPr>
            <a:r>
              <a:rPr sz="4150" b="1" i="1" spc="-450">
                <a:solidFill>
                  <a:srgbClr val="1F7034"/>
                </a:solidFill>
                <a:latin typeface="Liberation Serif"/>
                <a:ea typeface="Liberation Serif"/>
                <a:cs typeface="Liberation Serif"/>
              </a:rPr>
              <a:t>10.1</a:t>
            </a:r>
            <a:r>
              <a:rPr sz="4150" b="1" i="1" spc="-450">
                <a:solidFill>
                  <a:srgbClr val="1F7034"/>
                </a:solidFill>
                <a:latin typeface="Liberation Serif"/>
                <a:ea typeface="Liberation Serif"/>
                <a:cs typeface="Liberation Serif"/>
              </a:rPr>
              <a:t>64</a:t>
            </a:r>
            <a:r>
              <a:rPr sz="4150" b="1" i="1" spc="-450">
                <a:solidFill>
                  <a:srgbClr val="1F7034"/>
                </a:solidFill>
                <a:latin typeface="Liberation Serif"/>
                <a:ea typeface="Liberation Serif"/>
                <a:cs typeface="Liberation Serif"/>
              </a:rPr>
              <a:t>€</a:t>
            </a:r>
            <a:endParaRPr sz="4150">
              <a:latin typeface="Liberation Serif"/>
              <a:ea typeface="Liberation Serif"/>
              <a:cs typeface="Liberation Serif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445"/>
              </a:spcBef>
              <a:buNone/>
            </a:pP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IVA incluido</a:t>
            </a:r>
            <a:r>
              <a:rPr sz="1100" spc="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spc="7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·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Válido</a:t>
            </a:r>
            <a:r>
              <a:rPr sz="1100" spc="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hasta </a:t>
            </a:r>
            <a:r>
              <a:rPr sz="1100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30/07/26</a:t>
            </a:r>
            <a:endParaRPr sz="1100">
              <a:latin typeface="Liberation Sans"/>
              <a:ea typeface="Liberation Sans"/>
              <a:cs typeface="Liberation Sans"/>
            </a:endParaRP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005"/>
              </a:spcBef>
              <a:buNone/>
            </a:pPr>
            <a:r>
              <a:rPr sz="1100" b="1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FORMA</a:t>
            </a:r>
            <a:r>
              <a:rPr sz="1100" b="1" spc="-3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b="1" spc="-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100" b="1" spc="-3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b="1" spc="-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PAGO:</a:t>
            </a:r>
            <a:endParaRPr sz="1100">
              <a:latin typeface="Liberation Sans"/>
              <a:ea typeface="Liberation Sans"/>
              <a:cs typeface="Liberation Sans"/>
            </a:endParaRPr>
          </a:p>
          <a:p xmlns:a="http://schemas.openxmlformats.org/drawingml/2006/main">
            <a:pPr marL="12700" marR="709930">
              <a:lnSpc>
                <a:spcPts val="2330"/>
              </a:lnSpc>
              <a:spcBef>
                <a:spcPts val="165"/>
              </a:spcBef>
              <a:buNone/>
            </a:pPr>
            <a:r>
              <a:rPr sz="1100" b="1" spc="-6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50%</a:t>
            </a:r>
            <a:r>
              <a:rPr sz="1100" b="1" spc="-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b="1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Al</a:t>
            </a:r>
            <a:r>
              <a:rPr sz="1100" b="1" spc="-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b="1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confirmar</a:t>
            </a:r>
            <a:r>
              <a:rPr sz="1100" b="1" spc="-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b="1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el</a:t>
            </a:r>
            <a:r>
              <a:rPr sz="1100" b="1" spc="-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b="1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pedido </a:t>
            </a:r>
            <a:r>
              <a:rPr sz="1100" b="1" spc="-4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30%</a:t>
            </a:r>
            <a:r>
              <a:rPr sz="1100" b="1" spc="-3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b="1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Al</a:t>
            </a:r>
            <a:r>
              <a:rPr sz="1100" b="1" spc="-3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b="1" spc="-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fijar</a:t>
            </a:r>
            <a:r>
              <a:rPr sz="1100" b="1" spc="-3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b="1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fecha</a:t>
            </a:r>
            <a:r>
              <a:rPr sz="1100" b="1" spc="-3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b="1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100" b="1" spc="-3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b="1" spc="-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inst.</a:t>
            </a:r>
            <a:endParaRPr sz="1100">
              <a:latin typeface="Liberation Sans"/>
              <a:ea typeface="Liberation Sans"/>
              <a:cs typeface="Liberation Sans"/>
            </a:endParaRPr>
          </a:p>
          <a:p xmlns:a="http://schemas.openxmlformats.org/drawingml/2006/main">
            <a:pPr marL="12700" marR="5080">
              <a:lnSpc>
                <a:spcPct val="119300"/>
              </a:lnSpc>
              <a:spcBef>
                <a:spcPts val="500"/>
              </a:spcBef>
              <a:buNone/>
            </a:pPr>
            <a:r>
              <a:rPr sz="1100" b="1" spc="-5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20%</a:t>
            </a:r>
            <a:r>
              <a:rPr sz="1100" b="1" spc="-3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b="1" spc="-6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7</a:t>
            </a:r>
            <a:r>
              <a:rPr sz="1100" b="1" spc="-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b="1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días</a:t>
            </a:r>
            <a:r>
              <a:rPr sz="1100" b="1" spc="-3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b="1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después</a:t>
            </a:r>
            <a:r>
              <a:rPr sz="1100" b="1" spc="-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b="1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100" b="1" spc="-3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b="1" spc="-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la</a:t>
            </a:r>
            <a:r>
              <a:rPr sz="1100" b="1" spc="-25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b="1" spc="-1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finalización </a:t>
            </a:r>
            <a:r>
              <a:rPr sz="1100" b="1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de</a:t>
            </a:r>
            <a:r>
              <a:rPr sz="1100" b="1" spc="-4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100" b="1" spc="-20">
                <a:solidFill>
                  <a:srgbClr val="262424"/>
                </a:solidFill>
                <a:latin typeface="Liberation Sans"/>
                <a:ea typeface="Liberation Sans"/>
                <a:cs typeface="Liberation Sans"/>
              </a:rPr>
              <a:t>obra</a:t>
            </a:r>
            <a:endParaRPr sz="1100"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78841894-3DF8-4465-856B-1D84C457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120" y="4956048"/>
            <a:ext cx="5440680" cy="22860"/>
          </a:xfrm>
          <a:custGeom xmlns:a="http://schemas.openxmlformats.org/drawingml/2006/main">
            <a:rect l="l" t="t" r="r" b="b"/>
            <a:pathLst>
              <a:path w="6305550" h="1228725">
                <a:moveTo>
                  <a:pt x="6262509" y="0"/>
                </a:moveTo>
                <a:lnTo>
                  <a:pt x="43041" y="0"/>
                </a:lnTo>
                <a:lnTo>
                  <a:pt x="36710" y="1257"/>
                </a:lnTo>
                <a:lnTo>
                  <a:pt x="6295" y="24549"/>
                </a:lnTo>
                <a:lnTo>
                  <a:pt x="0" y="43040"/>
                </a:lnTo>
                <a:lnTo>
                  <a:pt x="0" y="1179106"/>
                </a:lnTo>
                <a:lnTo>
                  <a:pt x="0" y="1185683"/>
                </a:lnTo>
                <a:lnTo>
                  <a:pt x="19183" y="1218843"/>
                </a:lnTo>
                <a:lnTo>
                  <a:pt x="43041" y="1228725"/>
                </a:lnTo>
                <a:lnTo>
                  <a:pt x="6262509" y="1228725"/>
                </a:lnTo>
                <a:lnTo>
                  <a:pt x="6295669" y="1209536"/>
                </a:lnTo>
                <a:lnTo>
                  <a:pt x="6305550" y="1185683"/>
                </a:lnTo>
                <a:lnTo>
                  <a:pt x="6305550" y="43040"/>
                </a:lnTo>
                <a:lnTo>
                  <a:pt x="6286360" y="9880"/>
                </a:lnTo>
                <a:lnTo>
                  <a:pt x="6268834" y="1257"/>
                </a:lnTo>
                <a:lnTo>
                  <a:pt x="6262509" y="0"/>
                </a:lnTo>
                <a:close/>
              </a:path>
            </a:pathLst>
          </a:custGeom>
          <a:solidFill xmlns:a="http://schemas.openxmlformats.org/drawingml/2006/main">
            <a:srgbClr val="CCEE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423C75BB-9439-4673-BA2F-41352822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102352"/>
            <a:ext cx="5897880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4605" rIns="0" bIns="0">
            <a:noAutofit/>
          </a:bodyPr>
          <a:lstStyle xmlns:a="http://schemas.openxmlformats.org/drawingml/2006/main"/>
          <a:p xmlns:a="http://schemas.openxmlformats.org/drawingml/2006/main">
            <a:pPr marL="231140" algn="ctr">
              <a:lnSpc>
                <a:spcPct val="100000"/>
              </a:lnSpc>
              <a:spcBef>
                <a:spcPts val="115"/>
              </a:spcBef>
              <a:buNone/>
            </a:pPr>
            <a:r>
              <a:rPr sz="1650" b="1">
                <a:solidFill>
                  <a:srgbClr val="007FB5"/>
                </a:solidFill>
                <a:latin typeface="Liberation Serif"/>
              </a:rPr>
              <a:t>Gracias por confiar en SmartVitra</a:t>
            </a:r>
            <a:endParaRPr sz="1450">
              <a:latin typeface="Liberation Serif"/>
              <a:ea typeface="Liberation Serif"/>
              <a:cs typeface="Liberation Serif"/>
            </a:endParaRPr>
          </a:p>
          <a:p xmlns:a="http://schemas.openxmlformats.org/drawingml/2006/main">
            <a:pPr algn="ctr"/>
            <a:r>
              <a:rPr sz="1250" i="1">
                <a:solidFill>
                  <a:srgbClr val="262424"/>
                </a:solidFill>
                <a:latin typeface="Liberation Sans"/>
              </a:rPr>
              <a:t>Nuestro compromiso es que disfrutes de una vivienda más confortable y eficiente durante muchos años.</a:t>
            </a:r>
          </a:p>
        </p:txBody>
      </p:sp>
    </p:spTree>
    <p:extLst>
      <p:ext uri="{BB962C8B-B14F-4D97-AF65-F5344CB8AC3E}">
        <p14:creationId xmlns:p14="http://schemas.microsoft.com/office/powerpoint/2010/main" val="1516293271"/>
      </p:ext>
    </p:extLst>
  </p:cSld>
</p:sld>
</file>

<file path=ppt/slides/slide8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v_s08_background">
            <a:extLst xmlns:a="http://schemas.openxmlformats.org/drawingml/2006/main">
              <a:ext uri="{FF2B5EF4-FFF2-40B4-BE49-F238E27FC236}">
                <a16:creationId xmlns:a16="http://schemas.microsoft.com/office/drawing/2014/main" id="{03CFE343-2CB9-44E6-A04B-B873DF7F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v_s08_brand">
            <a:extLst xmlns:a="http://schemas.openxmlformats.org/drawingml/2006/main">
              <a:ext uri="{FF2B5EF4-FFF2-40B4-BE49-F238E27FC236}">
                <a16:creationId xmlns:a16="http://schemas.microsoft.com/office/drawing/2014/main" id="{3D095919-2598-40E3-AF8F-DA6A6E7D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7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27B7E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 i="0">
                <a:solidFill>
                  <a:srgbClr val="27B7E3"/>
                </a:solidFill>
                <a:latin typeface="Liberation Sans"/>
                <a:ea typeface="Liberation Sans"/>
                <a:cs typeface="Liberation Sans"/>
              </a:rPr>
              <a:t>SMARTVITRA</a:t>
            </a:r>
          </a:p>
        </p:txBody>
      </p:sp>
      <p:sp>
        <p:nvSpPr>
          <p:cNvPr id="3" name="sv_s08_title">
            <a:extLst xmlns:a="http://schemas.openxmlformats.org/drawingml/2006/main">
              <a:ext uri="{FF2B5EF4-FFF2-40B4-BE49-F238E27FC236}">
                <a16:creationId xmlns:a16="http://schemas.microsoft.com/office/drawing/2014/main" id="{5E92F467-7B01-4771-93D9-B6C778CE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85800"/>
            <a:ext cx="38671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3000" b="1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Mejora exclusiva por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3000" b="1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contratación anticipada</a:t>
            </a:r>
          </a:p>
        </p:txBody>
      </p:sp>
      <p:sp>
        <p:nvSpPr>
          <p:cNvPr id="4" name="sv_s08_body">
            <a:extLst xmlns:a="http://schemas.openxmlformats.org/drawingml/2006/main">
              <a:ext uri="{FF2B5EF4-FFF2-40B4-BE49-F238E27FC236}">
                <a16:creationId xmlns:a16="http://schemas.microsoft.com/office/drawing/2014/main" id="{8AD9F24F-5229-46AE-9712-7BE84168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479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7DEE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 i="0">
                <a:solidFill>
                  <a:srgbClr val="D7DEE3"/>
                </a:solidFill>
                <a:latin typeface="Liberation Sans"/>
                <a:ea typeface="Liberation Sans"/>
                <a:cs typeface="Liberation Sans"/>
              </a:rPr>
              <a:t>Si confirmáis el proyecto en los próximos 15 días, podréis elegir una mejora adicional para completar la instalación.</a:t>
            </a:r>
          </a:p>
        </p:txBody>
      </p:sp>
      <p:sp>
        <p:nvSpPr>
          <p:cNvPr id="5" name="sv_s08_offer_box">
            <a:extLst xmlns:a="http://schemas.openxmlformats.org/drawingml/2006/main">
              <a:ext uri="{FF2B5EF4-FFF2-40B4-BE49-F238E27FC236}">
                <a16:creationId xmlns:a16="http://schemas.microsoft.com/office/drawing/2014/main" id="{88A1A6AB-B0F1-4957-87E9-D23FB3E2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124200"/>
            <a:ext cx="3714750" cy="13335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123F49"/>
          </a:solidFill>
          <a:ln xmlns:a="http://schemas.openxmlformats.org/drawingml/2006/main" w="19050">
            <a:solidFill>
              <a:srgbClr val="46B7F0"/>
            </a:solidFill>
            <a:prstDash val="solid"/>
          </a:ln>
        </p:spPr>
      </p:sp>
      <p:sp>
        <p:nvSpPr>
          <p:cNvPr id="6" name="sv_s08_offer_kicker">
            <a:extLst xmlns:a="http://schemas.openxmlformats.org/drawingml/2006/main">
              <a:ext uri="{FF2B5EF4-FFF2-40B4-BE49-F238E27FC236}">
                <a16:creationId xmlns:a16="http://schemas.microsoft.com/office/drawing/2014/main" id="{DA9735B4-B3D3-4F7D-8C84-1D5DDE29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2CB9E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2CB9E6"/>
                </a:solidFill>
                <a:latin typeface="Liberation Sans"/>
                <a:ea typeface="Liberation Sans"/>
                <a:cs typeface="Liberation Sans"/>
              </a:rPr>
              <a:t>A ELEGIR</a:t>
            </a:r>
          </a:p>
        </p:txBody>
      </p:sp>
      <p:sp>
        <p:nvSpPr>
          <p:cNvPr id="7" name="sv_s08_offer_title">
            <a:extLst xmlns:a="http://schemas.openxmlformats.org/drawingml/2006/main">
              <a:ext uri="{FF2B5EF4-FFF2-40B4-BE49-F238E27FC236}">
                <a16:creationId xmlns:a16="http://schemas.microsoft.com/office/drawing/2014/main" id="{AC67986A-A542-4E07-8694-CC8FACF8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2175" b="1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1 artículo extra</a:t>
            </a:r>
          </a:p>
        </p:txBody>
      </p:sp>
      <p:sp>
        <p:nvSpPr>
          <p:cNvPr id="8" name="sv_s08_offer_detail">
            <a:extLst xmlns:a="http://schemas.openxmlformats.org/drawingml/2006/main">
              <a:ext uri="{FF2B5EF4-FFF2-40B4-BE49-F238E27FC236}">
                <a16:creationId xmlns:a16="http://schemas.microsoft.com/office/drawing/2014/main" id="{26217B73-0D1C-4F51-8960-F82C9F06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DCE7E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 i="0">
                <a:solidFill>
                  <a:srgbClr val="DCE7EA"/>
                </a:solidFill>
                <a:latin typeface="Liberation Sans"/>
                <a:ea typeface="Liberation Sans"/>
                <a:cs typeface="Liberation Sans"/>
              </a:rPr>
              <a:t>sobre una de las ventanas incluidas en la propuesta.</a:t>
            </a:r>
          </a:p>
        </p:txBody>
      </p:sp>
      <p:sp>
        <p:nvSpPr>
          <p:cNvPr id="9" name="sv_s08_condition">
            <a:extLst xmlns:a="http://schemas.openxmlformats.org/drawingml/2006/main">
              <a:ext uri="{FF2B5EF4-FFF2-40B4-BE49-F238E27FC236}">
                <a16:creationId xmlns:a16="http://schemas.microsoft.com/office/drawing/2014/main" id="{ECC5268C-BF5C-4B18-B434-D17F73EB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85775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1">
                <a:solidFill>
                  <a:srgbClr val="AAB4B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0" i="1">
                <a:solidFill>
                  <a:srgbClr val="AAB4BA"/>
                </a:solidFill>
                <a:latin typeface="Liberation Sans"/>
                <a:ea typeface="Liberation Sans"/>
                <a:cs typeface="Liberation Sans"/>
              </a:rPr>
              <a:t>Condición: confirmación dentro de los 15 días siguientes a la presentación. Sujeto a compatibilidad técnica.</a:t>
            </a:r>
          </a:p>
        </p:txBody>
      </p:sp>
      <p:sp>
        <p:nvSpPr>
          <p:cNvPr id="10" name="sv_s08_card_1">
            <a:extLst xmlns:a="http://schemas.openxmlformats.org/drawingml/2006/main">
              <a:ext uri="{FF2B5EF4-FFF2-40B4-BE49-F238E27FC236}">
                <a16:creationId xmlns:a16="http://schemas.microsoft.com/office/drawing/2014/main" id="{66D0FE7A-183F-47CB-A121-CB93954B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914400"/>
            <a:ext cx="1724025" cy="4533900"/>
          </a:xfrm>
          <a:prstGeom xmlns:a="http://schemas.openxmlformats.org/drawingml/2006/main" prst="roundRect">
            <a:avLst>
              <a:gd name="adj" fmla="val 2762"/>
            </a:avLst>
          </a:prstGeom>
          <a:solidFill xmlns:a="http://schemas.openxmlformats.org/drawingml/2006/main">
            <a:srgbClr val="25292B"/>
          </a:solidFill>
          <a:ln xmlns:a="http://schemas.openxmlformats.org/drawingml/2006/main" w="9525">
            <a:solidFill>
              <a:srgbClr val="36464C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230f926b64f31"/>
          <a:srcRect xmlns:a="http://schemas.openxmlformats.org/drawingml/2006/main" l="10565" t="0" r="105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95825" y="1009650"/>
            <a:ext cx="1552575" cy="2952750"/>
          </a:xfrm>
          <a:prstGeom xmlns:a="http://schemas.openxmlformats.org/drawingml/2006/main" prst="rect">
            <a:avLst/>
          </a:prstGeom>
        </p:spPr>
      </p:pic>
      <p:sp>
        <p:nvSpPr>
          <p:cNvPr id="12" name="sv_s08_card_number_box_1">
            <a:extLst xmlns:a="http://schemas.openxmlformats.org/drawingml/2006/main">
              <a:ext uri="{FF2B5EF4-FFF2-40B4-BE49-F238E27FC236}">
                <a16:creationId xmlns:a16="http://schemas.microsoft.com/office/drawing/2014/main" id="{5D76383B-4452-4253-B7DE-361C2913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085850"/>
            <a:ext cx="409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v_s08_card_number_1">
            <a:extLst xmlns:a="http://schemas.openxmlformats.org/drawingml/2006/main">
              <a:ext uri="{FF2B5EF4-FFF2-40B4-BE49-F238E27FC236}">
                <a16:creationId xmlns:a16="http://schemas.microsoft.com/office/drawing/2014/main" id="{88ABB75F-DF5E-4B03-9FE1-29B6B142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104900"/>
            <a:ext cx="409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232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323B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sp>
        <p:nvSpPr>
          <p:cNvPr id="14" name="sv_s08_card_title_1">
            <a:extLst xmlns:a="http://schemas.openxmlformats.org/drawingml/2006/main">
              <a:ext uri="{FF2B5EF4-FFF2-40B4-BE49-F238E27FC236}">
                <a16:creationId xmlns:a16="http://schemas.microsoft.com/office/drawing/2014/main" id="{64288B8B-2566-41C0-BF45-1CD1D7E8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52900"/>
            <a:ext cx="14573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425" b="1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25" b="1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Motorización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425" b="1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25" b="1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de persiana</a:t>
            </a:r>
          </a:p>
        </p:txBody>
      </p:sp>
      <p:sp>
        <p:nvSpPr>
          <p:cNvPr id="15" name="sv_s08_card_accent_1">
            <a:extLst xmlns:a="http://schemas.openxmlformats.org/drawingml/2006/main">
              <a:ext uri="{FF2B5EF4-FFF2-40B4-BE49-F238E27FC236}">
                <a16:creationId xmlns:a16="http://schemas.microsoft.com/office/drawing/2014/main" id="{2577DF10-DC89-4334-973D-B891C23F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81600"/>
            <a:ext cx="1457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v_s08_card_2">
            <a:extLst xmlns:a="http://schemas.openxmlformats.org/drawingml/2006/main">
              <a:ext uri="{FF2B5EF4-FFF2-40B4-BE49-F238E27FC236}">
                <a16:creationId xmlns:a16="http://schemas.microsoft.com/office/drawing/2014/main" id="{74F33596-E58E-4F65-BB6D-206281FE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914400"/>
            <a:ext cx="1724025" cy="4533900"/>
          </a:xfrm>
          <a:prstGeom xmlns:a="http://schemas.openxmlformats.org/drawingml/2006/main" prst="roundRect">
            <a:avLst>
              <a:gd name="adj" fmla="val 2762"/>
            </a:avLst>
          </a:prstGeom>
          <a:solidFill xmlns:a="http://schemas.openxmlformats.org/drawingml/2006/main">
            <a:srgbClr val="25292B"/>
          </a:solidFill>
          <a:ln xmlns:a="http://schemas.openxmlformats.org/drawingml/2006/main" w="9525">
            <a:solidFill>
              <a:srgbClr val="36464C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7c1f5b9a747fb"/>
          <a:srcRect xmlns:a="http://schemas.openxmlformats.org/drawingml/2006/main" l="10565" t="0" r="105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53200" y="1009650"/>
            <a:ext cx="1552575" cy="2952750"/>
          </a:xfrm>
          <a:prstGeom xmlns:a="http://schemas.openxmlformats.org/drawingml/2006/main" prst="rect">
            <a:avLst/>
          </a:prstGeom>
        </p:spPr>
      </p:pic>
      <p:sp>
        <p:nvSpPr>
          <p:cNvPr id="18" name="sv_s08_card_number_box_2">
            <a:extLst xmlns:a="http://schemas.openxmlformats.org/drawingml/2006/main">
              <a:ext uri="{FF2B5EF4-FFF2-40B4-BE49-F238E27FC236}">
                <a16:creationId xmlns:a16="http://schemas.microsoft.com/office/drawing/2014/main" id="{65251931-5DA2-4928-95F5-4B1CFDCE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085850"/>
            <a:ext cx="409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v_s08_card_number_2">
            <a:extLst xmlns:a="http://schemas.openxmlformats.org/drawingml/2006/main">
              <a:ext uri="{FF2B5EF4-FFF2-40B4-BE49-F238E27FC236}">
                <a16:creationId xmlns:a16="http://schemas.microsoft.com/office/drawing/2014/main" id="{242CDDB9-FABB-42F9-A74C-48E39831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104900"/>
            <a:ext cx="409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232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323B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20" name="sv_s08_card_title_2">
            <a:extLst xmlns:a="http://schemas.openxmlformats.org/drawingml/2006/main">
              <a:ext uri="{FF2B5EF4-FFF2-40B4-BE49-F238E27FC236}">
                <a16:creationId xmlns:a16="http://schemas.microsoft.com/office/drawing/2014/main" id="{347940BA-CA7C-4154-B764-0CFE7B85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52900"/>
            <a:ext cx="14573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425" b="1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25" b="1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Mosquitera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425" b="1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25" b="1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enrollable o plisada</a:t>
            </a:r>
          </a:p>
        </p:txBody>
      </p:sp>
      <p:sp>
        <p:nvSpPr>
          <p:cNvPr id="21" name="sv_s08_card_accent_2">
            <a:extLst xmlns:a="http://schemas.openxmlformats.org/drawingml/2006/main">
              <a:ext uri="{FF2B5EF4-FFF2-40B4-BE49-F238E27FC236}">
                <a16:creationId xmlns:a16="http://schemas.microsoft.com/office/drawing/2014/main" id="{FA7B523E-40A4-4681-9EDC-5BA15910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181600"/>
            <a:ext cx="1457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v_s08_card_3">
            <a:extLst xmlns:a="http://schemas.openxmlformats.org/drawingml/2006/main">
              <a:ext uri="{FF2B5EF4-FFF2-40B4-BE49-F238E27FC236}">
                <a16:creationId xmlns:a16="http://schemas.microsoft.com/office/drawing/2014/main" id="{1F9E354D-D063-479B-8E09-050FD0E8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914400"/>
            <a:ext cx="1724025" cy="4533900"/>
          </a:xfrm>
          <a:prstGeom xmlns:a="http://schemas.openxmlformats.org/drawingml/2006/main" prst="roundRect">
            <a:avLst>
              <a:gd name="adj" fmla="val 2762"/>
            </a:avLst>
          </a:prstGeom>
          <a:solidFill xmlns:a="http://schemas.openxmlformats.org/drawingml/2006/main">
            <a:srgbClr val="25292B"/>
          </a:solidFill>
          <a:ln xmlns:a="http://schemas.openxmlformats.org/drawingml/2006/main" w="9525">
            <a:solidFill>
              <a:srgbClr val="36464C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bafb3b33c4718"/>
          <a:srcRect xmlns:a="http://schemas.openxmlformats.org/drawingml/2006/main" l="10565" t="0" r="105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0575" y="1009650"/>
            <a:ext cx="1552575" cy="2952750"/>
          </a:xfrm>
          <a:prstGeom xmlns:a="http://schemas.openxmlformats.org/drawingml/2006/main" prst="rect">
            <a:avLst/>
          </a:prstGeom>
        </p:spPr>
      </p:pic>
      <p:sp>
        <p:nvSpPr>
          <p:cNvPr id="24" name="sv_s08_card_number_box_3">
            <a:extLst xmlns:a="http://schemas.openxmlformats.org/drawingml/2006/main">
              <a:ext uri="{FF2B5EF4-FFF2-40B4-BE49-F238E27FC236}">
                <a16:creationId xmlns:a16="http://schemas.microsoft.com/office/drawing/2014/main" id="{B69902F0-C57F-4534-AA39-EB951FDA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85850"/>
            <a:ext cx="409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v_s08_card_number_3">
            <a:extLst xmlns:a="http://schemas.openxmlformats.org/drawingml/2006/main">
              <a:ext uri="{FF2B5EF4-FFF2-40B4-BE49-F238E27FC236}">
                <a16:creationId xmlns:a16="http://schemas.microsoft.com/office/drawing/2014/main" id="{DA4D90DA-2E19-40FA-9631-4B26C4C0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104900"/>
            <a:ext cx="409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232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323B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26" name="sv_s08_card_title_3">
            <a:extLst xmlns:a="http://schemas.openxmlformats.org/drawingml/2006/main">
              <a:ext uri="{FF2B5EF4-FFF2-40B4-BE49-F238E27FC236}">
                <a16:creationId xmlns:a16="http://schemas.microsoft.com/office/drawing/2014/main" id="{324D765A-986C-4802-8446-7177869D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52900"/>
            <a:ext cx="14573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425" b="1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25" b="1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Forro de peana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425" b="1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25" b="1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con chapa de aluminio</a:t>
            </a:r>
          </a:p>
        </p:txBody>
      </p:sp>
      <p:sp>
        <p:nvSpPr>
          <p:cNvPr id="27" name="sv_s08_card_accent_3">
            <a:extLst xmlns:a="http://schemas.openxmlformats.org/drawingml/2006/main">
              <a:ext uri="{FF2B5EF4-FFF2-40B4-BE49-F238E27FC236}">
                <a16:creationId xmlns:a16="http://schemas.microsoft.com/office/drawing/2014/main" id="{E5E0B1C5-A5F7-4B38-9EF2-7C08821F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81600"/>
            <a:ext cx="1457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v_s08_card_4">
            <a:extLst xmlns:a="http://schemas.openxmlformats.org/drawingml/2006/main">
              <a:ext uri="{FF2B5EF4-FFF2-40B4-BE49-F238E27FC236}">
                <a16:creationId xmlns:a16="http://schemas.microsoft.com/office/drawing/2014/main" id="{BFA86682-389D-4241-BE7A-641DC021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914400"/>
            <a:ext cx="1724025" cy="4533900"/>
          </a:xfrm>
          <a:prstGeom xmlns:a="http://schemas.openxmlformats.org/drawingml/2006/main" prst="roundRect">
            <a:avLst>
              <a:gd name="adj" fmla="val 2762"/>
            </a:avLst>
          </a:prstGeom>
          <a:solidFill xmlns:a="http://schemas.openxmlformats.org/drawingml/2006/main">
            <a:srgbClr val="25292B"/>
          </a:solidFill>
          <a:ln xmlns:a="http://schemas.openxmlformats.org/drawingml/2006/main" w="9525">
            <a:solidFill>
              <a:srgbClr val="36464C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c7a368136444f"/>
          <a:srcRect xmlns:a="http://schemas.openxmlformats.org/drawingml/2006/main" l="10565" t="0" r="105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67950" y="1009650"/>
            <a:ext cx="1552575" cy="2952750"/>
          </a:xfrm>
          <a:prstGeom xmlns:a="http://schemas.openxmlformats.org/drawingml/2006/main" prst="rect">
            <a:avLst/>
          </a:prstGeom>
        </p:spPr>
      </p:pic>
      <p:sp>
        <p:nvSpPr>
          <p:cNvPr id="30" name="sv_s08_card_number_box_4">
            <a:extLst xmlns:a="http://schemas.openxmlformats.org/drawingml/2006/main">
              <a:ext uri="{FF2B5EF4-FFF2-40B4-BE49-F238E27FC236}">
                <a16:creationId xmlns:a16="http://schemas.microsoft.com/office/drawing/2014/main" id="{CA77F138-3A04-43D5-A566-B5E0625B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1085850"/>
            <a:ext cx="409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v_s08_card_number_4">
            <a:extLst xmlns:a="http://schemas.openxmlformats.org/drawingml/2006/main">
              <a:ext uri="{FF2B5EF4-FFF2-40B4-BE49-F238E27FC236}">
                <a16:creationId xmlns:a16="http://schemas.microsoft.com/office/drawing/2014/main" id="{63DD2002-2228-4CFE-969B-26A7AD6D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1104900"/>
            <a:ext cx="409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232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323B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32" name="sv_s08_card_title_4">
            <a:extLst xmlns:a="http://schemas.openxmlformats.org/drawingml/2006/main">
              <a:ext uri="{FF2B5EF4-FFF2-40B4-BE49-F238E27FC236}">
                <a16:creationId xmlns:a16="http://schemas.microsoft.com/office/drawing/2014/main" id="{9979D7A4-8B28-470B-AA10-196240BD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152900"/>
            <a:ext cx="14573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425" b="1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25" b="1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Otras mejoras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425" b="1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25" b="1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a consultar</a:t>
            </a:r>
          </a:p>
        </p:txBody>
      </p:sp>
      <p:sp>
        <p:nvSpPr>
          <p:cNvPr id="33" name="sv_s08_card_accent_4">
            <a:extLst xmlns:a="http://schemas.openxmlformats.org/drawingml/2006/main">
              <a:ext uri="{FF2B5EF4-FFF2-40B4-BE49-F238E27FC236}">
                <a16:creationId xmlns:a16="http://schemas.microsoft.com/office/drawing/2014/main" id="{5C6A5F1D-1A63-4ADC-8376-BBCE2269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5181600"/>
            <a:ext cx="1457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B7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v_s08_footer_line">
            <a:extLst xmlns:a="http://schemas.openxmlformats.org/drawingml/2006/main">
              <a:ext uri="{FF2B5EF4-FFF2-40B4-BE49-F238E27FC236}">
                <a16:creationId xmlns:a16="http://schemas.microsoft.com/office/drawing/2014/main" id="{4181ED3B-C4B0-40B6-96C3-FA7583E3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81750"/>
            <a:ext cx="1150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D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v_s08_footer">
            <a:extLst xmlns:a="http://schemas.openxmlformats.org/drawingml/2006/main">
              <a:ext uri="{FF2B5EF4-FFF2-40B4-BE49-F238E27FC236}">
                <a16:creationId xmlns:a16="http://schemas.microsoft.com/office/drawing/2014/main" id="{14E2B3A5-2CFC-439A-BBF2-094A13A7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515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D1E2E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D1E2E8"/>
                </a:solidFill>
                <a:latin typeface="Liberation Sans"/>
                <a:ea typeface="Liberation Sans"/>
                <a:cs typeface="Liberation Sans"/>
              </a:rPr>
              <a:t>Instalación completa · Acabado cuidado · Mejora integrada en la vivienda</a:t>
            </a:r>
          </a:p>
        </p:txBody>
      </p:sp>
    </p:spTree>
    <p:extLst>
      <p:ext uri="{BB962C8B-B14F-4D97-AF65-F5344CB8AC3E}">
        <p14:creationId xmlns:p14="http://schemas.microsoft.com/office/powerpoint/2010/main" val="15162932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aac2bcace47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499" y="0"/>
            <a:ext cx="10287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7E74A215-A424-901C-FBC0-CA8075D5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4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6B981025-B4CF-44D0-26F3-AB9D9E54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499" y="0"/>
            <a:ext cx="9524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67933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d4d4e8e7444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" y="0"/>
            <a:ext cx="115062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D3ACDF8E-8EB5-8DF1-07F3-4C2C0FBA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342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19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F05489AF-2DDA-0C3F-ECCD-A49C0AE9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6172200"/>
            <a:ext cx="342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19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902650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7EBC"/>
      </a:hlink>
      <a:folHlink>
        <a:srgbClr val="800080"/>
      </a:folHlink>
    </a:clrScheme>
    <a:fontScheme name="Office">
      <a:majorFont>
        <a:latin typeface="Liberatio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Liberation Serif"/>
        <a:font script="Hebr" typeface="Liberation Serif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Liberation Serif"/>
        <a:font script="Uigh" typeface="Microsoft Uighur"/>
      </a:majorFont>
      <a:minorFont>
        <a:latin typeface="Liberatio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Liberation Sans"/>
        <a:font script="Hebr" typeface="Liberation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Liberation Sans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2026-09-22T13:30:09.8090000Z</dcterms:created>
  <dcterms:modified xsi:type="dcterms:W3CDTF">2026-09-22T13:30:09.8090000Z</dcterms:modified>
</coreProperties>
</file>