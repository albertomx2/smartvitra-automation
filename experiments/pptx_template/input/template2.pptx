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A"/>
    <a:srgbClr val="D5D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4"/>
    <p:restoredTop sz="94687"/>
  </p:normalViewPr>
  <p:slideViewPr>
    <p:cSldViewPr snapToGrid="0">
      <p:cViewPr>
        <p:scale>
          <a:sx n="117" d="100"/>
          <a:sy n="117" d="100"/>
        </p:scale>
        <p:origin x="20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114C3-2E7E-77E4-C998-ECC97F3FB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8BF68B-54B0-3C14-0E48-6125DD8C4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8A152F-3423-81C8-667E-9CCF68F2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688749-1AEB-9962-619F-0FB0E267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3D54FB-FF61-F64A-4628-043B51E4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59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73234-8EC3-0B51-01B0-D122BF97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7053C-65EA-4DF5-994B-ED3AFD751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EB2B8-ECAD-6C1C-64B2-15E5AF5A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3CE272-5D9A-DB0C-0F5A-3602C9C9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31122E-4C55-B17C-5666-E3FDC024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71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8E9AD-70B5-9E56-E61E-A2F34473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334660-278C-F562-1153-2800A39B2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03C86-1E2F-3F0F-7F2F-B03556FB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81520B-CB3F-A204-D6B4-E3B9CDAB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A0B966-8390-0DBB-87DE-5DD66180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07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20DFE-AA72-ECF3-64ED-F21613F9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77EFD-15C7-9DC3-52A7-B3831E9A6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DDDE58-B589-4D3C-1BC6-DEDEDE615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4727B4-459E-9EEC-4A2E-CFF99C67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A0347-DF5F-D7D5-CFF3-6E08FA86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AB434-9E27-661F-6697-2F85C8B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56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0B5B2-BC26-347D-40A6-EFDA00B4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0843C-26F6-FD6C-4DFB-A96B5E162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47C8C4-D132-2B27-CA4A-4BB1A4F37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2289A7-F399-3048-B2A6-6CD149567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D489AB-D783-6F29-38FE-546EBE18F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05E9C5F-B666-731B-4495-942BAA3F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81B1AB-9251-2DB5-F4B9-395383FB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11358C-122B-31C2-09FE-C6C495C3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27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9ABE5-BA4A-B7B3-6BAD-97DD9613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9E30FB-DFBB-600D-9417-602859CC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8CF014-9171-A59E-608F-BDB95664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AE7D77-2955-6268-C759-CC6C7352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41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C1C577-AA4A-044B-11D8-5BB38DEA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F04E08-42F1-0D43-CC87-9B87D718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C57882-E022-199D-5E62-204F3D95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72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7A399-34F4-655F-303F-E0558BC20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2E6EE-64FD-61D6-FB28-CBFBE9E2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61674A-F1B9-652D-B6AD-B1F4E465F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626963-A83E-7F0D-9B26-F45A9F6D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49E575-11D6-A470-2D30-72EEEA55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75F130-0820-46FE-B4B3-1A45D005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68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3FCEE-DD16-1E96-5B6B-D2D938BE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AE31A0-1FF5-573E-2CE6-E730D9B44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F6698-9AD6-7137-1CC7-84E2A8D3A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A26D77-032B-90BF-C6FE-4B029AE4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0D9B18-357B-BE4A-B6E7-9348BEB2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7E1E47-CF98-2837-CFC0-3D3EA2EB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273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6D210-9301-69E3-034A-577B69983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586AC6-28A8-4A75-0B77-44518770E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1B8FC5-A820-95DD-7F6F-8ED4004F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55D5AF-E4B7-AF47-1F10-AD44F0B6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9A7BCA-7B58-B0B3-FA77-F419476B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160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19CD5C-AEC8-25EB-16B1-F303D1419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9C5CE9-4FCE-23A0-D2B4-06267A468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F4AA5-9B83-40E2-2F35-41656043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9758F-B037-E933-03ED-8B243270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B0B534-1275-5CED-3CD7-988AD668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54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FAADF5-BD6D-7B7C-369E-FCA45842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2284F3-93FF-FB13-4B51-5787A619F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E2E8A4-03A5-7CB2-21B0-FD307E36C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DCA949-AFE0-B3A0-0F12-3679E8BA3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012632-FD53-867D-E8E3-65406201E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375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hyperlink" Target="https://share.google/rde5o6KyM0MBbm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v_cover_logo">
            <a:extLst>
              <a:ext uri="{FF2B5EF4-FFF2-40B4-BE49-F238E27FC236}">
                <a16:creationId xmlns:a16="http://schemas.microsoft.com/office/drawing/2014/main" id="{EC0C6DBB-20CB-8CF1-D6C7-4807E6B5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799" y="1006339"/>
            <a:ext cx="9662647" cy="3857979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7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_s02_title">
            <a:extLst>
              <a:ext uri="{FF2B5EF4-FFF2-40B4-BE49-F238E27FC236}">
                <a16:creationId xmlns:a16="http://schemas.microsoft.com/office/drawing/2014/main" id="{82F41F8E-C8C5-62EC-2673-33391A739BE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rmAutofit/>
          </a:bodyPr>
          <a:lstStyle/>
          <a:p>
            <a:r>
              <a:rPr lang="es-ES" sz="3600"/>
              <a:t>¿Cómo esta tu vivienda?</a:t>
            </a:r>
          </a:p>
        </p:txBody>
      </p:sp>
      <p:sp>
        <p:nvSpPr>
          <p:cNvPr id="3" name="sv_s02_subtitle">
            <a:extLst>
              <a:ext uri="{FF2B5EF4-FFF2-40B4-BE49-F238E27FC236}">
                <a16:creationId xmlns:a16="http://schemas.microsoft.com/office/drawing/2014/main" id="{748EF196-EC08-0060-8733-50F5DBF97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869" y="1538242"/>
            <a:ext cx="5257800" cy="456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/>
              <a:t>Sabemos lo que estas viviendo cada dia en tu casa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710F90-2527-C737-C6A6-848E2C251942}"/>
              </a:ext>
            </a:extLst>
          </p:cNvPr>
          <p:cNvSpPr/>
          <p:nvPr/>
        </p:nvSpPr>
        <p:spPr>
          <a:xfrm>
            <a:off x="1010194" y="2159725"/>
            <a:ext cx="4450080" cy="1166949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E90738-1E98-E818-8564-15C6AE3D3102}"/>
              </a:ext>
            </a:extLst>
          </p:cNvPr>
          <p:cNvSpPr/>
          <p:nvPr/>
        </p:nvSpPr>
        <p:spPr>
          <a:xfrm>
            <a:off x="1010194" y="2159725"/>
            <a:ext cx="45719" cy="1166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4C5F58-71B2-3CC3-4198-FFA04D9123FB}"/>
              </a:ext>
            </a:extLst>
          </p:cNvPr>
          <p:cNvSpPr/>
          <p:nvPr/>
        </p:nvSpPr>
        <p:spPr>
          <a:xfrm>
            <a:off x="1010194" y="4088675"/>
            <a:ext cx="4450080" cy="1550126"/>
          </a:xfrm>
          <a:prstGeom prst="rect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003938-90DF-F7B5-1CE0-9200FF4D31C4}"/>
              </a:ext>
            </a:extLst>
          </p:cNvPr>
          <p:cNvSpPr/>
          <p:nvPr/>
        </p:nvSpPr>
        <p:spPr>
          <a:xfrm>
            <a:off x="1010194" y="4088675"/>
            <a:ext cx="69668" cy="15501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4D3EF0-9FEB-F7F1-1C2C-B15286EA94B4}"/>
              </a:ext>
            </a:extLst>
          </p:cNvPr>
          <p:cNvSpPr/>
          <p:nvPr/>
        </p:nvSpPr>
        <p:spPr>
          <a:xfrm>
            <a:off x="6257108" y="2159725"/>
            <a:ext cx="4966063" cy="1166949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FE22AA-7955-D9E8-2DB5-1CAD7F10AA9D}"/>
              </a:ext>
            </a:extLst>
          </p:cNvPr>
          <p:cNvSpPr/>
          <p:nvPr/>
        </p:nvSpPr>
        <p:spPr>
          <a:xfrm>
            <a:off x="6257109" y="2159725"/>
            <a:ext cx="45719" cy="1166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1B398C6-A533-AFE2-B989-9B582C3E05AA}"/>
              </a:ext>
            </a:extLst>
          </p:cNvPr>
          <p:cNvSpPr/>
          <p:nvPr/>
        </p:nvSpPr>
        <p:spPr>
          <a:xfrm>
            <a:off x="6257109" y="4088675"/>
            <a:ext cx="4966062" cy="1550126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762E3B-62B8-01DE-18F6-FCA9B87A7344}"/>
              </a:ext>
            </a:extLst>
          </p:cNvPr>
          <p:cNvSpPr/>
          <p:nvPr/>
        </p:nvSpPr>
        <p:spPr>
          <a:xfrm>
            <a:off x="6257109" y="4088675"/>
            <a:ext cx="69668" cy="1550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sv_s02_need_1_title">
            <a:extLst>
              <a:ext uri="{FF2B5EF4-FFF2-40B4-BE49-F238E27FC236}">
                <a16:creationId xmlns:a16="http://schemas.microsoft.com/office/drawing/2014/main" id="{8E3F6FC9-1775-A56C-665A-97344DCD3A0B}"/>
              </a:ext>
            </a:extLst>
          </p:cNvPr>
          <p:cNvSpPr txBox="1"/>
          <p:nvPr/>
        </p:nvSpPr>
        <p:spPr>
          <a:xfrm>
            <a:off x="1079862" y="2255520"/>
            <a:ext cx="2984407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Frio en invierno, calor en verano</a:t>
            </a:r>
          </a:p>
        </p:txBody>
      </p:sp>
      <p:sp>
        <p:nvSpPr>
          <p:cNvPr id="13" name="sv_s02_need_1_body">
            <a:extLst>
              <a:ext uri="{FF2B5EF4-FFF2-40B4-BE49-F238E27FC236}">
                <a16:creationId xmlns:a16="http://schemas.microsoft.com/office/drawing/2014/main" id="{0801A68B-555E-BC5E-11AB-8CF5FB8A4AD8}"/>
              </a:ext>
            </a:extLst>
          </p:cNvPr>
          <p:cNvSpPr txBox="1"/>
          <p:nvPr/>
        </p:nvSpPr>
        <p:spPr>
          <a:xfrm>
            <a:off x="1079862" y="2628742"/>
            <a:ext cx="4040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Las corrientes y la falta de aislamiento hacen que nunca estés a gusto en tu casa</a:t>
            </a:r>
          </a:p>
        </p:txBody>
      </p:sp>
      <p:sp>
        <p:nvSpPr>
          <p:cNvPr id="16" name="sv_s02_need_2_body">
            <a:extLst>
              <a:ext uri="{FF2B5EF4-FFF2-40B4-BE49-F238E27FC236}">
                <a16:creationId xmlns:a16="http://schemas.microsoft.com/office/drawing/2014/main" id="{7767FA8A-461D-3454-2420-12830602C2E7}"/>
              </a:ext>
            </a:extLst>
          </p:cNvPr>
          <p:cNvSpPr txBox="1"/>
          <p:nvPr/>
        </p:nvSpPr>
        <p:spPr>
          <a:xfrm>
            <a:off x="6461759" y="2673178"/>
            <a:ext cx="4493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En este caso, la molestia repercute a Mercedes, y por tanto nos tenemos que encargar de anular eso</a:t>
            </a:r>
          </a:p>
        </p:txBody>
      </p:sp>
      <p:sp>
        <p:nvSpPr>
          <p:cNvPr id="18" name="sv_s02_need_2_title">
            <a:extLst>
              <a:ext uri="{FF2B5EF4-FFF2-40B4-BE49-F238E27FC236}">
                <a16:creationId xmlns:a16="http://schemas.microsoft.com/office/drawing/2014/main" id="{B98160C5-B66D-BC26-666B-6B8991538AD8}"/>
              </a:ext>
            </a:extLst>
          </p:cNvPr>
          <p:cNvSpPr txBox="1"/>
          <p:nvPr/>
        </p:nvSpPr>
        <p:spPr>
          <a:xfrm>
            <a:off x="6461760" y="2294354"/>
            <a:ext cx="4698466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El ruido provocado por los materiales de bajo coste</a:t>
            </a:r>
          </a:p>
        </p:txBody>
      </p:sp>
      <p:sp>
        <p:nvSpPr>
          <p:cNvPr id="19" name="sv_s02_need_3_title">
            <a:extLst>
              <a:ext uri="{FF2B5EF4-FFF2-40B4-BE49-F238E27FC236}">
                <a16:creationId xmlns:a16="http://schemas.microsoft.com/office/drawing/2014/main" id="{694E9676-0EAB-5781-E7F2-7A045941BBA7}"/>
              </a:ext>
            </a:extLst>
          </p:cNvPr>
          <p:cNvSpPr txBox="1"/>
          <p:nvPr/>
        </p:nvSpPr>
        <p:spPr>
          <a:xfrm>
            <a:off x="1079862" y="4162343"/>
            <a:ext cx="2470741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Facturas demasiado altas</a:t>
            </a:r>
          </a:p>
        </p:txBody>
      </p:sp>
      <p:sp>
        <p:nvSpPr>
          <p:cNvPr id="21" name="sv_s02_need_3_body">
            <a:extLst>
              <a:ext uri="{FF2B5EF4-FFF2-40B4-BE49-F238E27FC236}">
                <a16:creationId xmlns:a16="http://schemas.microsoft.com/office/drawing/2014/main" id="{12524548-F213-610D-DADB-E69DBE100A90}"/>
              </a:ext>
            </a:extLst>
          </p:cNvPr>
          <p:cNvSpPr txBox="1"/>
          <p:nvPr/>
        </p:nvSpPr>
        <p:spPr>
          <a:xfrm>
            <a:off x="1140822" y="4459107"/>
            <a:ext cx="41888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Tu calefacción y aire acondicionado trabajan el doble por culpa de ventanas ineficientes. A pesar de no tener un consumo disparado, en los meses fuertes, reducirás ese gasto extra tanto en gas o luz, pues al final, lo que tratamos es de evitar</a:t>
            </a:r>
          </a:p>
        </p:txBody>
      </p:sp>
      <p:sp>
        <p:nvSpPr>
          <p:cNvPr id="22" name="sv_s02_need_4_title">
            <a:extLst>
              <a:ext uri="{FF2B5EF4-FFF2-40B4-BE49-F238E27FC236}">
                <a16:creationId xmlns:a16="http://schemas.microsoft.com/office/drawing/2014/main" id="{B8ABC6E6-F8CC-E489-1E80-B8382FF483CB}"/>
              </a:ext>
            </a:extLst>
          </p:cNvPr>
          <p:cNvSpPr txBox="1"/>
          <p:nvPr/>
        </p:nvSpPr>
        <p:spPr>
          <a:xfrm>
            <a:off x="6359337" y="4162343"/>
            <a:ext cx="1909497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Incomodidad diaria</a:t>
            </a:r>
          </a:p>
        </p:txBody>
      </p:sp>
      <p:sp>
        <p:nvSpPr>
          <p:cNvPr id="24" name="sv_s02_need_4_body">
            <a:extLst>
              <a:ext uri="{FF2B5EF4-FFF2-40B4-BE49-F238E27FC236}">
                <a16:creationId xmlns:a16="http://schemas.microsoft.com/office/drawing/2014/main" id="{0BD7A985-2F25-2E46-F3CC-C56857586C32}"/>
              </a:ext>
            </a:extLst>
          </p:cNvPr>
          <p:cNvSpPr txBox="1"/>
          <p:nvPr/>
        </p:nvSpPr>
        <p:spPr>
          <a:xfrm>
            <a:off x="6348357" y="4602128"/>
            <a:ext cx="4833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/>
              <a:t>Ruido, frío, corrientes de aire y calor. En general una sensación constante de que algo falla.</a:t>
            </a:r>
          </a:p>
        </p:txBody>
      </p:sp>
    </p:spTree>
    <p:extLst>
      <p:ext uri="{BB962C8B-B14F-4D97-AF65-F5344CB8AC3E}">
        <p14:creationId xmlns:p14="http://schemas.microsoft.com/office/powerpoint/2010/main" val="411077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3_title">
            <a:extLst>
              <a:ext uri="{FF2B5EF4-FFF2-40B4-BE49-F238E27FC236}">
                <a16:creationId xmlns:a16="http://schemas.microsoft.com/office/drawing/2014/main" id="{DAECF615-C730-5E18-AF11-95FC0B63959B}"/>
              </a:ext>
            </a:extLst>
          </p:cNvPr>
          <p:cNvSpPr txBox="1">
            <a:spLocks/>
          </p:cNvSpPr>
          <p:nvPr/>
        </p:nvSpPr>
        <p:spPr>
          <a:xfrm>
            <a:off x="838200" y="236900"/>
            <a:ext cx="1051560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600"/>
              <a:t>¿Cómo esta tu vivienda?</a:t>
            </a:r>
          </a:p>
        </p:txBody>
      </p:sp>
      <p:sp>
        <p:nvSpPr>
          <p:cNvPr id="5" name="sv_s03_subtitle">
            <a:extLst>
              <a:ext uri="{FF2B5EF4-FFF2-40B4-BE49-F238E27FC236}">
                <a16:creationId xmlns:a16="http://schemas.microsoft.com/office/drawing/2014/main" id="{90881C54-7CA4-225E-3174-63897AA25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412" y="1407614"/>
            <a:ext cx="5937068" cy="45602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sz="1600"/>
              <a:t>Cada año que pasa sin cambiar las ventanas, el problema se agraba</a:t>
            </a:r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F7C5B123-33D0-1AB0-5D56-E73BBC487E21}"/>
              </a:ext>
            </a:extLst>
          </p:cNvPr>
          <p:cNvSpPr/>
          <p:nvPr/>
        </p:nvSpPr>
        <p:spPr>
          <a:xfrm>
            <a:off x="951413" y="1863635"/>
            <a:ext cx="5144588" cy="677954"/>
          </a:xfrm>
          <a:prstGeom prst="rightArrow">
            <a:avLst/>
          </a:prstGeom>
          <a:solidFill>
            <a:srgbClr val="FFFF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sv_s03_consequence_3_body">
            <a:extLst>
              <a:ext uri="{FF2B5EF4-FFF2-40B4-BE49-F238E27FC236}">
                <a16:creationId xmlns:a16="http://schemas.microsoft.com/office/drawing/2014/main" id="{A4542BB0-C396-EAB5-A12E-697B61C287A2}"/>
              </a:ext>
            </a:extLst>
          </p:cNvPr>
          <p:cNvSpPr txBox="1"/>
          <p:nvPr/>
        </p:nvSpPr>
        <p:spPr>
          <a:xfrm>
            <a:off x="951413" y="4927166"/>
            <a:ext cx="514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Una vivienda con ventanas antiguas e ineficientes vale menos en el mercado.</a:t>
            </a:r>
          </a:p>
        </p:txBody>
      </p:sp>
      <p:sp>
        <p:nvSpPr>
          <p:cNvPr id="8" name="sv_s03_consequence_3_title">
            <a:extLst>
              <a:ext uri="{FF2B5EF4-FFF2-40B4-BE49-F238E27FC236}">
                <a16:creationId xmlns:a16="http://schemas.microsoft.com/office/drawing/2014/main" id="{D8709275-6F30-69E3-CBD4-5DF65D689C83}"/>
              </a:ext>
            </a:extLst>
          </p:cNvPr>
          <p:cNvSpPr txBox="1"/>
          <p:nvPr/>
        </p:nvSpPr>
        <p:spPr>
          <a:xfrm>
            <a:off x="951412" y="4542866"/>
            <a:ext cx="2244974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Tu vivienda pierde valor</a:t>
            </a:r>
          </a:p>
        </p:txBody>
      </p:sp>
      <p:sp>
        <p:nvSpPr>
          <p:cNvPr id="12" name="Flecha derecha 11">
            <a:extLst>
              <a:ext uri="{FF2B5EF4-FFF2-40B4-BE49-F238E27FC236}">
                <a16:creationId xmlns:a16="http://schemas.microsoft.com/office/drawing/2014/main" id="{EF3B3057-2D84-5A69-035D-A612FC73085C}"/>
              </a:ext>
            </a:extLst>
          </p:cNvPr>
          <p:cNvSpPr/>
          <p:nvPr/>
        </p:nvSpPr>
        <p:spPr>
          <a:xfrm>
            <a:off x="951413" y="3852838"/>
            <a:ext cx="5144588" cy="6779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sv_s03_consequence_1_body">
            <a:extLst>
              <a:ext uri="{FF2B5EF4-FFF2-40B4-BE49-F238E27FC236}">
                <a16:creationId xmlns:a16="http://schemas.microsoft.com/office/drawing/2014/main" id="{76DB9598-B154-2CD7-C67B-9E304D66E399}"/>
              </a:ext>
            </a:extLst>
          </p:cNvPr>
          <p:cNvSpPr txBox="1"/>
          <p:nvPr/>
        </p:nvSpPr>
        <p:spPr>
          <a:xfrm>
            <a:off x="901828" y="2935603"/>
            <a:ext cx="514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Seguirás sufriendo temperaturas extremas dentro de casa, sin poder remediarlo.</a:t>
            </a:r>
          </a:p>
        </p:txBody>
      </p:sp>
      <p:sp>
        <p:nvSpPr>
          <p:cNvPr id="14" name="sv_s03_consequence_1_title">
            <a:extLst>
              <a:ext uri="{FF2B5EF4-FFF2-40B4-BE49-F238E27FC236}">
                <a16:creationId xmlns:a16="http://schemas.microsoft.com/office/drawing/2014/main" id="{765E2DBC-F214-31EF-BC7C-6BBD4F337456}"/>
              </a:ext>
            </a:extLst>
          </p:cNvPr>
          <p:cNvSpPr txBox="1"/>
          <p:nvPr/>
        </p:nvSpPr>
        <p:spPr>
          <a:xfrm>
            <a:off x="901827" y="2551544"/>
            <a:ext cx="3763081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Más inviernos y veranos de incomodidad</a:t>
            </a:r>
          </a:p>
        </p:txBody>
      </p:sp>
      <p:sp>
        <p:nvSpPr>
          <p:cNvPr id="16" name="sv_s03_consequence_2_body">
            <a:extLst>
              <a:ext uri="{FF2B5EF4-FFF2-40B4-BE49-F238E27FC236}">
                <a16:creationId xmlns:a16="http://schemas.microsoft.com/office/drawing/2014/main" id="{3DC0B0BF-5753-CF75-ABC1-0A0FB36CCEFC}"/>
              </a:ext>
            </a:extLst>
          </p:cNvPr>
          <p:cNvSpPr txBox="1"/>
          <p:nvPr/>
        </p:nvSpPr>
        <p:spPr>
          <a:xfrm>
            <a:off x="6668591" y="3242959"/>
            <a:ext cx="5144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Una vivienda con ventanas antiguas e ineficientes vale menos en el mercado.</a:t>
            </a:r>
          </a:p>
          <a:p>
            <a:r>
              <a:rPr lang="es-ES" sz="1600" b="1"/>
              <a:t>(SOBRE TODO EL FRIO)</a:t>
            </a:r>
          </a:p>
        </p:txBody>
      </p:sp>
      <p:sp>
        <p:nvSpPr>
          <p:cNvPr id="17" name="sv_s03_consequence_2_title">
            <a:extLst>
              <a:ext uri="{FF2B5EF4-FFF2-40B4-BE49-F238E27FC236}">
                <a16:creationId xmlns:a16="http://schemas.microsoft.com/office/drawing/2014/main" id="{6399DB68-A42F-180E-4A06-C75E34F75345}"/>
              </a:ext>
            </a:extLst>
          </p:cNvPr>
          <p:cNvSpPr txBox="1"/>
          <p:nvPr/>
        </p:nvSpPr>
        <p:spPr>
          <a:xfrm>
            <a:off x="6668590" y="2858659"/>
            <a:ext cx="4314964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Seguirás preocupadx por el gasto y el malestar.</a:t>
            </a:r>
          </a:p>
        </p:txBody>
      </p:sp>
      <p:sp>
        <p:nvSpPr>
          <p:cNvPr id="18" name="Flecha derecha 17">
            <a:extLst>
              <a:ext uri="{FF2B5EF4-FFF2-40B4-BE49-F238E27FC236}">
                <a16:creationId xmlns:a16="http://schemas.microsoft.com/office/drawing/2014/main" id="{44E6FFDA-DF06-9740-6D74-25F581D6B5F9}"/>
              </a:ext>
            </a:extLst>
          </p:cNvPr>
          <p:cNvSpPr/>
          <p:nvPr/>
        </p:nvSpPr>
        <p:spPr>
          <a:xfrm>
            <a:off x="6718175" y="2187553"/>
            <a:ext cx="5144588" cy="67795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sv_s03_consequence_4_body">
            <a:extLst>
              <a:ext uri="{FF2B5EF4-FFF2-40B4-BE49-F238E27FC236}">
                <a16:creationId xmlns:a16="http://schemas.microsoft.com/office/drawing/2014/main" id="{EE8B72AE-44BC-79F8-9EA2-DA74D2AD195C}"/>
              </a:ext>
            </a:extLst>
          </p:cNvPr>
          <p:cNvSpPr txBox="1"/>
          <p:nvPr/>
        </p:nvSpPr>
        <p:spPr>
          <a:xfrm>
            <a:off x="6718177" y="5120063"/>
            <a:ext cx="514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Los materiales y la mano de obra encarecen con el tiempo. </a:t>
            </a:r>
            <a:r>
              <a:rPr lang="es-ES" sz="1400" b="1">
                <a:solidFill>
                  <a:srgbClr val="FF0000"/>
                </a:solidFill>
              </a:rPr>
              <a:t>ESPERAR SALE MUCHO MÁS CARO.</a:t>
            </a:r>
            <a:endParaRPr lang="es-ES" sz="1400">
              <a:solidFill>
                <a:srgbClr val="FF0000"/>
              </a:solidFill>
            </a:endParaRPr>
          </a:p>
        </p:txBody>
      </p:sp>
      <p:sp>
        <p:nvSpPr>
          <p:cNvPr id="20" name="sv_s03_consequence_4_title">
            <a:extLst>
              <a:ext uri="{FF2B5EF4-FFF2-40B4-BE49-F238E27FC236}">
                <a16:creationId xmlns:a16="http://schemas.microsoft.com/office/drawing/2014/main" id="{E9452DDF-EAA4-EB3C-A712-42D9A57D18D4}"/>
              </a:ext>
            </a:extLst>
          </p:cNvPr>
          <p:cNvSpPr txBox="1"/>
          <p:nvPr/>
        </p:nvSpPr>
        <p:spPr>
          <a:xfrm>
            <a:off x="6718176" y="4735763"/>
            <a:ext cx="3061416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El coste de la solución solo sube</a:t>
            </a:r>
          </a:p>
        </p:txBody>
      </p:sp>
      <p:sp>
        <p:nvSpPr>
          <p:cNvPr id="21" name="Flecha derecha 20">
            <a:extLst>
              <a:ext uri="{FF2B5EF4-FFF2-40B4-BE49-F238E27FC236}">
                <a16:creationId xmlns:a16="http://schemas.microsoft.com/office/drawing/2014/main" id="{8FF868B5-C264-BA32-3294-2B37053A5335}"/>
              </a:ext>
            </a:extLst>
          </p:cNvPr>
          <p:cNvSpPr/>
          <p:nvPr/>
        </p:nvSpPr>
        <p:spPr>
          <a:xfrm>
            <a:off x="6718177" y="4045735"/>
            <a:ext cx="5144588" cy="67795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272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4_title">
            <a:extLst>
              <a:ext uri="{FF2B5EF4-FFF2-40B4-BE49-F238E27FC236}">
                <a16:creationId xmlns:a16="http://schemas.microsoft.com/office/drawing/2014/main" id="{E96D8B2A-0BAE-37C7-DB1A-1C0623E9B73D}"/>
              </a:ext>
            </a:extLst>
          </p:cNvPr>
          <p:cNvSpPr txBox="1">
            <a:spLocks/>
          </p:cNvSpPr>
          <p:nvPr/>
        </p:nvSpPr>
        <p:spPr>
          <a:xfrm>
            <a:off x="496677" y="2484341"/>
            <a:ext cx="594819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¿Este es el problema realmente en tu vivienda?</a:t>
            </a:r>
          </a:p>
        </p:txBody>
      </p:sp>
      <p:pic>
        <p:nvPicPr>
          <p:cNvPr id="6" name="sv_s04_problem_photo">
            <a:extLst>
              <a:ext uri="{FF2B5EF4-FFF2-40B4-BE49-F238E27FC236}">
                <a16:creationId xmlns:a16="http://schemas.microsoft.com/office/drawing/2014/main" id="{2AA77C86-BDDB-A56D-0FB4-F796F213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841" y="0"/>
            <a:ext cx="453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1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4E2C-22F7-C28B-B566-EEB17E99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5_title">
            <a:extLst>
              <a:ext uri="{FF2B5EF4-FFF2-40B4-BE49-F238E27FC236}">
                <a16:creationId xmlns:a16="http://schemas.microsoft.com/office/drawing/2014/main" id="{443239E8-28A3-1754-B32F-AD344A5A2A99}"/>
              </a:ext>
            </a:extLst>
          </p:cNvPr>
          <p:cNvSpPr txBox="1">
            <a:spLocks/>
          </p:cNvSpPr>
          <p:nvPr/>
        </p:nvSpPr>
        <p:spPr>
          <a:xfrm>
            <a:off x="5563529" y="2538130"/>
            <a:ext cx="594819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¿Quieres que te ayudemos a solucionarlo?</a:t>
            </a:r>
          </a:p>
        </p:txBody>
      </p:sp>
      <p:pic>
        <p:nvPicPr>
          <p:cNvPr id="6" name="sv_s05_photo">
            <a:extLst>
              <a:ext uri="{FF2B5EF4-FFF2-40B4-BE49-F238E27FC236}">
                <a16:creationId xmlns:a16="http://schemas.microsoft.com/office/drawing/2014/main" id="{11C20FF0-F6DA-B2D0-38A5-A86C0459F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3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0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6_title">
            <a:extLst>
              <a:ext uri="{FF2B5EF4-FFF2-40B4-BE49-F238E27FC236}">
                <a16:creationId xmlns:a16="http://schemas.microsoft.com/office/drawing/2014/main" id="{64E19FD8-FAC0-B262-616E-76EC6D5FD733}"/>
              </a:ext>
            </a:extLst>
          </p:cNvPr>
          <p:cNvSpPr txBox="1"/>
          <p:nvPr/>
        </p:nvSpPr>
        <p:spPr>
          <a:xfrm>
            <a:off x="484632" y="288036"/>
            <a:ext cx="6936964" cy="50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sz="3600">
                <a:solidFill>
                  <a:schemeClr val="accent1"/>
                </a:solidFill>
              </a:rPr>
              <a:t>Nuestra propuesta para tu vivienda</a:t>
            </a:r>
          </a:p>
        </p:txBody>
      </p:sp>
      <p:sp>
        <p:nvSpPr>
          <p:cNvPr id="5" name="sv_s06_subtitle">
            <a:extLst>
              <a:ext uri="{FF2B5EF4-FFF2-40B4-BE49-F238E27FC236}">
                <a16:creationId xmlns:a16="http://schemas.microsoft.com/office/drawing/2014/main" id="{36DB91F0-8D10-1BFE-7A33-C7A07F3E6ABA}"/>
              </a:ext>
            </a:extLst>
          </p:cNvPr>
          <p:cNvSpPr txBox="1"/>
          <p:nvPr/>
        </p:nvSpPr>
        <p:spPr>
          <a:xfrm>
            <a:off x="484632" y="896112"/>
            <a:ext cx="5591018" cy="223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sz="1600"/>
              <a:t>Una solución a medida, pensada para tu hogar en Fuenlabrada.</a:t>
            </a:r>
          </a:p>
        </p:txBody>
      </p:sp>
      <p:sp>
        <p:nvSpPr>
          <p:cNvPr id="6" name="sv_s06_solution_heading">
            <a:extLst>
              <a:ext uri="{FF2B5EF4-FFF2-40B4-BE49-F238E27FC236}">
                <a16:creationId xmlns:a16="http://schemas.microsoft.com/office/drawing/2014/main" id="{415C489E-BF7C-D140-1527-76BA37460154}"/>
              </a:ext>
            </a:extLst>
          </p:cNvPr>
          <p:cNvSpPr txBox="1"/>
          <p:nvPr/>
        </p:nvSpPr>
        <p:spPr>
          <a:xfrm>
            <a:off x="484632" y="1554480"/>
            <a:ext cx="2926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4EA6"/>
                </a:solidFill>
                <a:latin typeface="Georgia"/>
              </a:rPr>
              <a:t>¿Qué proponemos?</a:t>
            </a:r>
          </a:p>
        </p:txBody>
      </p:sp>
      <p:sp>
        <p:nvSpPr>
          <p:cNvPr id="7" name="sv_s06_solution_1">
            <a:extLst>
              <a:ext uri="{FF2B5EF4-FFF2-40B4-BE49-F238E27FC236}">
                <a16:creationId xmlns:a16="http://schemas.microsoft.com/office/drawing/2014/main" id="{175FA525-53AF-47CF-D510-A7B8C36FEC82}"/>
              </a:ext>
            </a:extLst>
          </p:cNvPr>
          <p:cNvSpPr txBox="1"/>
          <p:nvPr/>
        </p:nvSpPr>
        <p:spPr>
          <a:xfrm>
            <a:off x="566928" y="1975104"/>
            <a:ext cx="566928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Ventanas de PVC de alta eficiencia energética con doble
acristalamiento.</a:t>
            </a:r>
          </a:p>
        </p:txBody>
      </p:sp>
      <p:sp>
        <p:nvSpPr>
          <p:cNvPr id="8" name="sv_s06_solution_2">
            <a:extLst>
              <a:ext uri="{FF2B5EF4-FFF2-40B4-BE49-F238E27FC236}">
                <a16:creationId xmlns:a16="http://schemas.microsoft.com/office/drawing/2014/main" id="{D60B537B-BB1D-83BA-EADC-63AC8CE87A2C}"/>
              </a:ext>
            </a:extLst>
          </p:cNvPr>
          <p:cNvSpPr txBox="1"/>
          <p:nvPr/>
        </p:nvSpPr>
        <p:spPr>
          <a:xfrm>
            <a:off x="566928" y="2505456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Perfil de PVC multicámara con THERMOFIBRA.</a:t>
            </a:r>
          </a:p>
        </p:txBody>
      </p:sp>
      <p:sp>
        <p:nvSpPr>
          <p:cNvPr id="9" name="sv_s06_solution_3">
            <a:extLst>
              <a:ext uri="{FF2B5EF4-FFF2-40B4-BE49-F238E27FC236}">
                <a16:creationId xmlns:a16="http://schemas.microsoft.com/office/drawing/2014/main" id="{E8986F43-661E-5871-3983-B82E97C63D92}"/>
              </a:ext>
            </a:extLst>
          </p:cNvPr>
          <p:cNvSpPr txBox="1"/>
          <p:nvPr/>
        </p:nvSpPr>
        <p:spPr>
          <a:xfrm>
            <a:off x="566928" y="2834640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MUY DIFERENTE A PERFILES CON REFUERZO METÁLICO.</a:t>
            </a:r>
          </a:p>
        </p:txBody>
      </p:sp>
      <p:sp>
        <p:nvSpPr>
          <p:cNvPr id="10" name="sv_s06_solution_4">
            <a:extLst>
              <a:ext uri="{FF2B5EF4-FFF2-40B4-BE49-F238E27FC236}">
                <a16:creationId xmlns:a16="http://schemas.microsoft.com/office/drawing/2014/main" id="{B497C4AF-AFA9-7C99-3D33-F1E887EEA32F}"/>
              </a:ext>
            </a:extLst>
          </p:cNvPr>
          <p:cNvSpPr txBox="1"/>
          <p:nvPr/>
        </p:nvSpPr>
        <p:spPr>
          <a:xfrm>
            <a:off x="566928" y="3163824"/>
            <a:ext cx="566928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Cristal con Control solar + bajo emisivo + Argón (FUNDAMENTAL).
Según estancia</a:t>
            </a:r>
          </a:p>
        </p:txBody>
      </p:sp>
      <p:sp>
        <p:nvSpPr>
          <p:cNvPr id="11" name="sv_s06_solution_5">
            <a:extLst>
              <a:ext uri="{FF2B5EF4-FFF2-40B4-BE49-F238E27FC236}">
                <a16:creationId xmlns:a16="http://schemas.microsoft.com/office/drawing/2014/main" id="{CB40F2F5-CA4A-7D3C-3B92-978DC96E48FC}"/>
              </a:ext>
            </a:extLst>
          </p:cNvPr>
          <p:cNvSpPr txBox="1"/>
          <p:nvPr/>
        </p:nvSpPr>
        <p:spPr>
          <a:xfrm>
            <a:off x="566928" y="3803904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INTERCALARIO CALIENTE</a:t>
            </a:r>
          </a:p>
        </p:txBody>
      </p:sp>
      <p:sp>
        <p:nvSpPr>
          <p:cNvPr id="12" name="sv_s06_solution_6">
            <a:extLst>
              <a:ext uri="{FF2B5EF4-FFF2-40B4-BE49-F238E27FC236}">
                <a16:creationId xmlns:a16="http://schemas.microsoft.com/office/drawing/2014/main" id="{46F513BD-1239-8515-8B92-085D57872298}"/>
              </a:ext>
            </a:extLst>
          </p:cNvPr>
          <p:cNvSpPr txBox="1"/>
          <p:nvPr/>
        </p:nvSpPr>
        <p:spPr>
          <a:xfrm>
            <a:off x="566928" y="4133087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Sellado perimetral profesional para eliminar corrientes.</a:t>
            </a:r>
          </a:p>
        </p:txBody>
      </p:sp>
      <p:sp>
        <p:nvSpPr>
          <p:cNvPr id="13" name="sv_s06_solution_7">
            <a:extLst>
              <a:ext uri="{FF2B5EF4-FFF2-40B4-BE49-F238E27FC236}">
                <a16:creationId xmlns:a16="http://schemas.microsoft.com/office/drawing/2014/main" id="{21EF8F0B-A73D-03B3-AC79-C6C8A91713E7}"/>
              </a:ext>
            </a:extLst>
          </p:cNvPr>
          <p:cNvSpPr txBox="1"/>
          <p:nvPr/>
        </p:nvSpPr>
        <p:spPr>
          <a:xfrm>
            <a:off x="566928" y="4462272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Sistemas de cierre perimetral.</a:t>
            </a:r>
          </a:p>
        </p:txBody>
      </p:sp>
      <p:sp>
        <p:nvSpPr>
          <p:cNvPr id="14" name="sv_s06_solution_8">
            <a:extLst>
              <a:ext uri="{FF2B5EF4-FFF2-40B4-BE49-F238E27FC236}">
                <a16:creationId xmlns:a16="http://schemas.microsoft.com/office/drawing/2014/main" id="{4FDD62A8-CAD8-A853-0966-1FF57D0459C0}"/>
              </a:ext>
            </a:extLst>
          </p:cNvPr>
          <p:cNvSpPr txBox="1"/>
          <p:nvPr/>
        </p:nvSpPr>
        <p:spPr>
          <a:xfrm>
            <a:off x="566928" y="4791456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Remates interiores y exteriores.</a:t>
            </a:r>
          </a:p>
        </p:txBody>
      </p:sp>
      <p:sp>
        <p:nvSpPr>
          <p:cNvPr id="15" name="sv_s06_rooms_heading">
            <a:extLst>
              <a:ext uri="{FF2B5EF4-FFF2-40B4-BE49-F238E27FC236}">
                <a16:creationId xmlns:a16="http://schemas.microsoft.com/office/drawing/2014/main" id="{2A275366-4B2D-3E3E-6C1F-0935C2EB3F8A}"/>
              </a:ext>
            </a:extLst>
          </p:cNvPr>
          <p:cNvSpPr txBox="1"/>
          <p:nvPr/>
        </p:nvSpPr>
        <p:spPr>
          <a:xfrm>
            <a:off x="6446520" y="155448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4EA6"/>
                </a:solidFill>
                <a:latin typeface="Georgia"/>
              </a:rPr>
              <a:t>Estancias incluidas</a:t>
            </a:r>
          </a:p>
        </p:txBody>
      </p:sp>
      <p:graphicFrame>
        <p:nvGraphicFramePr>
          <p:cNvPr id="16" name="sv_s06_rooms_table">
            <a:extLst>
              <a:ext uri="{FF2B5EF4-FFF2-40B4-BE49-F238E27FC236}">
                <a16:creationId xmlns:a16="http://schemas.microsoft.com/office/drawing/2014/main" id="{E1939349-2C94-23CB-5108-3744B7822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16903"/>
              </p:ext>
            </p:extLst>
          </p:nvPr>
        </p:nvGraphicFramePr>
        <p:xfrm>
          <a:off x="6446520" y="1920240"/>
          <a:ext cx="541324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Salón / Comedor</a:t>
                      </a:r>
                    </a:p>
                  </a:txBody>
                  <a:tcPr marL="164592" marT="54864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D2D41"/>
                          </a:solidFill>
                          <a:latin typeface="Arial"/>
                        </a:rPr>
                        <a:t>Nº VENTANAS</a:t>
                      </a:r>
                    </a:p>
                  </a:txBody>
                  <a:tcPr marL="164592" marT="54864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Dormitorios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— 3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Cocina / Baños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2D41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2D41"/>
                          </a:solidFill>
                          <a:latin typeface="Arial"/>
                        </a:rPr>
                        <a:t>— 3 ventanas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14">
            <a:extLst>
              <a:ext uri="{FF2B5EF4-FFF2-40B4-BE49-F238E27FC236}">
                <a16:creationId xmlns:a16="http://schemas.microsoft.com/office/drawing/2014/main" id="{05E3F258-F524-2EF0-BDFF-BADD68C33972}"/>
              </a:ext>
            </a:extLst>
          </p:cNvPr>
          <p:cNvSpPr/>
          <p:nvPr/>
        </p:nvSpPr>
        <p:spPr>
          <a:xfrm>
            <a:off x="474950" y="5632704"/>
            <a:ext cx="11201400" cy="548640"/>
          </a:xfrm>
          <a:prstGeom prst="rect">
            <a:avLst/>
          </a:prstGeom>
          <a:solidFill>
            <a:srgbClr val="C2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72180FAB-DCB0-578C-FD3C-CEF0A5EF733F}"/>
              </a:ext>
            </a:extLst>
          </p:cNvPr>
          <p:cNvSpPr/>
          <p:nvPr/>
        </p:nvSpPr>
        <p:spPr>
          <a:xfrm>
            <a:off x="685800" y="5843016"/>
            <a:ext cx="128016" cy="128016"/>
          </a:xfrm>
          <a:prstGeom prst="rect">
            <a:avLst/>
          </a:prstGeom>
          <a:noFill/>
          <a:ln w="17780">
            <a:solidFill>
              <a:srgbClr val="2B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v_s06_footer_note">
            <a:extLst>
              <a:ext uri="{FF2B5EF4-FFF2-40B4-BE49-F238E27FC236}">
                <a16:creationId xmlns:a16="http://schemas.microsoft.com/office/drawing/2014/main" id="{BBED2078-3C8A-B8FC-FED1-0AABCBA93E73}"/>
              </a:ext>
            </a:extLst>
          </p:cNvPr>
          <p:cNvSpPr txBox="1"/>
          <p:nvPr/>
        </p:nvSpPr>
        <p:spPr>
          <a:xfrm>
            <a:off x="1078992" y="5788152"/>
            <a:ext cx="98755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141414"/>
                </a:solidFill>
                <a:latin typeface="Arial"/>
              </a:rPr>
              <a:t>Todas las ventanas se adaptan al estilo y medidas exactas de tu vivienda.</a:t>
            </a:r>
          </a:p>
        </p:txBody>
      </p:sp>
    </p:spTree>
    <p:extLst>
      <p:ext uri="{BB962C8B-B14F-4D97-AF65-F5344CB8AC3E}">
        <p14:creationId xmlns:p14="http://schemas.microsoft.com/office/powerpoint/2010/main" val="220747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7_title">
            <a:extLst>
              <a:ext uri="{FF2B5EF4-FFF2-40B4-BE49-F238E27FC236}">
                <a16:creationId xmlns:a16="http://schemas.microsoft.com/office/drawing/2014/main" id="{8FCCFD55-000D-5BC5-759E-CADA059AAADA}"/>
              </a:ext>
            </a:extLst>
          </p:cNvPr>
          <p:cNvSpPr txBox="1"/>
          <p:nvPr/>
        </p:nvSpPr>
        <p:spPr>
          <a:xfrm>
            <a:off x="411480" y="429768"/>
            <a:ext cx="7498079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0">
                <a:solidFill>
                  <a:srgbClr val="2B4EA6"/>
                </a:solidFill>
                <a:latin typeface="Georgia"/>
              </a:rPr>
              <a:t>Lo que vas a notar desde el primer día</a:t>
            </a:r>
          </a:p>
        </p:txBody>
      </p:sp>
      <p:sp>
        <p:nvSpPr>
          <p:cNvPr id="5" name="sv_s07_subtitle">
            <a:extLst>
              <a:ext uri="{FF2B5EF4-FFF2-40B4-BE49-F238E27FC236}">
                <a16:creationId xmlns:a16="http://schemas.microsoft.com/office/drawing/2014/main" id="{79F94895-B919-1CDC-31E2-F5DC2F0FAB07}"/>
              </a:ext>
            </a:extLst>
          </p:cNvPr>
          <p:cNvSpPr txBox="1"/>
          <p:nvPr/>
        </p:nvSpPr>
        <p:spPr>
          <a:xfrm>
            <a:off x="411480" y="1618488"/>
            <a:ext cx="7498079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9304F"/>
                </a:solidFill>
                <a:latin typeface="Arial"/>
              </a:rPr>
              <a:t>Cambiar tus ventanas transforma tu calidad de vida en casa.</a:t>
            </a:r>
          </a:p>
        </p:txBody>
      </p:sp>
      <p:sp>
        <p:nvSpPr>
          <p:cNvPr id="15" name="sv_s07_benefit_1_title">
            <a:extLst>
              <a:ext uri="{FF2B5EF4-FFF2-40B4-BE49-F238E27FC236}">
                <a16:creationId xmlns:a16="http://schemas.microsoft.com/office/drawing/2014/main" id="{9B6CE0BF-29A4-7C1A-9293-DDE8D1032179}"/>
              </a:ext>
            </a:extLst>
          </p:cNvPr>
          <p:cNvSpPr txBox="1"/>
          <p:nvPr/>
        </p:nvSpPr>
        <p:spPr>
          <a:xfrm>
            <a:off x="1115568" y="2532888"/>
            <a:ext cx="4937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Confort térmico todo el año</a:t>
            </a:r>
          </a:p>
        </p:txBody>
      </p:sp>
      <p:sp>
        <p:nvSpPr>
          <p:cNvPr id="16" name="sv_s07_benefit_1_body">
            <a:extLst>
              <a:ext uri="{FF2B5EF4-FFF2-40B4-BE49-F238E27FC236}">
                <a16:creationId xmlns:a16="http://schemas.microsoft.com/office/drawing/2014/main" id="{3E52B7F9-4827-1741-EB25-CF102DC816EB}"/>
              </a:ext>
            </a:extLst>
          </p:cNvPr>
          <p:cNvSpPr txBox="1"/>
          <p:nvPr/>
        </p:nvSpPr>
        <p:spPr>
          <a:xfrm>
            <a:off x="1115568" y="3154680"/>
            <a:ext cx="480060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Adiós a las corrientes en invierno y al calor sofocante en
verano. Tu hogar siempre a la temperatura ideal.</a:t>
            </a:r>
          </a:p>
        </p:txBody>
      </p:sp>
      <p:sp>
        <p:nvSpPr>
          <p:cNvPr id="21" name="sv_s07_benefit_2_title">
            <a:extLst>
              <a:ext uri="{FF2B5EF4-FFF2-40B4-BE49-F238E27FC236}">
                <a16:creationId xmlns:a16="http://schemas.microsoft.com/office/drawing/2014/main" id="{8EC9EE6F-D3D5-0666-81C1-DED9F2041150}"/>
              </a:ext>
            </a:extLst>
          </p:cNvPr>
          <p:cNvSpPr txBox="1"/>
          <p:nvPr/>
        </p:nvSpPr>
        <p:spPr>
          <a:xfrm>
            <a:off x="6922008" y="2532888"/>
            <a:ext cx="457200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Silencio y tranquilidad</a:t>
            </a:r>
          </a:p>
        </p:txBody>
      </p:sp>
      <p:sp>
        <p:nvSpPr>
          <p:cNvPr id="22" name="sv_s07_benefit_2_body">
            <a:extLst>
              <a:ext uri="{FF2B5EF4-FFF2-40B4-BE49-F238E27FC236}">
                <a16:creationId xmlns:a16="http://schemas.microsoft.com/office/drawing/2014/main" id="{A7B3F7C2-0EB4-1475-3F4E-7C3FE29755ED}"/>
              </a:ext>
            </a:extLst>
          </p:cNvPr>
          <p:cNvSpPr txBox="1"/>
          <p:nvPr/>
        </p:nvSpPr>
        <p:spPr>
          <a:xfrm>
            <a:off x="6922008" y="3154680"/>
            <a:ext cx="475488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Reducción de hasta un 40% del ruido exterior. Duerme
mejor, descansa más.</a:t>
            </a:r>
          </a:p>
        </p:txBody>
      </p:sp>
      <p:sp>
        <p:nvSpPr>
          <p:cNvPr id="26" name="sv_s07_benefit_3_title">
            <a:extLst>
              <a:ext uri="{FF2B5EF4-FFF2-40B4-BE49-F238E27FC236}">
                <a16:creationId xmlns:a16="http://schemas.microsoft.com/office/drawing/2014/main" id="{43F9165D-677D-D4E6-2696-AD51BD37AADF}"/>
              </a:ext>
            </a:extLst>
          </p:cNvPr>
          <p:cNvSpPr txBox="1"/>
          <p:nvPr/>
        </p:nvSpPr>
        <p:spPr>
          <a:xfrm>
            <a:off x="1115568" y="4709160"/>
            <a:ext cx="4937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Ahorro en tu factura energética</a:t>
            </a:r>
          </a:p>
        </p:txBody>
      </p:sp>
      <p:sp>
        <p:nvSpPr>
          <p:cNvPr id="27" name="sv_s07_benefit_3_body">
            <a:extLst>
              <a:ext uri="{FF2B5EF4-FFF2-40B4-BE49-F238E27FC236}">
                <a16:creationId xmlns:a16="http://schemas.microsoft.com/office/drawing/2014/main" id="{5A5EB7C4-0688-EAAE-01DC-AAE8580348A9}"/>
              </a:ext>
            </a:extLst>
          </p:cNvPr>
          <p:cNvSpPr txBox="1"/>
          <p:nvPr/>
        </p:nvSpPr>
        <p:spPr>
          <a:xfrm>
            <a:off x="1115568" y="5367528"/>
            <a:ext cx="480060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Hasta un 30% de reducción en calefacción y aire
acondicionado. Tu bolsillo lo nota.</a:t>
            </a:r>
          </a:p>
        </p:txBody>
      </p:sp>
      <p:sp>
        <p:nvSpPr>
          <p:cNvPr id="32" name="sv_s07_benefit_4_title">
            <a:extLst>
              <a:ext uri="{FF2B5EF4-FFF2-40B4-BE49-F238E27FC236}">
                <a16:creationId xmlns:a16="http://schemas.microsoft.com/office/drawing/2014/main" id="{766AE999-64FA-41D4-37DD-FABD02E47C75}"/>
              </a:ext>
            </a:extLst>
          </p:cNvPr>
          <p:cNvSpPr txBox="1"/>
          <p:nvPr/>
        </p:nvSpPr>
        <p:spPr>
          <a:xfrm>
            <a:off x="6922008" y="4709160"/>
            <a:ext cx="484632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Más valor y mejor imagen</a:t>
            </a:r>
          </a:p>
        </p:txBody>
      </p:sp>
      <p:sp>
        <p:nvSpPr>
          <p:cNvPr id="33" name="sv_s07_benefit_4_body">
            <a:extLst>
              <a:ext uri="{FF2B5EF4-FFF2-40B4-BE49-F238E27FC236}">
                <a16:creationId xmlns:a16="http://schemas.microsoft.com/office/drawing/2014/main" id="{82E032FD-6861-16CE-0A7A-0DF6246D288A}"/>
              </a:ext>
            </a:extLst>
          </p:cNvPr>
          <p:cNvSpPr txBox="1"/>
          <p:nvPr/>
        </p:nvSpPr>
        <p:spPr>
          <a:xfrm>
            <a:off x="6922008" y="5367528"/>
            <a:ext cx="475488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Ventanas nuevas renuevan la estética de tu vivienda y
aumentan su valor de mercado.</a:t>
            </a:r>
          </a:p>
        </p:txBody>
      </p:sp>
      <p:pic>
        <p:nvPicPr>
          <p:cNvPr id="35" name="sv_s07_benefit_1_icon" descr="Tenue (sol medio) contorno">
            <a:extLst>
              <a:ext uri="{FF2B5EF4-FFF2-40B4-BE49-F238E27FC236}">
                <a16:creationId xmlns:a16="http://schemas.microsoft.com/office/drawing/2014/main" id="{ADAF511B-2270-763F-F54A-E55A8B96C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612" y="2313432"/>
            <a:ext cx="713232" cy="713232"/>
          </a:xfrm>
          <a:prstGeom prst="rect">
            <a:avLst/>
          </a:prstGeom>
        </p:spPr>
      </p:pic>
      <p:pic>
        <p:nvPicPr>
          <p:cNvPr id="37" name="sv_s07_benefit_3_icon" descr="Hoja contorno">
            <a:extLst>
              <a:ext uri="{FF2B5EF4-FFF2-40B4-BE49-F238E27FC236}">
                <a16:creationId xmlns:a16="http://schemas.microsoft.com/office/drawing/2014/main" id="{F85F51CE-892D-0E3D-67F5-92F46ED16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612" y="4471417"/>
            <a:ext cx="713232" cy="713232"/>
          </a:xfrm>
          <a:prstGeom prst="rect">
            <a:avLst/>
          </a:prstGeom>
        </p:spPr>
      </p:pic>
      <p:pic>
        <p:nvPicPr>
          <p:cNvPr id="39" name="sv_s07_benefit_2_icon" descr="Sonido Medio con relleno sólido">
            <a:extLst>
              <a:ext uri="{FF2B5EF4-FFF2-40B4-BE49-F238E27FC236}">
                <a16:creationId xmlns:a16="http://schemas.microsoft.com/office/drawing/2014/main" id="{7D7AE708-DDA1-1B7B-22A3-DDB19B202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8674" y="2310819"/>
            <a:ext cx="718457" cy="718457"/>
          </a:xfrm>
          <a:prstGeom prst="rect">
            <a:avLst/>
          </a:prstGeom>
        </p:spPr>
      </p:pic>
      <p:pic>
        <p:nvPicPr>
          <p:cNvPr id="41" name="sv_s07_benefit_4_icon" descr="Escena suburbana contorno">
            <a:extLst>
              <a:ext uri="{FF2B5EF4-FFF2-40B4-BE49-F238E27FC236}">
                <a16:creationId xmlns:a16="http://schemas.microsoft.com/office/drawing/2014/main" id="{B70AC495-4497-2F2F-CE96-04A5BF4072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3328" y="4471417"/>
            <a:ext cx="718458" cy="71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3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8_title">
            <a:extLst>
              <a:ext uri="{FF2B5EF4-FFF2-40B4-BE49-F238E27FC236}">
                <a16:creationId xmlns:a16="http://schemas.microsoft.com/office/drawing/2014/main" id="{EDE06E05-BAEF-C14E-12CD-2F2EDE2C0FCD}"/>
              </a:ext>
            </a:extLst>
          </p:cNvPr>
          <p:cNvSpPr txBox="1"/>
          <p:nvPr/>
        </p:nvSpPr>
        <p:spPr>
          <a:xfrm>
            <a:off x="3492787" y="266521"/>
            <a:ext cx="5206425" cy="50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s-ES" sz="3600">
                <a:solidFill>
                  <a:schemeClr val="accent1"/>
                </a:solidFill>
              </a:rPr>
              <a:t>Una decisión cambia todo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5" name="sv_s08_before_label">
            <a:extLst>
              <a:ext uri="{FF2B5EF4-FFF2-40B4-BE49-F238E27FC236}">
                <a16:creationId xmlns:a16="http://schemas.microsoft.com/office/drawing/2014/main" id="{C1578AEE-158B-FBE4-5AF3-10703D43BA89}"/>
              </a:ext>
            </a:extLst>
          </p:cNvPr>
          <p:cNvSpPr/>
          <p:nvPr/>
        </p:nvSpPr>
        <p:spPr>
          <a:xfrm>
            <a:off x="2076226" y="989704"/>
            <a:ext cx="1699708" cy="4195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ysClr val="windowText" lastClr="000000"/>
                </a:solidFill>
              </a:rPr>
              <a:t>ANTES</a:t>
            </a:r>
          </a:p>
        </p:txBody>
      </p:sp>
      <p:sp>
        <p:nvSpPr>
          <p:cNvPr id="6" name="sv_s08_after_label">
            <a:extLst>
              <a:ext uri="{FF2B5EF4-FFF2-40B4-BE49-F238E27FC236}">
                <a16:creationId xmlns:a16="http://schemas.microsoft.com/office/drawing/2014/main" id="{AC0CE05F-D665-689B-FBEB-0DCF24727D80}"/>
              </a:ext>
            </a:extLst>
          </p:cNvPr>
          <p:cNvSpPr/>
          <p:nvPr/>
        </p:nvSpPr>
        <p:spPr>
          <a:xfrm>
            <a:off x="8123816" y="989704"/>
            <a:ext cx="1699708" cy="4195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ysClr val="windowText" lastClr="000000"/>
                </a:solidFill>
              </a:rPr>
              <a:t>DESPUÉS</a:t>
            </a:r>
          </a:p>
        </p:txBody>
      </p:sp>
      <p:pic>
        <p:nvPicPr>
          <p:cNvPr id="8" name="sv_s08_before_photo">
            <a:extLst>
              <a:ext uri="{FF2B5EF4-FFF2-40B4-BE49-F238E27FC236}">
                <a16:creationId xmlns:a16="http://schemas.microsoft.com/office/drawing/2014/main" id="{4E0886ED-570B-4FD2-87BB-2D8712DD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26" y="1660214"/>
            <a:ext cx="3800438" cy="2793451"/>
          </a:xfrm>
          <a:prstGeom prst="rect">
            <a:avLst/>
          </a:prstGeom>
        </p:spPr>
      </p:pic>
      <p:pic>
        <p:nvPicPr>
          <p:cNvPr id="9" name="sv_s08_after_photo">
            <a:extLst>
              <a:ext uri="{FF2B5EF4-FFF2-40B4-BE49-F238E27FC236}">
                <a16:creationId xmlns:a16="http://schemas.microsoft.com/office/drawing/2014/main" id="{57ED9814-3859-0F4E-82C5-0AEA0332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936" y="1660214"/>
            <a:ext cx="3800438" cy="2793451"/>
          </a:xfrm>
          <a:prstGeom prst="rect">
            <a:avLst/>
          </a:prstGeom>
        </p:spPr>
      </p:pic>
      <p:sp>
        <p:nvSpPr>
          <p:cNvPr id="10" name="sv_s08_before_text">
            <a:extLst>
              <a:ext uri="{FF2B5EF4-FFF2-40B4-BE49-F238E27FC236}">
                <a16:creationId xmlns:a16="http://schemas.microsoft.com/office/drawing/2014/main" id="{B4F75B3A-DB20-5083-1830-DAA1E1E97AE3}"/>
              </a:ext>
            </a:extLst>
          </p:cNvPr>
          <p:cNvSpPr txBox="1"/>
          <p:nvPr/>
        </p:nvSpPr>
        <p:spPr>
          <a:xfrm>
            <a:off x="1212626" y="4632322"/>
            <a:ext cx="3161122" cy="233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520" b="0">
                <a:solidFill>
                  <a:srgbClr val="FF0000"/>
                </a:solidFill>
                <a:latin typeface="Arial"/>
              </a:rPr>
              <a:t>Frio, corrientes y malestar constante</a:t>
            </a:r>
            <a:endParaRPr sz="1520" b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1" name="sv_s08_after_text">
            <a:extLst>
              <a:ext uri="{FF2B5EF4-FFF2-40B4-BE49-F238E27FC236}">
                <a16:creationId xmlns:a16="http://schemas.microsoft.com/office/drawing/2014/main" id="{9D34D2CB-1B15-17BA-2D33-4D797385616F}"/>
              </a:ext>
            </a:extLst>
          </p:cNvPr>
          <p:cNvSpPr txBox="1"/>
          <p:nvPr/>
        </p:nvSpPr>
        <p:spPr>
          <a:xfrm>
            <a:off x="7178936" y="4632322"/>
            <a:ext cx="3438442" cy="233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520" b="0">
                <a:solidFill>
                  <a:schemeClr val="accent6"/>
                </a:solidFill>
                <a:latin typeface="Arial"/>
              </a:rPr>
              <a:t>Confort, silencio y bienestar todo el año</a:t>
            </a:r>
            <a:endParaRPr sz="1520" b="0">
              <a:solidFill>
                <a:schemeClr val="accent6"/>
              </a:solidFill>
              <a:latin typeface="Arial"/>
            </a:endParaRPr>
          </a:p>
        </p:txBody>
      </p:sp>
      <p:sp>
        <p:nvSpPr>
          <p:cNvPr id="12" name="sv_s08_footer">
            <a:extLst>
              <a:ext uri="{FF2B5EF4-FFF2-40B4-BE49-F238E27FC236}">
                <a16:creationId xmlns:a16="http://schemas.microsoft.com/office/drawing/2014/main" id="{F1EAC3FD-437E-8BDD-0860-6038852CF2F0}"/>
              </a:ext>
            </a:extLst>
          </p:cNvPr>
          <p:cNvSpPr txBox="1"/>
          <p:nvPr/>
        </p:nvSpPr>
        <p:spPr>
          <a:xfrm>
            <a:off x="2409092" y="5591297"/>
            <a:ext cx="737381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b="1">
                <a:latin typeface="Arial"/>
              </a:rPr>
              <a:t>Asi de diferente se siente tu hogar con ventanas de alta eficiencia!!</a:t>
            </a:r>
            <a:endParaRPr b="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975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E3940DE9-9A96-4602-A8E4-9EE301BC8A17}"/>
              </a:ext>
            </a:extLst>
          </p:cNvPr>
          <p:cNvSpPr txBox="1"/>
          <p:nvPr/>
        </p:nvSpPr>
        <p:spPr>
          <a:xfrm>
            <a:off x="475488" y="246888"/>
            <a:ext cx="7955279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B4EA6"/>
                </a:solidFill>
                <a:latin typeface="Georgia"/>
              </a:rPr>
              <a:t>¿Por qué trabajar con nosotros?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C09B15D-94C7-96E1-AA04-8C895488EC8E}"/>
              </a:ext>
            </a:extLst>
          </p:cNvPr>
          <p:cNvSpPr txBox="1"/>
          <p:nvPr/>
        </p:nvSpPr>
        <p:spPr>
          <a:xfrm>
            <a:off x="475488" y="749808"/>
            <a:ext cx="8686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19304F"/>
                </a:solidFill>
                <a:latin typeface="Arial"/>
              </a:rPr>
              <a:t>No solo instalamos ventanas. Cuidamos tu hogar como si fuera el nuestro.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81FA79-6223-8930-29FE-15CC3E20A3E2}"/>
              </a:ext>
            </a:extLst>
          </p:cNvPr>
          <p:cNvSpPr/>
          <p:nvPr/>
        </p:nvSpPr>
        <p:spPr>
          <a:xfrm>
            <a:off x="475488" y="1115568"/>
            <a:ext cx="5074920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64190787-C0B8-260A-1229-CCA5085AD212}"/>
              </a:ext>
            </a:extLst>
          </p:cNvPr>
          <p:cNvSpPr/>
          <p:nvPr/>
        </p:nvSpPr>
        <p:spPr>
          <a:xfrm>
            <a:off x="612557" y="1280160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DD332EE-18F6-02ED-4FE8-D7A3952F0C0E}"/>
              </a:ext>
            </a:extLst>
          </p:cNvPr>
          <p:cNvSpPr txBox="1"/>
          <p:nvPr/>
        </p:nvSpPr>
        <p:spPr>
          <a:xfrm>
            <a:off x="1243584" y="1394460"/>
            <a:ext cx="48006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Obra limpia y ordenada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915A2DD-5712-E9B7-FC84-5D23379C5D3D}"/>
              </a:ext>
            </a:extLst>
          </p:cNvPr>
          <p:cNvSpPr txBox="1"/>
          <p:nvPr/>
        </p:nvSpPr>
        <p:spPr>
          <a:xfrm>
            <a:off x="632956" y="1864047"/>
            <a:ext cx="478943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Protegemos tus muebles y suelos. Al terminar, dejamos tu casa como la encontramos.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204FDC3-3210-E736-AC7D-E1E0C467DAA0}"/>
              </a:ext>
            </a:extLst>
          </p:cNvPr>
          <p:cNvSpPr/>
          <p:nvPr/>
        </p:nvSpPr>
        <p:spPr>
          <a:xfrm>
            <a:off x="5733288" y="1115568"/>
            <a:ext cx="5980176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FDBF9C78-FC3F-78D4-DDF4-4DE57712A65D}"/>
              </a:ext>
            </a:extLst>
          </p:cNvPr>
          <p:cNvSpPr/>
          <p:nvPr/>
        </p:nvSpPr>
        <p:spPr>
          <a:xfrm>
            <a:off x="5879592" y="1280160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89EEF8AC-0208-DFAE-4B23-DE0C5DD3EB36}"/>
              </a:ext>
            </a:extLst>
          </p:cNvPr>
          <p:cNvSpPr txBox="1"/>
          <p:nvPr/>
        </p:nvSpPr>
        <p:spPr>
          <a:xfrm>
            <a:off x="6581341" y="1394460"/>
            <a:ext cx="57058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Plazos cumplidos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C160F4B-CFF3-6296-92D6-0D2C61516A46}"/>
              </a:ext>
            </a:extLst>
          </p:cNvPr>
          <p:cNvSpPr txBox="1"/>
          <p:nvPr/>
        </p:nvSpPr>
        <p:spPr>
          <a:xfrm>
            <a:off x="5980176" y="1856232"/>
            <a:ext cx="497347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Te damos una fecha y la cumplimos. Sin sorpresas ni retrasos.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5D56AD22-CED3-109F-D005-19059A703527}"/>
              </a:ext>
            </a:extLst>
          </p:cNvPr>
          <p:cNvSpPr/>
          <p:nvPr/>
        </p:nvSpPr>
        <p:spPr>
          <a:xfrm>
            <a:off x="475488" y="2468880"/>
            <a:ext cx="5074920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C1808745-F71F-5B0E-8FDE-F18AC9663C3D}"/>
              </a:ext>
            </a:extLst>
          </p:cNvPr>
          <p:cNvSpPr/>
          <p:nvPr/>
        </p:nvSpPr>
        <p:spPr>
          <a:xfrm>
            <a:off x="621792" y="2633472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2B5EA503-96B2-025E-D617-6F6326BBB9FB}"/>
              </a:ext>
            </a:extLst>
          </p:cNvPr>
          <p:cNvSpPr txBox="1"/>
          <p:nvPr/>
        </p:nvSpPr>
        <p:spPr>
          <a:xfrm>
            <a:off x="1207008" y="2727783"/>
            <a:ext cx="48006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Garantía total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EC0F9D66-3AD1-2BCE-8D3C-50E25519A0EC}"/>
              </a:ext>
            </a:extLst>
          </p:cNvPr>
          <p:cNvSpPr txBox="1"/>
          <p:nvPr/>
        </p:nvSpPr>
        <p:spPr>
          <a:xfrm>
            <a:off x="632956" y="3196144"/>
            <a:ext cx="478943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Garantía de 10 años en perfiles y cristales. Respaldamos nuestro trabajo.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B044ED5F-B92E-E918-5EEA-7457B8E7A379}"/>
              </a:ext>
            </a:extLst>
          </p:cNvPr>
          <p:cNvSpPr/>
          <p:nvPr/>
        </p:nvSpPr>
        <p:spPr>
          <a:xfrm>
            <a:off x="5733288" y="2468880"/>
            <a:ext cx="5980176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E0E5C7CF-68CF-F78B-7976-E58C83CC2E3B}"/>
              </a:ext>
            </a:extLst>
          </p:cNvPr>
          <p:cNvSpPr/>
          <p:nvPr/>
        </p:nvSpPr>
        <p:spPr>
          <a:xfrm>
            <a:off x="5879592" y="2633472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355D8191-DA40-28D0-4A63-BC8CD4EEDA6F}"/>
              </a:ext>
            </a:extLst>
          </p:cNvPr>
          <p:cNvSpPr txBox="1"/>
          <p:nvPr/>
        </p:nvSpPr>
        <p:spPr>
          <a:xfrm>
            <a:off x="6486144" y="2747772"/>
            <a:ext cx="57058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Atención postventa real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313AF6C2-A830-638B-1CAE-38AB2C23C2A5}"/>
              </a:ext>
            </a:extLst>
          </p:cNvPr>
          <p:cNvSpPr txBox="1"/>
          <p:nvPr/>
        </p:nvSpPr>
        <p:spPr>
          <a:xfrm>
            <a:off x="5971032" y="3201007"/>
            <a:ext cx="550468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Estamos disponibles después de la instalación. Cualquier duda o ajuste, te atendemos.</a:t>
            </a: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B6CC1944-1DB4-8C63-D79F-B3294AEB7F1B}"/>
              </a:ext>
            </a:extLst>
          </p:cNvPr>
          <p:cNvSpPr txBox="1"/>
          <p:nvPr/>
        </p:nvSpPr>
        <p:spPr>
          <a:xfrm>
            <a:off x="475488" y="3858768"/>
            <a:ext cx="50292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2B4EA6"/>
                </a:solidFill>
                <a:latin typeface="Georgia"/>
              </a:rPr>
              <a:t>Lo que dicen nuestros clientes</a:t>
            </a: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656796B1-432A-3C75-4832-9E9ED2F346CF}"/>
              </a:ext>
            </a:extLst>
          </p:cNvPr>
          <p:cNvSpPr/>
          <p:nvPr/>
        </p:nvSpPr>
        <p:spPr>
          <a:xfrm>
            <a:off x="475488" y="4233672"/>
            <a:ext cx="3456432" cy="164592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2784FDF8-247D-0298-1A96-C71252022E89}"/>
              </a:ext>
            </a:extLst>
          </p:cNvPr>
          <p:cNvSpPr txBox="1"/>
          <p:nvPr/>
        </p:nvSpPr>
        <p:spPr>
          <a:xfrm>
            <a:off x="402336" y="4078224"/>
            <a:ext cx="320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2B4EA6"/>
                </a:solidFill>
                <a:latin typeface="Georgia"/>
              </a:rPr>
              <a:t>“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92E6E4DE-6EA4-D2B8-58BE-EF336C47FC93}"/>
              </a:ext>
            </a:extLst>
          </p:cNvPr>
          <p:cNvSpPr txBox="1"/>
          <p:nvPr/>
        </p:nvSpPr>
        <p:spPr>
          <a:xfrm>
            <a:off x="681228" y="4375404"/>
            <a:ext cx="685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s-ES" sz="1400" b="0">
                <a:solidFill>
                  <a:srgbClr val="F7BE23"/>
                </a:solidFill>
                <a:latin typeface="Arial"/>
              </a:rPr>
              <a:t>★★★★★</a:t>
            </a:r>
            <a:endParaRPr sz="1400" b="0">
              <a:solidFill>
                <a:srgbClr val="F7BE23"/>
              </a:solidFill>
              <a:latin typeface="Arial"/>
            </a:endParaRP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E8AFF521-54FC-F1E2-E7C6-14A3524FA380}"/>
              </a:ext>
            </a:extLst>
          </p:cNvPr>
          <p:cNvSpPr txBox="1"/>
          <p:nvPr/>
        </p:nvSpPr>
        <p:spPr>
          <a:xfrm>
            <a:off x="1517904" y="4407227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Hace un mes.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311BBB6E-349D-F7A3-7F18-076F23B15AB6}"/>
              </a:ext>
            </a:extLst>
          </p:cNvPr>
          <p:cNvSpPr txBox="1"/>
          <p:nvPr/>
        </p:nvSpPr>
        <p:spPr>
          <a:xfrm>
            <a:off x="681228" y="4725325"/>
            <a:ext cx="3031236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sz="1000" b="0">
                <a:solidFill>
                  <a:srgbClr val="19304F"/>
                </a:solidFill>
                <a:latin typeface="Arial"/>
              </a:rPr>
              <a:t>"Muy buenos profesionales. desde el asesoramiento inicial hasta los montadores. RECOMENDABLE 100%. Encantados con la nueva ventana del salón, se nota la calidad de los materiales. Un trabajo bien hecho, rápido y sin ningún tipo de incidencia. Gracias por todo"</a:t>
            </a: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5EA755F-D94F-37B8-B617-E6FC9C5231D1}"/>
              </a:ext>
            </a:extLst>
          </p:cNvPr>
          <p:cNvSpPr/>
          <p:nvPr/>
        </p:nvSpPr>
        <p:spPr>
          <a:xfrm>
            <a:off x="4352544" y="4233672"/>
            <a:ext cx="3456432" cy="164592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FF34E26D-F75D-3B37-D743-63EC0289EA91}"/>
              </a:ext>
            </a:extLst>
          </p:cNvPr>
          <p:cNvSpPr txBox="1"/>
          <p:nvPr/>
        </p:nvSpPr>
        <p:spPr>
          <a:xfrm>
            <a:off x="4279392" y="4078224"/>
            <a:ext cx="320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2B4EA6"/>
                </a:solidFill>
                <a:latin typeface="Georgia"/>
              </a:rPr>
              <a:t>“</a:t>
            </a:r>
          </a:p>
        </p:txBody>
      </p:sp>
      <p:sp>
        <p:nvSpPr>
          <p:cNvPr id="34" name="TextBox 31">
            <a:extLst>
              <a:ext uri="{FF2B5EF4-FFF2-40B4-BE49-F238E27FC236}">
                <a16:creationId xmlns:a16="http://schemas.microsoft.com/office/drawing/2014/main" id="{2C3B62C4-E17E-D87A-965A-E4A919AD03F7}"/>
              </a:ext>
            </a:extLst>
          </p:cNvPr>
          <p:cNvSpPr txBox="1"/>
          <p:nvPr/>
        </p:nvSpPr>
        <p:spPr>
          <a:xfrm>
            <a:off x="4613146" y="4381093"/>
            <a:ext cx="685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7BE23"/>
                </a:solidFill>
                <a:latin typeface="Arial"/>
              </a:rPr>
              <a:t>★★★★★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EC470668-23A3-84AF-7DBE-FFC609866A02}"/>
              </a:ext>
            </a:extLst>
          </p:cNvPr>
          <p:cNvSpPr txBox="1"/>
          <p:nvPr/>
        </p:nvSpPr>
        <p:spPr>
          <a:xfrm>
            <a:off x="5449822" y="438912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Hace 4 meses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C9157BC0-3233-D883-3F99-1855C2407949}"/>
              </a:ext>
            </a:extLst>
          </p:cNvPr>
          <p:cNvSpPr txBox="1"/>
          <p:nvPr/>
        </p:nvSpPr>
        <p:spPr>
          <a:xfrm>
            <a:off x="4622380" y="4657167"/>
            <a:ext cx="3022001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</a:pPr>
            <a:r>
              <a:rPr sz="980" b="0">
                <a:solidFill>
                  <a:srgbClr val="19304F"/>
                </a:solidFill>
                <a:latin typeface="Arial"/>
              </a:rPr>
              <a:t>"</a:t>
            </a:r>
            <a:r>
              <a:rPr sz="1000">
                <a:solidFill>
                  <a:srgbClr val="19304F"/>
                </a:solidFill>
                <a:latin typeface="Arial"/>
              </a:rPr>
              <a:t>Conocí a Jose por recomendación de un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familiar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y desde la primera visita tuve claro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que sería el en quien depositaría mi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confianza. Una persona responsable y muy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seria en su trabajo. El trato y los materiales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con los que trabaja son formidables. Sin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ninguna duda lo recomiendo con los ojos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cerrados"</a:t>
            </a: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769769E8-4CEF-A5CB-651C-5B7935934BB4}"/>
              </a:ext>
            </a:extLst>
          </p:cNvPr>
          <p:cNvSpPr/>
          <p:nvPr/>
        </p:nvSpPr>
        <p:spPr>
          <a:xfrm>
            <a:off x="8229600" y="4233672"/>
            <a:ext cx="3456432" cy="164592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5">
            <a:extLst>
              <a:ext uri="{FF2B5EF4-FFF2-40B4-BE49-F238E27FC236}">
                <a16:creationId xmlns:a16="http://schemas.microsoft.com/office/drawing/2014/main" id="{AEC9F6D5-3360-30E3-320C-1C88F12A9AD0}"/>
              </a:ext>
            </a:extLst>
          </p:cNvPr>
          <p:cNvSpPr txBox="1"/>
          <p:nvPr/>
        </p:nvSpPr>
        <p:spPr>
          <a:xfrm>
            <a:off x="8156448" y="4078224"/>
            <a:ext cx="320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2B4EA6"/>
                </a:solidFill>
                <a:latin typeface="Georgia"/>
              </a:rPr>
              <a:t>“</a:t>
            </a:r>
          </a:p>
        </p:txBody>
      </p:sp>
      <p:sp>
        <p:nvSpPr>
          <p:cNvPr id="39" name="TextBox 36">
            <a:extLst>
              <a:ext uri="{FF2B5EF4-FFF2-40B4-BE49-F238E27FC236}">
                <a16:creationId xmlns:a16="http://schemas.microsoft.com/office/drawing/2014/main" id="{A33F1926-D09C-BF22-0F85-551381264BDB}"/>
              </a:ext>
            </a:extLst>
          </p:cNvPr>
          <p:cNvSpPr txBox="1"/>
          <p:nvPr/>
        </p:nvSpPr>
        <p:spPr>
          <a:xfrm>
            <a:off x="8490204" y="4382037"/>
            <a:ext cx="685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7BE23"/>
                </a:solidFill>
                <a:latin typeface="Arial"/>
              </a:rPr>
              <a:t>★★★★★</a:t>
            </a:r>
          </a:p>
        </p:txBody>
      </p:sp>
      <p:sp>
        <p:nvSpPr>
          <p:cNvPr id="40" name="TextBox 37">
            <a:extLst>
              <a:ext uri="{FF2B5EF4-FFF2-40B4-BE49-F238E27FC236}">
                <a16:creationId xmlns:a16="http://schemas.microsoft.com/office/drawing/2014/main" id="{AAC53A5D-1D59-37E3-AF75-ACA2F1D6E927}"/>
              </a:ext>
            </a:extLst>
          </p:cNvPr>
          <p:cNvSpPr txBox="1"/>
          <p:nvPr/>
        </p:nvSpPr>
        <p:spPr>
          <a:xfrm>
            <a:off x="9316212" y="4398752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Hace 5 meses</a:t>
            </a:r>
          </a:p>
        </p:txBody>
      </p:sp>
      <p:sp>
        <p:nvSpPr>
          <p:cNvPr id="42" name="Rectangle 39">
            <a:extLst>
              <a:ext uri="{FF2B5EF4-FFF2-40B4-BE49-F238E27FC236}">
                <a16:creationId xmlns:a16="http://schemas.microsoft.com/office/drawing/2014/main" id="{6275B0DF-FAD6-6BD2-1657-502720D8681E}"/>
              </a:ext>
            </a:extLst>
          </p:cNvPr>
          <p:cNvSpPr/>
          <p:nvPr/>
        </p:nvSpPr>
        <p:spPr>
          <a:xfrm>
            <a:off x="475488" y="6035040"/>
            <a:ext cx="11237976" cy="502920"/>
          </a:xfrm>
          <a:prstGeom prst="rect">
            <a:avLst/>
          </a:prstGeom>
          <a:solidFill>
            <a:srgbClr val="C2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0">
            <a:extLst>
              <a:ext uri="{FF2B5EF4-FFF2-40B4-BE49-F238E27FC236}">
                <a16:creationId xmlns:a16="http://schemas.microsoft.com/office/drawing/2014/main" id="{96BF1CBD-5197-9D21-2F77-0AB59C1B12DC}"/>
              </a:ext>
            </a:extLst>
          </p:cNvPr>
          <p:cNvSpPr txBox="1"/>
          <p:nvPr/>
        </p:nvSpPr>
        <p:spPr>
          <a:xfrm>
            <a:off x="713232" y="6172200"/>
            <a:ext cx="1828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B4EA6"/>
                </a:solidFill>
                <a:latin typeface="Arial"/>
              </a:rPr>
              <a:t>□</a:t>
            </a: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6B60E4D8-036B-AC56-FA29-BAFAC73870C6}"/>
              </a:ext>
            </a:extLst>
          </p:cNvPr>
          <p:cNvSpPr txBox="1"/>
          <p:nvPr/>
        </p:nvSpPr>
        <p:spPr>
          <a:xfrm>
            <a:off x="955548" y="6142645"/>
            <a:ext cx="7498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BE23"/>
                </a:solidFill>
                <a:latin typeface="Arial"/>
              </a:rPr>
              <a:t>★★★★★</a:t>
            </a:r>
          </a:p>
        </p:txBody>
      </p:sp>
      <p:sp>
        <p:nvSpPr>
          <p:cNvPr id="45" name="TextBox 42">
            <a:extLst>
              <a:ext uri="{FF2B5EF4-FFF2-40B4-BE49-F238E27FC236}">
                <a16:creationId xmlns:a16="http://schemas.microsoft.com/office/drawing/2014/main" id="{956A6E65-20D1-2A72-8B30-083DA5E0A329}"/>
              </a:ext>
            </a:extLst>
          </p:cNvPr>
          <p:cNvSpPr txBox="1"/>
          <p:nvPr/>
        </p:nvSpPr>
        <p:spPr>
          <a:xfrm>
            <a:off x="1891541" y="6172200"/>
            <a:ext cx="5257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Reseñas reales · Comercial de Aluminio y PVC Aspa · Google Business —</a:t>
            </a:r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2E4AD6D7-7B37-EE93-A12F-2EF9A3D80C4E}"/>
              </a:ext>
            </a:extLst>
          </p:cNvPr>
          <p:cNvSpPr txBox="1"/>
          <p:nvPr/>
        </p:nvSpPr>
        <p:spPr>
          <a:xfrm>
            <a:off x="6776262" y="6183618"/>
            <a:ext cx="2760371" cy="1600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40" b="1">
                <a:solidFill>
                  <a:srgbClr val="2B4EA6"/>
                </a:solidFill>
                <a:latin typeface="Arial"/>
                <a:hlinkClick r:id="rId2"/>
              </a:rPr>
              <a:t>https://share.google/rde5o6KyM0MBbmATe</a:t>
            </a:r>
            <a:endParaRPr sz="1040" b="1">
              <a:solidFill>
                <a:srgbClr val="2B4EA6"/>
              </a:solidFill>
              <a:latin typeface="Arial"/>
            </a:endParaRP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2607367E-EC15-26A3-3196-44CEA1A13CB4}"/>
              </a:ext>
            </a:extLst>
          </p:cNvPr>
          <p:cNvSpPr txBox="1"/>
          <p:nvPr/>
        </p:nvSpPr>
        <p:spPr>
          <a:xfrm>
            <a:off x="8488771" y="4677156"/>
            <a:ext cx="3022001" cy="10556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s-ES" sz="980">
                <a:solidFill>
                  <a:srgbClr val="19304F"/>
                </a:solidFill>
                <a:latin typeface="Arial"/>
              </a:rPr>
              <a:t>"Responsables en tiempo y trabajo. Me cambiaron las 5 ventanas de mi casa. Cumplieron con los plazos y acabados tal y como me dijeron. Desde Jose (comercial) hasta Samanta (comunicación) han sido muy atentos en todo momento. Especial atención a Aitor y Jampier, trabajo CUIDADOSO, LIMPIO E IMPECABLE."</a:t>
            </a:r>
          </a:p>
        </p:txBody>
      </p:sp>
      <p:pic>
        <p:nvPicPr>
          <p:cNvPr id="51" name="Gráfico 50" descr="Escudo contorno">
            <a:extLst>
              <a:ext uri="{FF2B5EF4-FFF2-40B4-BE49-F238E27FC236}">
                <a16:creationId xmlns:a16="http://schemas.microsoft.com/office/drawing/2014/main" id="{7D43E771-3DB1-97BF-C15E-0526DFAF6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293" y="2677519"/>
            <a:ext cx="351910" cy="351910"/>
          </a:xfrm>
          <a:prstGeom prst="rect">
            <a:avLst/>
          </a:prstGeom>
        </p:spPr>
      </p:pic>
      <p:pic>
        <p:nvPicPr>
          <p:cNvPr id="53" name="Gráfico 52" descr="Burbujas contorno">
            <a:extLst>
              <a:ext uri="{FF2B5EF4-FFF2-40B4-BE49-F238E27FC236}">
                <a16:creationId xmlns:a16="http://schemas.microsoft.com/office/drawing/2014/main" id="{3D106622-1076-1E57-346F-032C8E3EA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228" y="1340981"/>
            <a:ext cx="313024" cy="313024"/>
          </a:xfrm>
          <a:prstGeom prst="rect">
            <a:avLst/>
          </a:prstGeom>
        </p:spPr>
      </p:pic>
      <p:pic>
        <p:nvPicPr>
          <p:cNvPr id="55" name="Gráfico 54" descr="Calendario giratorio con relleno sólido">
            <a:extLst>
              <a:ext uri="{FF2B5EF4-FFF2-40B4-BE49-F238E27FC236}">
                <a16:creationId xmlns:a16="http://schemas.microsoft.com/office/drawing/2014/main" id="{F2B2EE8B-6FA6-71F5-E412-31AF819A8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6281" y="1329298"/>
            <a:ext cx="336389" cy="336389"/>
          </a:xfrm>
          <a:prstGeom prst="rect">
            <a:avLst/>
          </a:prstGeom>
        </p:spPr>
      </p:pic>
      <p:pic>
        <p:nvPicPr>
          <p:cNvPr id="57" name="Gráfico 56" descr="Centro de llamadas con relleno sólido">
            <a:extLst>
              <a:ext uri="{FF2B5EF4-FFF2-40B4-BE49-F238E27FC236}">
                <a16:creationId xmlns:a16="http://schemas.microsoft.com/office/drawing/2014/main" id="{A326CC03-A812-D931-1E1C-6B7F43844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5980" y="2693917"/>
            <a:ext cx="310896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5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10_title">
            <a:extLst>
              <a:ext uri="{FF2B5EF4-FFF2-40B4-BE49-F238E27FC236}">
                <a16:creationId xmlns:a16="http://schemas.microsoft.com/office/drawing/2014/main" id="{EBB8DD43-40C8-E61C-1380-F1A3D4137BB5}"/>
              </a:ext>
            </a:extLst>
          </p:cNvPr>
          <p:cNvSpPr txBox="1"/>
          <p:nvPr/>
        </p:nvSpPr>
        <p:spPr>
          <a:xfrm>
            <a:off x="775243" y="749808"/>
            <a:ext cx="2215350" cy="4770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3100">
                <a:solidFill>
                  <a:srgbClr val="2B4EA6"/>
                </a:solidFill>
                <a:latin typeface="Georgia"/>
              </a:rPr>
              <a:t>Tu inversión</a:t>
            </a:r>
          </a:p>
        </p:txBody>
      </p:sp>
      <p:sp>
        <p:nvSpPr>
          <p:cNvPr id="5" name="sv_s10_subtitle">
            <a:extLst>
              <a:ext uri="{FF2B5EF4-FFF2-40B4-BE49-F238E27FC236}">
                <a16:creationId xmlns:a16="http://schemas.microsoft.com/office/drawing/2014/main" id="{67122D8D-90B9-8176-891B-45289DA2CFB2}"/>
              </a:ext>
            </a:extLst>
          </p:cNvPr>
          <p:cNvSpPr txBox="1"/>
          <p:nvPr/>
        </p:nvSpPr>
        <p:spPr>
          <a:xfrm>
            <a:off x="775243" y="1391454"/>
            <a:ext cx="585216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9304F"/>
                </a:solidFill>
                <a:latin typeface="Arial"/>
              </a:rPr>
              <a:t>Una inversión que se amortiza sola.</a:t>
            </a:r>
          </a:p>
        </p:txBody>
      </p:sp>
      <p:sp>
        <p:nvSpPr>
          <p:cNvPr id="6" name="sv_s10_usual_price">
            <a:extLst>
              <a:ext uri="{FF2B5EF4-FFF2-40B4-BE49-F238E27FC236}">
                <a16:creationId xmlns:a16="http://schemas.microsoft.com/office/drawing/2014/main" id="{542FEA64-C096-7F56-EF31-037497066F4A}"/>
              </a:ext>
            </a:extLst>
          </p:cNvPr>
          <p:cNvSpPr txBox="1"/>
          <p:nvPr/>
        </p:nvSpPr>
        <p:spPr>
          <a:xfrm>
            <a:off x="3352800" y="2478807"/>
            <a:ext cx="54864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19304F"/>
                </a:solidFill>
                <a:latin typeface="Georgia"/>
              </a:rPr>
              <a:t>4.403€ + IVA</a:t>
            </a:r>
          </a:p>
        </p:txBody>
      </p:sp>
      <p:sp>
        <p:nvSpPr>
          <p:cNvPr id="7" name="sv_s10_market_label">
            <a:extLst>
              <a:ext uri="{FF2B5EF4-FFF2-40B4-BE49-F238E27FC236}">
                <a16:creationId xmlns:a16="http://schemas.microsoft.com/office/drawing/2014/main" id="{7D4312ED-83AA-3EE0-74DD-869DC9893618}"/>
              </a:ext>
            </a:extLst>
          </p:cNvPr>
          <p:cNvSpPr txBox="1"/>
          <p:nvPr/>
        </p:nvSpPr>
        <p:spPr>
          <a:xfrm>
            <a:off x="3627120" y="3858768"/>
            <a:ext cx="493776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304F"/>
                </a:solidFill>
                <a:latin typeface="Georgia"/>
              </a:rPr>
              <a:t>Valor unitario de mercado</a:t>
            </a:r>
          </a:p>
        </p:txBody>
      </p:sp>
      <p:sp>
        <p:nvSpPr>
          <p:cNvPr id="8" name="sv_s10_market_description">
            <a:extLst>
              <a:ext uri="{FF2B5EF4-FFF2-40B4-BE49-F238E27FC236}">
                <a16:creationId xmlns:a16="http://schemas.microsoft.com/office/drawing/2014/main" id="{BFD1E22C-3188-F548-46C2-05DA7A37D369}"/>
              </a:ext>
            </a:extLst>
          </p:cNvPr>
          <p:cNvSpPr txBox="1"/>
          <p:nvPr/>
        </p:nvSpPr>
        <p:spPr>
          <a:xfrm>
            <a:off x="3398520" y="4396897"/>
            <a:ext cx="5394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04F"/>
                </a:solidFill>
                <a:latin typeface="Arial"/>
              </a:rPr>
              <a:t>Precio si se comprara ventana a ventana</a:t>
            </a:r>
          </a:p>
        </p:txBody>
      </p:sp>
    </p:spTree>
    <p:extLst>
      <p:ext uri="{BB962C8B-B14F-4D97-AF65-F5344CB8AC3E}">
        <p14:creationId xmlns:p14="http://schemas.microsoft.com/office/powerpoint/2010/main" val="112918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11_title">
            <a:extLst>
              <a:ext uri="{FF2B5EF4-FFF2-40B4-BE49-F238E27FC236}">
                <a16:creationId xmlns:a16="http://schemas.microsoft.com/office/drawing/2014/main" id="{DB3592E0-505E-603D-57A5-02AD82349FD4}"/>
              </a:ext>
            </a:extLst>
          </p:cNvPr>
          <p:cNvSpPr txBox="1"/>
          <p:nvPr/>
        </p:nvSpPr>
        <p:spPr>
          <a:xfrm>
            <a:off x="420624" y="393192"/>
            <a:ext cx="255999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100">
                <a:solidFill>
                  <a:srgbClr val="2B4EA6"/>
                </a:solidFill>
                <a:latin typeface="Georgia"/>
              </a:rPr>
              <a:t>Tu precio final</a:t>
            </a:r>
          </a:p>
        </p:txBody>
      </p:sp>
      <p:sp>
        <p:nvSpPr>
          <p:cNvPr id="5" name="sv_s11_subtitle">
            <a:extLst>
              <a:ext uri="{FF2B5EF4-FFF2-40B4-BE49-F238E27FC236}">
                <a16:creationId xmlns:a16="http://schemas.microsoft.com/office/drawing/2014/main" id="{7351A05B-3561-1525-A25F-43ABC4E2D8DF}"/>
              </a:ext>
            </a:extLst>
          </p:cNvPr>
          <p:cNvSpPr txBox="1"/>
          <p:nvPr/>
        </p:nvSpPr>
        <p:spPr>
          <a:xfrm>
            <a:off x="420624" y="941832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9304F"/>
                </a:solidFill>
                <a:latin typeface="Arial"/>
              </a:rPr>
              <a:t>Con instalación incluida. Sin sorpresas.</a:t>
            </a:r>
          </a:p>
        </p:txBody>
      </p:sp>
      <p:sp>
        <p:nvSpPr>
          <p:cNvPr id="6" name="sv_s11_final_price">
            <a:extLst>
              <a:ext uri="{FF2B5EF4-FFF2-40B4-BE49-F238E27FC236}">
                <a16:creationId xmlns:a16="http://schemas.microsoft.com/office/drawing/2014/main" id="{9CB79BA2-6A97-3F79-B702-B13185CE9E7E}"/>
              </a:ext>
            </a:extLst>
          </p:cNvPr>
          <p:cNvSpPr txBox="1"/>
          <p:nvPr/>
        </p:nvSpPr>
        <p:spPr>
          <a:xfrm>
            <a:off x="4617720" y="1389888"/>
            <a:ext cx="448056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900" b="0" i="0">
                <a:solidFill>
                  <a:srgbClr val="19304F"/>
                </a:solidFill>
                <a:latin typeface="Georgia"/>
              </a:rPr>
              <a:t>3.282€</a:t>
            </a:r>
          </a:p>
        </p:txBody>
      </p:sp>
      <p:sp>
        <p:nvSpPr>
          <p:cNvPr id="7" name="sv_s11_price_label">
            <a:extLst>
              <a:ext uri="{FF2B5EF4-FFF2-40B4-BE49-F238E27FC236}">
                <a16:creationId xmlns:a16="http://schemas.microsoft.com/office/drawing/2014/main" id="{F163917F-C30C-787E-BABC-F2E884F276F0}"/>
              </a:ext>
            </a:extLst>
          </p:cNvPr>
          <p:cNvSpPr txBox="1"/>
          <p:nvPr/>
        </p:nvSpPr>
        <p:spPr>
          <a:xfrm>
            <a:off x="4617720" y="2039112"/>
            <a:ext cx="44805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304F"/>
                </a:solidFill>
                <a:latin typeface="Georgia"/>
              </a:rPr>
              <a:t>Precio final cerrado</a:t>
            </a:r>
          </a:p>
        </p:txBody>
      </p:sp>
      <p:sp>
        <p:nvSpPr>
          <p:cNvPr id="8" name="sv_s11_price_details">
            <a:extLst>
              <a:ext uri="{FF2B5EF4-FFF2-40B4-BE49-F238E27FC236}">
                <a16:creationId xmlns:a16="http://schemas.microsoft.com/office/drawing/2014/main" id="{D4A9630B-D446-DEE1-7B38-5A4DBD25E4FB}"/>
              </a:ext>
            </a:extLst>
          </p:cNvPr>
          <p:cNvSpPr txBox="1"/>
          <p:nvPr/>
        </p:nvSpPr>
        <p:spPr>
          <a:xfrm>
            <a:off x="4251960" y="2450592"/>
            <a:ext cx="5212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9304F"/>
                </a:solidFill>
                <a:latin typeface="Arial"/>
              </a:rPr>
              <a:t>+ IVA · Instalación incluida · Sin costes adicionales</a:t>
            </a:r>
          </a:p>
        </p:txBody>
      </p:sp>
      <p:sp>
        <p:nvSpPr>
          <p:cNvPr id="9" name="Isosceles Triangle 6">
            <a:extLst>
              <a:ext uri="{FF2B5EF4-FFF2-40B4-BE49-F238E27FC236}">
                <a16:creationId xmlns:a16="http://schemas.microsoft.com/office/drawing/2014/main" id="{39137625-2B6C-BD60-CEDF-DE006EDF2A9F}"/>
              </a:ext>
            </a:extLst>
          </p:cNvPr>
          <p:cNvSpPr/>
          <p:nvPr/>
        </p:nvSpPr>
        <p:spPr>
          <a:xfrm rot="5400000">
            <a:off x="310896" y="2441448"/>
            <a:ext cx="109728" cy="109728"/>
          </a:xfrm>
          <a:prstGeom prst="triangle">
            <a:avLst/>
          </a:prstGeom>
          <a:solidFill>
            <a:srgbClr val="9B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v_s11_amortization_heading">
            <a:extLst>
              <a:ext uri="{FF2B5EF4-FFF2-40B4-BE49-F238E27FC236}">
                <a16:creationId xmlns:a16="http://schemas.microsoft.com/office/drawing/2014/main" id="{F8EE5706-F0DF-1C24-93FE-4A430E4E1859}"/>
              </a:ext>
            </a:extLst>
          </p:cNvPr>
          <p:cNvSpPr txBox="1"/>
          <p:nvPr/>
        </p:nvSpPr>
        <p:spPr>
          <a:xfrm>
            <a:off x="420624" y="2788920"/>
            <a:ext cx="51206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B4EA6"/>
                </a:solidFill>
                <a:latin typeface="Georgia"/>
              </a:rPr>
              <a:t>¿Cómo se amortiza tu inversión?</a:t>
            </a:r>
          </a:p>
        </p:txBody>
      </p:sp>
      <p:graphicFrame>
        <p:nvGraphicFramePr>
          <p:cNvPr id="11" name="sv_s11_amortization_table">
            <a:extLst>
              <a:ext uri="{FF2B5EF4-FFF2-40B4-BE49-F238E27FC236}">
                <a16:creationId xmlns:a16="http://schemas.microsoft.com/office/drawing/2014/main" id="{4607BE64-EA67-7BA4-4E03-834EA5DA9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7011"/>
              </p:ext>
            </p:extLst>
          </p:nvPr>
        </p:nvGraphicFramePr>
        <p:xfrm>
          <a:off x="420624" y="3182112"/>
          <a:ext cx="11320272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Periodo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Ahorro anual estimado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Ahorro acumulado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Beneficio neto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10 años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15 años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20 años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30 años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v_s11_estimation_note">
            <a:extLst>
              <a:ext uri="{FF2B5EF4-FFF2-40B4-BE49-F238E27FC236}">
                <a16:creationId xmlns:a16="http://schemas.microsoft.com/office/drawing/2014/main" id="{5211A5C6-711E-BEB8-CF63-441228499E06}"/>
              </a:ext>
            </a:extLst>
          </p:cNvPr>
          <p:cNvSpPr txBox="1"/>
          <p:nvPr/>
        </p:nvSpPr>
        <p:spPr>
          <a:xfrm>
            <a:off x="449362" y="5181427"/>
            <a:ext cx="11291534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1">
                <a:solidFill>
                  <a:srgbClr val="19304F"/>
                </a:solidFill>
                <a:latin typeface="Arial"/>
              </a:rPr>
              <a:t>*Estimación basada en un gasto energético anual de entre 1.000€ y 1.500€ (media: 1.250€/año), con un ahorro medio del 40% gracias al nuevo aislamiento</a:t>
            </a:r>
            <a:r>
              <a:rPr lang="es-ES" sz="1150" i="1">
                <a:solidFill>
                  <a:srgbClr val="19304F"/>
                </a:solidFill>
                <a:latin typeface="Arial"/>
              </a:rPr>
              <a:t> térmico = ~500€/año de ahorro. Amortización estimada: ~14 años. Vida útil del producto: +35 años.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150" b="0" i="1">
              <a:solidFill>
                <a:srgbClr val="19304F"/>
              </a:solidFill>
              <a:latin typeface="Arial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7D1C6274-7837-E523-01E2-5B4DBC23C3D6}"/>
              </a:ext>
            </a:extLst>
          </p:cNvPr>
          <p:cNvSpPr/>
          <p:nvPr/>
        </p:nvSpPr>
        <p:spPr>
          <a:xfrm>
            <a:off x="420624" y="5879592"/>
            <a:ext cx="11320272" cy="576072"/>
          </a:xfrm>
          <a:prstGeom prst="rect">
            <a:avLst/>
          </a:prstGeom>
          <a:solidFill>
            <a:srgbClr val="C2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92396C3E-EE96-AA01-27E3-8B28DF0A3B11}"/>
              </a:ext>
            </a:extLst>
          </p:cNvPr>
          <p:cNvSpPr/>
          <p:nvPr/>
        </p:nvSpPr>
        <p:spPr>
          <a:xfrm>
            <a:off x="646922" y="6096390"/>
            <a:ext cx="128016" cy="128016"/>
          </a:xfrm>
          <a:prstGeom prst="rect">
            <a:avLst/>
          </a:prstGeom>
          <a:noFill/>
          <a:ln w="16510">
            <a:solidFill>
              <a:srgbClr val="2B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v_s11_tip_text">
            <a:extLst>
              <a:ext uri="{FF2B5EF4-FFF2-40B4-BE49-F238E27FC236}">
                <a16:creationId xmlns:a16="http://schemas.microsoft.com/office/drawing/2014/main" id="{F1691369-D917-467D-5C11-A08E516E038B}"/>
              </a:ext>
            </a:extLst>
          </p:cNvPr>
          <p:cNvSpPr txBox="1"/>
          <p:nvPr/>
        </p:nvSpPr>
        <p:spPr>
          <a:xfrm>
            <a:off x="1230665" y="6032382"/>
            <a:ext cx="102412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61616"/>
                </a:solidFill>
                <a:latin typeface="Arial"/>
              </a:rPr>
              <a:t>La vida útil media de una ventana de PVC de calidad supera los 35 años. Cada año que pasa, la inversión trabaja para ti.</a:t>
            </a:r>
          </a:p>
        </p:txBody>
      </p:sp>
      <p:pic>
        <p:nvPicPr>
          <p:cNvPr id="20" name="sv_s11_tip_icon" descr="Bombilla con relleno sólido">
            <a:extLst>
              <a:ext uri="{FF2B5EF4-FFF2-40B4-BE49-F238E27FC236}">
                <a16:creationId xmlns:a16="http://schemas.microsoft.com/office/drawing/2014/main" id="{D7A74FEE-964D-427F-E619-4CF5C73E3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9117" y="5989320"/>
            <a:ext cx="342156" cy="34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3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7953D415-6688-9391-2A28-3FBE7469EC2B}"/>
              </a:ext>
            </a:extLst>
          </p:cNvPr>
          <p:cNvSpPr txBox="1"/>
          <p:nvPr/>
        </p:nvSpPr>
        <p:spPr>
          <a:xfrm>
            <a:off x="438912" y="256032"/>
            <a:ext cx="252953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2B4EA6"/>
                </a:solidFill>
                <a:latin typeface="Georgia"/>
              </a:rPr>
              <a:t>¿</a:t>
            </a:r>
            <a:r>
              <a:rPr sz="3100">
                <a:solidFill>
                  <a:srgbClr val="2B4EA6"/>
                </a:solidFill>
                <a:latin typeface="Georgia"/>
              </a:rPr>
              <a:t>Empezamos?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FC48977-A888-7BE8-9E4F-92D5227D3EE3}"/>
              </a:ext>
            </a:extLst>
          </p:cNvPr>
          <p:cNvSpPr txBox="1"/>
          <p:nvPr/>
        </p:nvSpPr>
        <p:spPr>
          <a:xfrm>
            <a:off x="438912" y="785050"/>
            <a:ext cx="80467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9304F"/>
                </a:solidFill>
                <a:latin typeface="Arial"/>
              </a:rPr>
              <a:t>Estamos a un paso de transformar tu hogar.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BBEB788-8870-4A70-0778-13CCE8235C15}"/>
              </a:ext>
            </a:extLst>
          </p:cNvPr>
          <p:cNvSpPr txBox="1"/>
          <p:nvPr/>
        </p:nvSpPr>
        <p:spPr>
          <a:xfrm>
            <a:off x="438912" y="1086802"/>
            <a:ext cx="109728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9304F"/>
                </a:solidFill>
                <a:latin typeface="Arial"/>
              </a:rPr>
              <a:t>Esta propuesta ha sido preparada especialmente para ti. Si tienes cualquier duda o quieres dar el siguiente paso, estamos aquí para ayudarte.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6388171-AE10-393C-7CAB-9E274D925188}"/>
              </a:ext>
            </a:extLst>
          </p:cNvPr>
          <p:cNvSpPr txBox="1"/>
          <p:nvPr/>
        </p:nvSpPr>
        <p:spPr>
          <a:xfrm>
            <a:off x="438912" y="1361122"/>
            <a:ext cx="64008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2B4EA6"/>
                </a:solidFill>
                <a:latin typeface="Georgia"/>
              </a:rPr>
              <a:t>Elige cómo quieres dar el siguiente paso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3C552F-2B39-906A-47D8-C9AF9E74417C}"/>
              </a:ext>
            </a:extLst>
          </p:cNvPr>
          <p:cNvSpPr/>
          <p:nvPr/>
        </p:nvSpPr>
        <p:spPr>
          <a:xfrm>
            <a:off x="438912" y="1722309"/>
            <a:ext cx="5532120" cy="1814628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0F12CAAD-EE37-1F23-9FF7-DA5D71AC8156}"/>
              </a:ext>
            </a:extLst>
          </p:cNvPr>
          <p:cNvSpPr/>
          <p:nvPr/>
        </p:nvSpPr>
        <p:spPr>
          <a:xfrm>
            <a:off x="557784" y="1794279"/>
            <a:ext cx="402336" cy="409784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5091E78C-286B-3D7D-DB0A-639E298A395C}"/>
              </a:ext>
            </a:extLst>
          </p:cNvPr>
          <p:cNvSpPr txBox="1"/>
          <p:nvPr/>
        </p:nvSpPr>
        <p:spPr>
          <a:xfrm>
            <a:off x="1088135" y="1870307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¡ACEPTA EN 10 DÍAS Y ELIGE TU REGALO!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19F77BB1-2F55-72BE-9ED7-8E5E1712FBDB}"/>
              </a:ext>
            </a:extLst>
          </p:cNvPr>
          <p:cNvSpPr txBox="1"/>
          <p:nvPr/>
        </p:nvSpPr>
        <p:spPr>
          <a:xfrm>
            <a:off x="603503" y="2266984"/>
            <a:ext cx="5246235" cy="1152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Al aceptar el presupuesto en los próximos 10 días, te llevas uno de estos regalos exclusivos sin coste adicional:
• 🔧 Motorización de una de las persianas. La que tú quieras.
• Descuento extra aceptando el presupuesto en un espacio de tiempo limitado.
• Mosquitera para una de las estancias.
Elige el que más te convenga. Solo por confiar en nosotros.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012005F0-F651-AEDB-ED19-7B5120580375}"/>
              </a:ext>
            </a:extLst>
          </p:cNvPr>
          <p:cNvSpPr/>
          <p:nvPr/>
        </p:nvSpPr>
        <p:spPr>
          <a:xfrm>
            <a:off x="6135623" y="1722309"/>
            <a:ext cx="5532120" cy="1814628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B62B1BF8-C715-10AE-E703-4BA402D03A2E}"/>
              </a:ext>
            </a:extLst>
          </p:cNvPr>
          <p:cNvSpPr/>
          <p:nvPr/>
        </p:nvSpPr>
        <p:spPr>
          <a:xfrm>
            <a:off x="6291071" y="1784772"/>
            <a:ext cx="410649" cy="414719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D12F2E79-548E-69A0-BB0E-90F95EBEDC56}"/>
              </a:ext>
            </a:extLst>
          </p:cNvPr>
          <p:cNvSpPr txBox="1"/>
          <p:nvPr/>
        </p:nvSpPr>
        <p:spPr>
          <a:xfrm>
            <a:off x="6775703" y="1867310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Garantía de plazo o te compensamos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A17FB43C-1F8B-6EDF-7E3F-A99D8630B1E3}"/>
              </a:ext>
            </a:extLst>
          </p:cNvPr>
          <p:cNvSpPr txBox="1"/>
          <p:nvPr/>
        </p:nvSpPr>
        <p:spPr>
          <a:xfrm>
            <a:off x="6364223" y="2278790"/>
            <a:ext cx="5202936" cy="1152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Nuestro plazo de entrega es de 6/8 semanas desde la aceptación del presupuesto.
Si por cualquier motivo no cumplimos con ese plazo, te bonificamos con 120€ por cada semana de retraso.
Color blanco a dos caras 5/6 semanas.
Folio standar exterior 5/7 semanas.
Folio especial 1 o 2 caras 6/8 semanas.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56954423-C58B-9524-0D0A-04862F689486}"/>
              </a:ext>
            </a:extLst>
          </p:cNvPr>
          <p:cNvSpPr/>
          <p:nvPr/>
        </p:nvSpPr>
        <p:spPr>
          <a:xfrm>
            <a:off x="438911" y="3755682"/>
            <a:ext cx="5532120" cy="11430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F5744DBB-CC9E-30E1-E0D2-07CD5ECDAB33}"/>
              </a:ext>
            </a:extLst>
          </p:cNvPr>
          <p:cNvSpPr/>
          <p:nvPr/>
        </p:nvSpPr>
        <p:spPr>
          <a:xfrm>
            <a:off x="557784" y="3851869"/>
            <a:ext cx="402336" cy="39319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96CA635-F616-51DC-E6A5-7A2F612C9E05}"/>
              </a:ext>
            </a:extLst>
          </p:cNvPr>
          <p:cNvSpPr txBox="1"/>
          <p:nvPr/>
        </p:nvSpPr>
        <p:spPr>
          <a:xfrm>
            <a:off x="1072223" y="3920578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Señaliza con el 70% y ahorra más.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878348B-3999-EA69-21F7-357BF46F7A77}"/>
              </a:ext>
            </a:extLst>
          </p:cNvPr>
          <p:cNvSpPr txBox="1"/>
          <p:nvPr/>
        </p:nvSpPr>
        <p:spPr>
          <a:xfrm>
            <a:off x="603503" y="4327357"/>
            <a:ext cx="5246235" cy="32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Adelanta el 70% al confirmar el pedido y obtén un descuento EXTRA del 2% de parte de SmartVitra. Una forma de agradecerte tu confianza.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54E6179E-A31A-A4E0-5921-96422DE306D2}"/>
              </a:ext>
            </a:extLst>
          </p:cNvPr>
          <p:cNvSpPr/>
          <p:nvPr/>
        </p:nvSpPr>
        <p:spPr>
          <a:xfrm>
            <a:off x="6135623" y="3762335"/>
            <a:ext cx="5532120" cy="11430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937571F2-8D3F-7453-E4FE-723DEB58AEA3}"/>
              </a:ext>
            </a:extLst>
          </p:cNvPr>
          <p:cNvSpPr/>
          <p:nvPr/>
        </p:nvSpPr>
        <p:spPr>
          <a:xfrm>
            <a:off x="6254080" y="3858522"/>
            <a:ext cx="416350" cy="381851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5011D735-E63C-1408-2103-39FAC982833C}"/>
              </a:ext>
            </a:extLst>
          </p:cNvPr>
          <p:cNvSpPr txBox="1"/>
          <p:nvPr/>
        </p:nvSpPr>
        <p:spPr>
          <a:xfrm>
            <a:off x="6738712" y="3922530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Forma de pago habitual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AFE93A16-1B27-E162-CEBF-96778FAA62FB}"/>
              </a:ext>
            </a:extLst>
          </p:cNvPr>
          <p:cNvSpPr txBox="1"/>
          <p:nvPr/>
        </p:nvSpPr>
        <p:spPr>
          <a:xfrm>
            <a:off x="6364223" y="4313525"/>
            <a:ext cx="5084065" cy="32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50% al aceptar · 30% al fijar fecha de instalación (aprox. 6 semanas) · 20% restante al finalizar la obra.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3B8B5C9-7009-921B-9107-DA7647FFC4BB}"/>
              </a:ext>
            </a:extLst>
          </p:cNvPr>
          <p:cNvSpPr/>
          <p:nvPr/>
        </p:nvSpPr>
        <p:spPr>
          <a:xfrm>
            <a:off x="438911" y="5160110"/>
            <a:ext cx="5532120" cy="1441858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6">
            <a:extLst>
              <a:ext uri="{FF2B5EF4-FFF2-40B4-BE49-F238E27FC236}">
                <a16:creationId xmlns:a16="http://schemas.microsoft.com/office/drawing/2014/main" id="{1B52F415-F2FE-9089-29AF-720983953736}"/>
              </a:ext>
            </a:extLst>
          </p:cNvPr>
          <p:cNvSpPr/>
          <p:nvPr/>
        </p:nvSpPr>
        <p:spPr>
          <a:xfrm>
            <a:off x="557784" y="5260693"/>
            <a:ext cx="443484" cy="402336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20667C7C-DA27-0E88-B004-6C60198AAAD1}"/>
              </a:ext>
            </a:extLst>
          </p:cNvPr>
          <p:cNvSpPr txBox="1"/>
          <p:nvPr/>
        </p:nvSpPr>
        <p:spPr>
          <a:xfrm>
            <a:off x="1120141" y="5342990"/>
            <a:ext cx="1096365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Hablamos sin compromiso</a:t>
            </a: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C427E57F-BBBF-E2D4-BC79-F908D71A1D22}"/>
              </a:ext>
            </a:extLst>
          </p:cNvPr>
          <p:cNvSpPr txBox="1"/>
          <p:nvPr/>
        </p:nvSpPr>
        <p:spPr>
          <a:xfrm>
            <a:off x="603503" y="5740004"/>
            <a:ext cx="5055109" cy="164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¿Tienes dudas? Llámanos o escríbenos. Te resolvemos todo antes de decidir.</a:t>
            </a: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889081B1-BA24-E811-C066-AB88645BC9CF}"/>
              </a:ext>
            </a:extLst>
          </p:cNvPr>
          <p:cNvSpPr/>
          <p:nvPr/>
        </p:nvSpPr>
        <p:spPr>
          <a:xfrm>
            <a:off x="6121908" y="5161261"/>
            <a:ext cx="5498593" cy="1440707"/>
          </a:xfrm>
          <a:prstGeom prst="rect">
            <a:avLst/>
          </a:prstGeom>
          <a:solidFill>
            <a:srgbClr val="EBA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1">
            <a:extLst>
              <a:ext uri="{FF2B5EF4-FFF2-40B4-BE49-F238E27FC236}">
                <a16:creationId xmlns:a16="http://schemas.microsoft.com/office/drawing/2014/main" id="{56324C2D-890E-E330-6FB6-C3888553682C}"/>
              </a:ext>
            </a:extLst>
          </p:cNvPr>
          <p:cNvSpPr txBox="1"/>
          <p:nvPr/>
        </p:nvSpPr>
        <p:spPr>
          <a:xfrm>
            <a:off x="6301925" y="5243559"/>
            <a:ext cx="2050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B40000"/>
                </a:solidFill>
                <a:latin typeface="Arial"/>
              </a:rPr>
              <a:t>⊗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4A1D1058-9626-1E8B-816B-FA61E2790D12}"/>
              </a:ext>
            </a:extLst>
          </p:cNvPr>
          <p:cNvSpPr txBox="1"/>
          <p:nvPr/>
        </p:nvSpPr>
        <p:spPr>
          <a:xfrm>
            <a:off x="6623296" y="5282098"/>
            <a:ext cx="23083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32300"/>
                </a:solidFill>
                <a:latin typeface="Arial"/>
              </a:rPr>
              <a:t>⚠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B76CD10F-FC0C-E9D8-8FDE-3291AAEA1409}"/>
              </a:ext>
            </a:extLst>
          </p:cNvPr>
          <p:cNvSpPr txBox="1"/>
          <p:nvPr/>
        </p:nvSpPr>
        <p:spPr>
          <a:xfrm>
            <a:off x="6291071" y="5608813"/>
            <a:ext cx="5117454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RECUERDA</a:t>
            </a:r>
            <a:r>
              <a:rPr sz="1120" b="0" i="0">
                <a:solidFill>
                  <a:srgbClr val="141414"/>
                </a:solidFill>
                <a:latin typeface="Arial"/>
              </a:rPr>
              <a:t>: Esta oferta y el regalo solo están disponibles si aceptas en los próximos 10 días. ¡No dejes pasar esta oportunidad!</a:t>
            </a:r>
          </a:p>
        </p:txBody>
      </p:sp>
      <p:pic>
        <p:nvPicPr>
          <p:cNvPr id="39" name="Gráfico 38" descr="Regalo contorno">
            <a:extLst>
              <a:ext uri="{FF2B5EF4-FFF2-40B4-BE49-F238E27FC236}">
                <a16:creationId xmlns:a16="http://schemas.microsoft.com/office/drawing/2014/main" id="{5AA89654-0264-272B-44E9-476C2E841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7737" y="1832828"/>
            <a:ext cx="302430" cy="302430"/>
          </a:xfrm>
          <a:prstGeom prst="rect">
            <a:avLst/>
          </a:prstGeom>
        </p:spPr>
      </p:pic>
      <p:pic>
        <p:nvPicPr>
          <p:cNvPr id="41" name="Gráfico 40" descr="Calendario giratorio con relleno sólido">
            <a:extLst>
              <a:ext uri="{FF2B5EF4-FFF2-40B4-BE49-F238E27FC236}">
                <a16:creationId xmlns:a16="http://schemas.microsoft.com/office/drawing/2014/main" id="{F7722913-CED6-F883-139A-3D5476F629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425" y="1823982"/>
            <a:ext cx="338005" cy="338005"/>
          </a:xfrm>
          <a:prstGeom prst="rect">
            <a:avLst/>
          </a:prstGeom>
        </p:spPr>
      </p:pic>
      <p:pic>
        <p:nvPicPr>
          <p:cNvPr id="43" name="Gráfico 42" descr="Regalo con relleno sólido">
            <a:extLst>
              <a:ext uri="{FF2B5EF4-FFF2-40B4-BE49-F238E27FC236}">
                <a16:creationId xmlns:a16="http://schemas.microsoft.com/office/drawing/2014/main" id="{6AC24EE2-6C24-3DAF-6BD6-B38CB411F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198" y="3890788"/>
            <a:ext cx="280433" cy="280433"/>
          </a:xfrm>
          <a:prstGeom prst="rect">
            <a:avLst/>
          </a:prstGeom>
        </p:spPr>
      </p:pic>
      <p:pic>
        <p:nvPicPr>
          <p:cNvPr id="45" name="Gráfico 44" descr="Tarjeta de crédito contorno">
            <a:extLst>
              <a:ext uri="{FF2B5EF4-FFF2-40B4-BE49-F238E27FC236}">
                <a16:creationId xmlns:a16="http://schemas.microsoft.com/office/drawing/2014/main" id="{E19F8F4D-602B-8971-080E-4B36C7D7C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660" y="3881224"/>
            <a:ext cx="334482" cy="334482"/>
          </a:xfrm>
          <a:prstGeom prst="rect">
            <a:avLst/>
          </a:prstGeom>
        </p:spPr>
      </p:pic>
      <p:pic>
        <p:nvPicPr>
          <p:cNvPr id="47" name="Gráfico 46" descr="Auricular con relleno sólido">
            <a:extLst>
              <a:ext uri="{FF2B5EF4-FFF2-40B4-BE49-F238E27FC236}">
                <a16:creationId xmlns:a16="http://schemas.microsoft.com/office/drawing/2014/main" id="{DC3BC230-9D2D-48F1-D05D-E4C9B2F81B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137" y="5319668"/>
            <a:ext cx="260779" cy="26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248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</TotalTime>
  <Words>1322</Words>
  <Application>Microsoft Macintosh PowerPoint</Application>
  <PresentationFormat>Panorámica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Georgia</vt:lpstr>
      <vt:lpstr>Tema de Office</vt:lpstr>
      <vt:lpstr>Presentación de PowerPoint</vt:lpstr>
      <vt:lpstr>¿Cómo esta tu vivienda?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 Martínez</dc:creator>
  <cp:lastModifiedBy>Alberto  Martínez</cp:lastModifiedBy>
  <cp:revision>9</cp:revision>
  <dcterms:created xsi:type="dcterms:W3CDTF">2026-08-10T10:55:12Z</dcterms:created>
  <dcterms:modified xsi:type="dcterms:W3CDTF">2026-08-12T09:24:21Z</dcterms:modified>
</cp:coreProperties>
</file>