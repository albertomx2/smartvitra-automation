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media/image24.jpg" ContentType="image/jpg"/>
  <Override PartName="/ppt/media/image3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>
      <p:cViewPr varScale="1">
        <p:scale>
          <a:sx n="104" d="100"/>
          <a:sy n="104" d="100"/>
        </p:scale>
        <p:origin x="232" y="5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840" y="480695"/>
            <a:ext cx="8241665" cy="56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hyperlink" Target="https://g.page/r/CfoccmQ83BZCEBM/review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_s01_cover_phot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8840" y="702913"/>
            <a:ext cx="100203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solidFill>
                  <a:srgbClr val="007EBC"/>
                </a:solidFill>
                <a:latin typeface="Microsoft JhengHei UI"/>
                <a:cs typeface="Microsoft JhengHei UI"/>
              </a:rPr>
              <a:t>SMARTVITRA</a:t>
            </a:r>
            <a:endParaRPr sz="1200">
              <a:latin typeface="Microsoft JhengHei UI"/>
              <a:cs typeface="Microsoft JhengHei U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840" y="986567"/>
            <a:ext cx="6119495" cy="1240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880"/>
              </a:lnSpc>
            </a:pPr>
            <a:r>
              <a:rPr sz="3900" spc="-330" dirty="0"/>
              <a:t>Una</a:t>
            </a:r>
            <a:r>
              <a:rPr sz="3900" spc="-120" dirty="0"/>
              <a:t> </a:t>
            </a:r>
            <a:r>
              <a:rPr sz="3900" spc="-280" dirty="0"/>
              <a:t>propuesta</a:t>
            </a:r>
            <a:r>
              <a:rPr sz="3900" spc="-120" dirty="0"/>
              <a:t> </a:t>
            </a:r>
            <a:r>
              <a:rPr sz="3900" spc="-275" dirty="0"/>
              <a:t>creada</a:t>
            </a:r>
            <a:r>
              <a:rPr sz="3900" spc="-120" dirty="0"/>
              <a:t> </a:t>
            </a:r>
            <a:r>
              <a:rPr sz="3900" spc="-340" dirty="0"/>
              <a:t>para </a:t>
            </a:r>
            <a:r>
              <a:rPr sz="3900" spc="-245" dirty="0"/>
              <a:t>esta</a:t>
            </a:r>
            <a:r>
              <a:rPr sz="3900" spc="-105" dirty="0"/>
              <a:t> </a:t>
            </a:r>
            <a:r>
              <a:rPr sz="3900" spc="-85" dirty="0"/>
              <a:t>vivienda</a:t>
            </a:r>
            <a:endParaRPr sz="3900"/>
          </a:p>
        </p:txBody>
      </p:sp>
      <p:sp>
        <p:nvSpPr>
          <p:cNvPr id="5" name="sv_s01_intro_text"/>
          <p:cNvSpPr txBox="1"/>
          <p:nvPr/>
        </p:nvSpPr>
        <p:spPr>
          <a:xfrm>
            <a:off x="648840" y="2492070"/>
            <a:ext cx="5848985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Hemos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estudiado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vuestra</a:t>
            </a:r>
            <a:r>
              <a:rPr sz="14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vivienda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para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diseñar</a:t>
            </a:r>
            <a:r>
              <a:rPr sz="14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una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solución</a:t>
            </a:r>
            <a:r>
              <a:rPr sz="14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mejore</a:t>
            </a:r>
            <a:r>
              <a:rPr sz="14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confort,</a:t>
            </a:r>
            <a:r>
              <a:rPr sz="14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aislamiento</a:t>
            </a:r>
            <a:r>
              <a:rPr sz="14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estética,</a:t>
            </a:r>
            <a:r>
              <a:rPr sz="14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adaptándonos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 </a:t>
            </a:r>
            <a:r>
              <a:rPr sz="14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vuestras</a:t>
            </a:r>
            <a:r>
              <a:rPr sz="145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necesidades.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000" y="3817873"/>
            <a:ext cx="7016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Cliente: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7" name="sv_s01_customer_name"/>
          <p:cNvSpPr txBox="1"/>
          <p:nvPr/>
        </p:nvSpPr>
        <p:spPr>
          <a:xfrm>
            <a:off x="2601064" y="3817873"/>
            <a:ext cx="148272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Sara</a:t>
            </a:r>
            <a:r>
              <a:rPr sz="145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Ru</a:t>
            </a:r>
            <a:r>
              <a:rPr sz="14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Poyatos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000" y="4360798"/>
            <a:ext cx="92646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Dirección: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9" name="sv_s01_address"/>
          <p:cNvSpPr txBox="1"/>
          <p:nvPr/>
        </p:nvSpPr>
        <p:spPr>
          <a:xfrm>
            <a:off x="2601019" y="4360798"/>
            <a:ext cx="4838981" cy="252729"/>
          </a:xfrm>
          <a:prstGeom prst="rect">
            <a:avLst/>
          </a:prstGeom>
        </p:spPr>
        <p:txBody>
          <a:bodyPr vert="horz" wrap="square" lIns="0" tIns="1714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C/</a:t>
            </a:r>
            <a:r>
              <a:rPr sz="14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Dulcinea</a:t>
            </a:r>
            <a:r>
              <a:rPr sz="14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7,</a:t>
            </a:r>
            <a:r>
              <a:rPr sz="14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Alcorcón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8000" y="4835220"/>
            <a:ext cx="1200785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sz="14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Nº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Presupuesto: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1" name="sv_s01_proposal_number"/>
          <p:cNvSpPr txBox="1"/>
          <p:nvPr/>
        </p:nvSpPr>
        <p:spPr>
          <a:xfrm>
            <a:off x="2601014" y="4913248"/>
            <a:ext cx="69151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S00195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000" y="5760973"/>
            <a:ext cx="61976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Fecha: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3" name="sv_s01_date"/>
          <p:cNvSpPr txBox="1"/>
          <p:nvPr/>
        </p:nvSpPr>
        <p:spPr>
          <a:xfrm>
            <a:off x="2601171" y="5760973"/>
            <a:ext cx="80518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15/07/26</a:t>
            </a:r>
            <a:endParaRPr sz="14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_s02_problem_phot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2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0842" y="1358042"/>
            <a:ext cx="5506720" cy="621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spc="-365" dirty="0"/>
              <a:t>Lo</a:t>
            </a:r>
            <a:r>
              <a:rPr sz="3900" spc="-130" dirty="0"/>
              <a:t> </a:t>
            </a:r>
            <a:r>
              <a:rPr sz="3900" spc="-265" dirty="0"/>
              <a:t>que</a:t>
            </a:r>
            <a:r>
              <a:rPr sz="3900" spc="-130" dirty="0"/>
              <a:t> </a:t>
            </a:r>
            <a:r>
              <a:rPr sz="3900" spc="-310" dirty="0"/>
              <a:t>hemos</a:t>
            </a:r>
            <a:r>
              <a:rPr sz="3900" spc="-130" dirty="0"/>
              <a:t> </a:t>
            </a:r>
            <a:r>
              <a:rPr sz="3900" spc="-200" dirty="0"/>
              <a:t>detectado</a:t>
            </a:r>
            <a:endParaRPr sz="3900"/>
          </a:p>
        </p:txBody>
      </p:sp>
      <p:sp>
        <p:nvSpPr>
          <p:cNvPr id="4" name="object 4"/>
          <p:cNvSpPr/>
          <p:nvPr/>
        </p:nvSpPr>
        <p:spPr>
          <a:xfrm>
            <a:off x="5305425" y="2349868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4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v_s02_issue_1"/>
          <p:cNvSpPr txBox="1"/>
          <p:nvPr/>
        </p:nvSpPr>
        <p:spPr>
          <a:xfrm>
            <a:off x="5835053" y="2322448"/>
            <a:ext cx="233870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solidFill>
                  <a:srgbClr val="262424"/>
                </a:solidFill>
                <a:latin typeface="Tahoma"/>
                <a:cs typeface="Tahoma"/>
              </a:rPr>
              <a:t>NULO</a:t>
            </a:r>
            <a:r>
              <a:rPr sz="1450" b="1" spc="-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aislamiento</a:t>
            </a:r>
            <a:r>
              <a:rPr sz="14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térmico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72500" y="2349868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5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v_s02_issue_2"/>
          <p:cNvSpPr txBox="1"/>
          <p:nvPr/>
        </p:nvSpPr>
        <p:spPr>
          <a:xfrm>
            <a:off x="9101531" y="2244420"/>
            <a:ext cx="2433320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Renovar</a:t>
            </a:r>
            <a:r>
              <a:rPr sz="1450" spc="2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</a:t>
            </a:r>
            <a:r>
              <a:rPr sz="1450" spc="2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antiguas </a:t>
            </a:r>
            <a:r>
              <a:rPr sz="14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4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4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b="1" spc="60" dirty="0">
                <a:solidFill>
                  <a:srgbClr val="262424"/>
                </a:solidFill>
                <a:latin typeface="Tahoma"/>
                <a:cs typeface="Tahoma"/>
              </a:rPr>
              <a:t>MUY</a:t>
            </a:r>
            <a:r>
              <a:rPr sz="1450" b="1" spc="-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b="1" spc="75" dirty="0">
                <a:solidFill>
                  <a:srgbClr val="262424"/>
                </a:solidFill>
                <a:latin typeface="Tahoma"/>
                <a:cs typeface="Tahoma"/>
              </a:rPr>
              <a:t>BAJA</a:t>
            </a:r>
            <a:r>
              <a:rPr sz="1450" b="1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calidad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05425" y="3330943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4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v_s02_issue_3"/>
          <p:cNvSpPr txBox="1"/>
          <p:nvPr/>
        </p:nvSpPr>
        <p:spPr>
          <a:xfrm>
            <a:off x="5835053" y="3244545"/>
            <a:ext cx="2330450" cy="615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262424"/>
                </a:solidFill>
                <a:latin typeface="Tahoma"/>
                <a:cs typeface="Tahoma"/>
              </a:rPr>
              <a:t>REDUCIDA</a:t>
            </a:r>
            <a:r>
              <a:rPr sz="1450" b="1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entrada</a:t>
            </a:r>
            <a:r>
              <a:rPr sz="14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4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luz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natural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572500" y="3330943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5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v_s02_issue_4"/>
          <p:cNvSpPr txBox="1"/>
          <p:nvPr/>
        </p:nvSpPr>
        <p:spPr>
          <a:xfrm>
            <a:off x="9101531" y="3244545"/>
            <a:ext cx="2341880" cy="615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sz="1450" b="1" spc="60" dirty="0">
                <a:solidFill>
                  <a:srgbClr val="262424"/>
                </a:solidFill>
                <a:latin typeface="Tahoma"/>
                <a:cs typeface="Tahoma"/>
              </a:rPr>
              <a:t>CAJONES</a:t>
            </a:r>
            <a:r>
              <a:rPr sz="1450" b="1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4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persianas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enormes</a:t>
            </a:r>
            <a:r>
              <a:rPr sz="14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4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sin</a:t>
            </a:r>
            <a:r>
              <a:rPr sz="14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aislamiento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05425" y="4312018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4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v_s02_issue_5"/>
          <p:cNvSpPr txBox="1"/>
          <p:nvPr/>
        </p:nvSpPr>
        <p:spPr>
          <a:xfrm>
            <a:off x="5835053" y="4225620"/>
            <a:ext cx="2002155" cy="3097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ES" sz="1450" b="1" spc="-10">
                <a:solidFill>
                  <a:srgbClr val="262424"/>
                </a:solidFill>
                <a:latin typeface="Tahoma"/>
                <a:cs typeface="Tahoma"/>
              </a:rPr>
              <a:t>PROBLEMA 5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72500" y="4340593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5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v_s02_issue_6"/>
          <p:cNvSpPr txBox="1"/>
          <p:nvPr/>
        </p:nvSpPr>
        <p:spPr>
          <a:xfrm>
            <a:off x="9101531" y="4242958"/>
            <a:ext cx="2107565" cy="7651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2400" b="1" i="1" spc="-310" dirty="0">
                <a:solidFill>
                  <a:srgbClr val="F44343"/>
                </a:solidFill>
                <a:latin typeface="Georgia"/>
                <a:cs typeface="Georgia"/>
              </a:rPr>
              <a:t>DERROCHE</a:t>
            </a:r>
            <a:r>
              <a:rPr sz="2400" b="1" i="1" spc="-90" dirty="0">
                <a:solidFill>
                  <a:srgbClr val="F44343"/>
                </a:solidFill>
                <a:latin typeface="Georgia"/>
                <a:cs typeface="Georgia"/>
              </a:rPr>
              <a:t> </a:t>
            </a:r>
            <a:r>
              <a:rPr sz="2400" b="1" i="1" spc="-325" dirty="0">
                <a:solidFill>
                  <a:srgbClr val="F44343"/>
                </a:solidFill>
                <a:latin typeface="Georgia"/>
                <a:cs typeface="Georgia"/>
              </a:rPr>
              <a:t>DE </a:t>
            </a:r>
            <a:r>
              <a:rPr sz="2400" b="1" i="1" spc="-300" dirty="0">
                <a:solidFill>
                  <a:srgbClr val="F44343"/>
                </a:solidFill>
                <a:latin typeface="Georgia"/>
                <a:cs typeface="Georgia"/>
              </a:rPr>
              <a:t>DINERO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_s03_generated_solution_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14"/>
              </a:spcBef>
            </a:pPr>
            <a:r>
              <a:rPr sz="3400" spc="-235" dirty="0"/>
              <a:t>Nuestra</a:t>
            </a:r>
            <a:r>
              <a:rPr sz="3400" spc="-70" dirty="0"/>
              <a:t> </a:t>
            </a:r>
            <a:r>
              <a:rPr sz="3400" spc="-210" dirty="0"/>
              <a:t>propuesta</a:t>
            </a:r>
            <a:endParaRPr sz="3400"/>
          </a:p>
        </p:txBody>
      </p:sp>
      <p:pic>
        <p:nvPicPr>
          <p:cNvPr id="4" name="sv_s03_solution_1_ic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899" y="1499895"/>
            <a:ext cx="247649" cy="247649"/>
          </a:xfrm>
          <a:prstGeom prst="rect">
            <a:avLst/>
          </a:prstGeom>
        </p:spPr>
      </p:pic>
      <p:sp>
        <p:nvSpPr>
          <p:cNvPr id="5" name="sv_s03_solution_1"/>
          <p:cNvSpPr txBox="1"/>
          <p:nvPr/>
        </p:nvSpPr>
        <p:spPr>
          <a:xfrm>
            <a:off x="1186260" y="1498346"/>
            <a:ext cx="20751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PVC</a:t>
            </a:r>
            <a:r>
              <a:rPr sz="130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30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altas</a:t>
            </a:r>
            <a:r>
              <a:rPr sz="130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prestaciones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6" name="sv_s03_solution_2_icon"/>
          <p:cNvSpPr/>
          <p:nvPr/>
        </p:nvSpPr>
        <p:spPr>
          <a:xfrm>
            <a:off x="723900" y="2290495"/>
            <a:ext cx="248285" cy="248285"/>
          </a:xfrm>
          <a:custGeom>
            <a:avLst/>
            <a:gdLst/>
            <a:ahLst/>
            <a:cxnLst/>
            <a:rect l="l" t="t" r="r" b="b"/>
            <a:pathLst>
              <a:path w="248284" h="248285">
                <a:moveTo>
                  <a:pt x="37673" y="211734"/>
                </a:moveTo>
                <a:lnTo>
                  <a:pt x="59526" y="189750"/>
                </a:lnTo>
              </a:path>
              <a:path w="248284" h="248285">
                <a:moveTo>
                  <a:pt x="189656" y="188353"/>
                </a:moveTo>
                <a:lnTo>
                  <a:pt x="213206" y="212026"/>
                </a:lnTo>
              </a:path>
              <a:path w="248284" h="248285">
                <a:moveTo>
                  <a:pt x="0" y="125349"/>
                </a:moveTo>
                <a:lnTo>
                  <a:pt x="32142" y="125196"/>
                </a:lnTo>
              </a:path>
              <a:path w="248284" h="248285">
                <a:moveTo>
                  <a:pt x="215249" y="125234"/>
                </a:moveTo>
                <a:lnTo>
                  <a:pt x="247947" y="125234"/>
                </a:lnTo>
              </a:path>
              <a:path w="248284" h="248285">
                <a:moveTo>
                  <a:pt x="35068" y="38138"/>
                </a:moveTo>
                <a:lnTo>
                  <a:pt x="57056" y="60934"/>
                </a:lnTo>
              </a:path>
              <a:path w="248284" h="248285">
                <a:moveTo>
                  <a:pt x="124757" y="0"/>
                </a:moveTo>
                <a:lnTo>
                  <a:pt x="124787" y="35953"/>
                </a:lnTo>
              </a:path>
              <a:path w="248284" h="248285">
                <a:moveTo>
                  <a:pt x="190783" y="61887"/>
                </a:moveTo>
                <a:lnTo>
                  <a:pt x="213281" y="39522"/>
                </a:lnTo>
              </a:path>
              <a:path w="248284" h="248285">
                <a:moveTo>
                  <a:pt x="69264" y="156578"/>
                </a:moveTo>
                <a:lnTo>
                  <a:pt x="67101" y="152717"/>
                </a:lnTo>
                <a:lnTo>
                  <a:pt x="65360" y="148666"/>
                </a:lnTo>
                <a:lnTo>
                  <a:pt x="64046" y="144424"/>
                </a:lnTo>
                <a:lnTo>
                  <a:pt x="62735" y="140195"/>
                </a:lnTo>
                <a:lnTo>
                  <a:pt x="61873" y="135864"/>
                </a:lnTo>
                <a:lnTo>
                  <a:pt x="61465" y="131457"/>
                </a:lnTo>
                <a:lnTo>
                  <a:pt x="61064" y="127038"/>
                </a:lnTo>
                <a:lnTo>
                  <a:pt x="61118" y="122631"/>
                </a:lnTo>
                <a:lnTo>
                  <a:pt x="74989" y="85953"/>
                </a:lnTo>
                <a:lnTo>
                  <a:pt x="77995" y="82702"/>
                </a:lnTo>
                <a:lnTo>
                  <a:pt x="81001" y="79438"/>
                </a:lnTo>
                <a:lnTo>
                  <a:pt x="84316" y="76530"/>
                </a:lnTo>
                <a:lnTo>
                  <a:pt x="87937" y="73977"/>
                </a:lnTo>
                <a:lnTo>
                  <a:pt x="91554" y="71412"/>
                </a:lnTo>
                <a:lnTo>
                  <a:pt x="95398" y="69253"/>
                </a:lnTo>
                <a:lnTo>
                  <a:pt x="99471" y="67500"/>
                </a:lnTo>
                <a:lnTo>
                  <a:pt x="103544" y="65735"/>
                </a:lnTo>
                <a:lnTo>
                  <a:pt x="107751" y="64427"/>
                </a:lnTo>
                <a:lnTo>
                  <a:pt x="112102" y="63563"/>
                </a:lnTo>
                <a:lnTo>
                  <a:pt x="116447" y="62687"/>
                </a:lnTo>
                <a:lnTo>
                  <a:pt x="120837" y="62280"/>
                </a:lnTo>
                <a:lnTo>
                  <a:pt x="125274" y="62331"/>
                </a:lnTo>
                <a:lnTo>
                  <a:pt x="129703" y="62382"/>
                </a:lnTo>
                <a:lnTo>
                  <a:pt x="134084" y="62890"/>
                </a:lnTo>
                <a:lnTo>
                  <a:pt x="138409" y="63868"/>
                </a:lnTo>
                <a:lnTo>
                  <a:pt x="142736" y="64833"/>
                </a:lnTo>
                <a:lnTo>
                  <a:pt x="146913" y="66243"/>
                </a:lnTo>
                <a:lnTo>
                  <a:pt x="150945" y="68097"/>
                </a:lnTo>
                <a:lnTo>
                  <a:pt x="154974" y="69938"/>
                </a:lnTo>
                <a:lnTo>
                  <a:pt x="179720" y="94589"/>
                </a:lnTo>
                <a:lnTo>
                  <a:pt x="181893" y="98437"/>
                </a:lnTo>
                <a:lnTo>
                  <a:pt x="187582" y="119697"/>
                </a:lnTo>
                <a:lnTo>
                  <a:pt x="187999" y="124104"/>
                </a:lnTo>
                <a:lnTo>
                  <a:pt x="179064" y="157861"/>
                </a:lnTo>
                <a:lnTo>
                  <a:pt x="176813" y="161683"/>
                </a:lnTo>
                <a:lnTo>
                  <a:pt x="161269" y="177241"/>
                </a:lnTo>
                <a:lnTo>
                  <a:pt x="157659" y="179819"/>
                </a:lnTo>
                <a:lnTo>
                  <a:pt x="153818" y="181991"/>
                </a:lnTo>
                <a:lnTo>
                  <a:pt x="149750" y="183756"/>
                </a:lnTo>
                <a:lnTo>
                  <a:pt x="145682" y="185521"/>
                </a:lnTo>
                <a:lnTo>
                  <a:pt x="141475" y="186842"/>
                </a:lnTo>
                <a:lnTo>
                  <a:pt x="137134" y="187718"/>
                </a:lnTo>
              </a:path>
              <a:path w="248284" h="248285">
                <a:moveTo>
                  <a:pt x="124757" y="215328"/>
                </a:moveTo>
                <a:lnTo>
                  <a:pt x="124777" y="247878"/>
                </a:lnTo>
              </a:path>
              <a:path w="248284" h="248285">
                <a:moveTo>
                  <a:pt x="137115" y="187617"/>
                </a:moveTo>
                <a:lnTo>
                  <a:pt x="128933" y="188670"/>
                </a:lnTo>
                <a:lnTo>
                  <a:pt x="120503" y="188626"/>
                </a:lnTo>
                <a:lnTo>
                  <a:pt x="111832" y="187363"/>
                </a:lnTo>
                <a:lnTo>
                  <a:pt x="102924" y="184759"/>
                </a:lnTo>
                <a:lnTo>
                  <a:pt x="92701" y="179892"/>
                </a:lnTo>
                <a:lnTo>
                  <a:pt x="83745" y="173539"/>
                </a:lnTo>
                <a:lnTo>
                  <a:pt x="76056" y="165700"/>
                </a:lnTo>
                <a:lnTo>
                  <a:pt x="69636" y="156375"/>
                </a:lnTo>
              </a:path>
            </a:pathLst>
          </a:custGeom>
          <a:ln w="10981">
            <a:solidFill>
              <a:srgbClr val="007E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v_s03_solution_2"/>
          <p:cNvSpPr txBox="1"/>
          <p:nvPr/>
        </p:nvSpPr>
        <p:spPr>
          <a:xfrm>
            <a:off x="1186260" y="2239695"/>
            <a:ext cx="172593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Vidrio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cuide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spc="-35" dirty="0">
                <a:solidFill>
                  <a:srgbClr val="262424"/>
                </a:solidFill>
                <a:latin typeface="Microsoft JhengHei UI"/>
                <a:cs typeface="Microsoft JhengHei UI"/>
              </a:rPr>
              <a:t>la </a:t>
            </a: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temperatura</a:t>
            </a:r>
            <a:endParaRPr sz="1300">
              <a:latin typeface="Microsoft JhengHei UI"/>
              <a:cs typeface="Microsoft JhengHei UI"/>
            </a:endParaRPr>
          </a:p>
        </p:txBody>
      </p:sp>
      <p:pic>
        <p:nvPicPr>
          <p:cNvPr id="8" name="sv_s03_solution_3_icon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345" y="3089182"/>
            <a:ext cx="258991" cy="251390"/>
          </a:xfrm>
          <a:prstGeom prst="rect">
            <a:avLst/>
          </a:prstGeom>
        </p:spPr>
      </p:pic>
      <p:sp>
        <p:nvSpPr>
          <p:cNvPr id="9" name="sv_s03_solution_3"/>
          <p:cNvSpPr txBox="1"/>
          <p:nvPr/>
        </p:nvSpPr>
        <p:spPr>
          <a:xfrm>
            <a:off x="1186260" y="3030270"/>
            <a:ext cx="210375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</a:t>
            </a:r>
            <a:r>
              <a:rPr sz="1300" spc="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una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hoja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spc="-20" dirty="0">
                <a:solidFill>
                  <a:srgbClr val="262424"/>
                </a:solidFill>
                <a:latin typeface="Microsoft JhengHei UI"/>
                <a:cs typeface="Microsoft JhengHei UI"/>
              </a:rPr>
              <a:t>para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ganar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luminosidad</a:t>
            </a:r>
            <a:endParaRPr sz="1300">
              <a:latin typeface="Microsoft JhengHei UI"/>
              <a:cs typeface="Microsoft JhengHei UI"/>
            </a:endParaRPr>
          </a:p>
        </p:txBody>
      </p:sp>
      <p:pic>
        <p:nvPicPr>
          <p:cNvPr id="10" name="sv_s03_solution_4_icon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601" y="3875654"/>
            <a:ext cx="226723" cy="258924"/>
          </a:xfrm>
          <a:prstGeom prst="rect">
            <a:avLst/>
          </a:prstGeom>
        </p:spPr>
      </p:pic>
      <p:sp>
        <p:nvSpPr>
          <p:cNvPr id="11" name="sv_s03_solution_4"/>
          <p:cNvSpPr txBox="1"/>
          <p:nvPr/>
        </p:nvSpPr>
        <p:spPr>
          <a:xfrm>
            <a:off x="1186260" y="3879596"/>
            <a:ext cx="11461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Oscilobatiente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12" name="sv_s03_solution_5_icon"/>
          <p:cNvSpPr/>
          <p:nvPr/>
        </p:nvSpPr>
        <p:spPr>
          <a:xfrm>
            <a:off x="723900" y="4696536"/>
            <a:ext cx="248285" cy="198755"/>
          </a:xfrm>
          <a:custGeom>
            <a:avLst/>
            <a:gdLst/>
            <a:ahLst/>
            <a:cxnLst/>
            <a:rect l="l" t="t" r="r" b="b"/>
            <a:pathLst>
              <a:path w="248284" h="198754">
                <a:moveTo>
                  <a:pt x="168722" y="73787"/>
                </a:moveTo>
                <a:lnTo>
                  <a:pt x="200868" y="53263"/>
                </a:lnTo>
                <a:lnTo>
                  <a:pt x="202619" y="49796"/>
                </a:lnTo>
              </a:path>
              <a:path w="248284" h="198754">
                <a:moveTo>
                  <a:pt x="161364" y="137185"/>
                </a:moveTo>
                <a:lnTo>
                  <a:pt x="185961" y="147904"/>
                </a:lnTo>
                <a:lnTo>
                  <a:pt x="187295" y="149466"/>
                </a:lnTo>
              </a:path>
              <a:path w="248284" h="198754">
                <a:moveTo>
                  <a:pt x="202619" y="49796"/>
                </a:moveTo>
                <a:lnTo>
                  <a:pt x="204022" y="45872"/>
                </a:lnTo>
                <a:lnTo>
                  <a:pt x="204951" y="42011"/>
                </a:lnTo>
                <a:lnTo>
                  <a:pt x="205472" y="38125"/>
                </a:lnTo>
                <a:lnTo>
                  <a:pt x="205601" y="34213"/>
                </a:lnTo>
                <a:lnTo>
                  <a:pt x="205347" y="30353"/>
                </a:lnTo>
                <a:lnTo>
                  <a:pt x="177695" y="457"/>
                </a:lnTo>
                <a:lnTo>
                  <a:pt x="173860" y="0"/>
                </a:lnTo>
                <a:lnTo>
                  <a:pt x="170016" y="0"/>
                </a:lnTo>
                <a:lnTo>
                  <a:pt x="141014" y="27228"/>
                </a:lnTo>
                <a:lnTo>
                  <a:pt x="140766" y="29578"/>
                </a:lnTo>
                <a:lnTo>
                  <a:pt x="140637" y="32143"/>
                </a:lnTo>
              </a:path>
              <a:path w="248284" h="198754">
                <a:moveTo>
                  <a:pt x="175488" y="105752"/>
                </a:moveTo>
                <a:lnTo>
                  <a:pt x="216782" y="95542"/>
                </a:lnTo>
                <a:lnTo>
                  <a:pt x="245045" y="60032"/>
                </a:lnTo>
                <a:lnTo>
                  <a:pt x="247704" y="47866"/>
                </a:lnTo>
                <a:lnTo>
                  <a:pt x="247947" y="41148"/>
                </a:lnTo>
              </a:path>
              <a:path w="248284" h="198754">
                <a:moveTo>
                  <a:pt x="0" y="105918"/>
                </a:moveTo>
                <a:lnTo>
                  <a:pt x="175488" y="105752"/>
                </a:lnTo>
              </a:path>
              <a:path w="248284" h="198754">
                <a:moveTo>
                  <a:pt x="74" y="74015"/>
                </a:moveTo>
                <a:lnTo>
                  <a:pt x="168722" y="73787"/>
                </a:lnTo>
              </a:path>
              <a:path w="248284" h="198754">
                <a:moveTo>
                  <a:pt x="51931" y="137160"/>
                </a:moveTo>
                <a:lnTo>
                  <a:pt x="161364" y="137185"/>
                </a:lnTo>
              </a:path>
              <a:path w="248284" h="198754">
                <a:moveTo>
                  <a:pt x="186928" y="149783"/>
                </a:moveTo>
                <a:lnTo>
                  <a:pt x="193123" y="161607"/>
                </a:lnTo>
                <a:lnTo>
                  <a:pt x="193690" y="163791"/>
                </a:lnTo>
                <a:lnTo>
                  <a:pt x="193997" y="166014"/>
                </a:lnTo>
                <a:lnTo>
                  <a:pt x="194052" y="168262"/>
                </a:lnTo>
                <a:lnTo>
                  <a:pt x="194101" y="170522"/>
                </a:lnTo>
                <a:lnTo>
                  <a:pt x="193898" y="172745"/>
                </a:lnTo>
                <a:lnTo>
                  <a:pt x="193437" y="174955"/>
                </a:lnTo>
                <a:lnTo>
                  <a:pt x="192975" y="177165"/>
                </a:lnTo>
                <a:lnTo>
                  <a:pt x="192271" y="179285"/>
                </a:lnTo>
                <a:lnTo>
                  <a:pt x="191319" y="181330"/>
                </a:lnTo>
                <a:lnTo>
                  <a:pt x="190366" y="183375"/>
                </a:lnTo>
                <a:lnTo>
                  <a:pt x="183078" y="191846"/>
                </a:lnTo>
                <a:lnTo>
                  <a:pt x="181321" y="193255"/>
                </a:lnTo>
                <a:lnTo>
                  <a:pt x="179421" y="194449"/>
                </a:lnTo>
                <a:lnTo>
                  <a:pt x="177388" y="195414"/>
                </a:lnTo>
                <a:lnTo>
                  <a:pt x="175353" y="196392"/>
                </a:lnTo>
                <a:lnTo>
                  <a:pt x="173235" y="197129"/>
                </a:lnTo>
                <a:lnTo>
                  <a:pt x="171038" y="197612"/>
                </a:lnTo>
                <a:lnTo>
                  <a:pt x="168835" y="198094"/>
                </a:lnTo>
                <a:lnTo>
                  <a:pt x="166603" y="198323"/>
                </a:lnTo>
                <a:lnTo>
                  <a:pt x="164350" y="198297"/>
                </a:lnTo>
                <a:lnTo>
                  <a:pt x="162093" y="198272"/>
                </a:lnTo>
                <a:lnTo>
                  <a:pt x="159871" y="197993"/>
                </a:lnTo>
                <a:lnTo>
                  <a:pt x="157683" y="197446"/>
                </a:lnTo>
                <a:lnTo>
                  <a:pt x="155496" y="196913"/>
                </a:lnTo>
                <a:lnTo>
                  <a:pt x="153391" y="196126"/>
                </a:lnTo>
                <a:lnTo>
                  <a:pt x="151382" y="195097"/>
                </a:lnTo>
                <a:lnTo>
                  <a:pt x="149373" y="194081"/>
                </a:lnTo>
                <a:lnTo>
                  <a:pt x="136251" y="176466"/>
                </a:lnTo>
                <a:lnTo>
                  <a:pt x="135840" y="174256"/>
                </a:lnTo>
              </a:path>
            </a:pathLst>
          </a:custGeom>
          <a:ln w="10981">
            <a:solidFill>
              <a:srgbClr val="007E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v_s03_solution_5"/>
          <p:cNvSpPr txBox="1"/>
          <p:nvPr/>
        </p:nvSpPr>
        <p:spPr>
          <a:xfrm>
            <a:off x="1186260" y="4670171"/>
            <a:ext cx="13074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Microventilación</a:t>
            </a:r>
            <a:endParaRPr sz="1300">
              <a:latin typeface="Microsoft JhengHei UI"/>
              <a:cs typeface="Microsoft JhengHei UI"/>
            </a:endParaRPr>
          </a:p>
        </p:txBody>
      </p:sp>
      <p:pic>
        <p:nvPicPr>
          <p:cNvPr id="14" name="sv_s03_solution_6_icon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8451" y="5456847"/>
            <a:ext cx="258809" cy="258822"/>
          </a:xfrm>
          <a:prstGeom prst="rect">
            <a:avLst/>
          </a:prstGeom>
        </p:spPr>
      </p:pic>
      <p:sp>
        <p:nvSpPr>
          <p:cNvPr id="15" name="sv_s03_solution_6"/>
          <p:cNvSpPr txBox="1"/>
          <p:nvPr/>
        </p:nvSpPr>
        <p:spPr>
          <a:xfrm>
            <a:off x="1186260" y="5428075"/>
            <a:ext cx="161417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spc="-100" dirty="0">
                <a:solidFill>
                  <a:srgbClr val="262424"/>
                </a:solidFill>
                <a:latin typeface="Georgia"/>
                <a:cs typeface="Georgia"/>
              </a:rPr>
              <a:t>Aislamieto</a:t>
            </a:r>
            <a:r>
              <a:rPr sz="1700" b="1" spc="-4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700" b="1" spc="-60" dirty="0">
                <a:solidFill>
                  <a:srgbClr val="262424"/>
                </a:solidFill>
                <a:latin typeface="Georgia"/>
                <a:cs typeface="Georgia"/>
              </a:rPr>
              <a:t>total</a:t>
            </a:r>
            <a:endParaRPr sz="1700">
              <a:latin typeface="Georgia"/>
              <a:cs typeface="Georg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19550" y="1495424"/>
            <a:ext cx="2952750" cy="3305176"/>
            <a:chOff x="4019550" y="1495424"/>
            <a:chExt cx="2952750" cy="2143125"/>
          </a:xfrm>
        </p:grpSpPr>
        <p:sp>
          <p:nvSpPr>
            <p:cNvPr id="17" name="object 17"/>
            <p:cNvSpPr/>
            <p:nvPr/>
          </p:nvSpPr>
          <p:spPr>
            <a:xfrm>
              <a:off x="4019550" y="1495424"/>
              <a:ext cx="2952750" cy="2143125"/>
            </a:xfrm>
            <a:custGeom>
              <a:avLst/>
              <a:gdLst/>
              <a:ahLst/>
              <a:cxnLst/>
              <a:rect l="l" t="t" r="r" b="b"/>
              <a:pathLst>
                <a:path w="2952750" h="2143125">
                  <a:moveTo>
                    <a:pt x="2898660" y="0"/>
                  </a:moveTo>
                  <a:lnTo>
                    <a:pt x="54089" y="0"/>
                  </a:lnTo>
                  <a:lnTo>
                    <a:pt x="50330" y="368"/>
                  </a:lnTo>
                  <a:lnTo>
                    <a:pt x="14262" y="19634"/>
                  </a:lnTo>
                  <a:lnTo>
                    <a:pt x="0" y="54089"/>
                  </a:lnTo>
                  <a:lnTo>
                    <a:pt x="0" y="2085238"/>
                  </a:lnTo>
                  <a:lnTo>
                    <a:pt x="0" y="2089035"/>
                  </a:lnTo>
                  <a:lnTo>
                    <a:pt x="19634" y="2128862"/>
                  </a:lnTo>
                  <a:lnTo>
                    <a:pt x="54089" y="2143125"/>
                  </a:lnTo>
                  <a:lnTo>
                    <a:pt x="2898660" y="2143125"/>
                  </a:lnTo>
                  <a:lnTo>
                    <a:pt x="2938487" y="2123478"/>
                  </a:lnTo>
                  <a:lnTo>
                    <a:pt x="2952750" y="2089035"/>
                  </a:lnTo>
                  <a:lnTo>
                    <a:pt x="2952750" y="54089"/>
                  </a:lnTo>
                  <a:lnTo>
                    <a:pt x="2933103" y="14262"/>
                  </a:lnTo>
                  <a:lnTo>
                    <a:pt x="2902432" y="368"/>
                  </a:lnTo>
                  <a:lnTo>
                    <a:pt x="2898660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0210" y="1708365"/>
              <a:ext cx="196926" cy="151453"/>
            </a:xfrm>
            <a:prstGeom prst="rect">
              <a:avLst/>
            </a:prstGeom>
          </p:spPr>
        </p:pic>
      </p:grpSp>
      <p:sp>
        <p:nvSpPr>
          <p:cNvPr id="19" name="sv_s03_main_benefit"/>
          <p:cNvSpPr txBox="1"/>
          <p:nvPr/>
        </p:nvSpPr>
        <p:spPr>
          <a:xfrm>
            <a:off x="4596803" y="1751589"/>
            <a:ext cx="2195830" cy="1170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spc="-100" dirty="0">
                <a:latin typeface="Georgia"/>
                <a:cs typeface="Georgia"/>
              </a:rPr>
              <a:t>Beneficio</a:t>
            </a:r>
            <a:r>
              <a:rPr sz="1700" b="1" spc="-30" dirty="0">
                <a:latin typeface="Georgia"/>
                <a:cs typeface="Georgia"/>
              </a:rPr>
              <a:t> </a:t>
            </a:r>
            <a:r>
              <a:rPr sz="1700" b="1" spc="-10" dirty="0">
                <a:latin typeface="Georgia"/>
                <a:cs typeface="Georgia"/>
              </a:rPr>
              <a:t>principal</a:t>
            </a:r>
            <a:endParaRPr sz="1700">
              <a:latin typeface="Georgia"/>
              <a:cs typeface="Georgia"/>
            </a:endParaRPr>
          </a:p>
          <a:p>
            <a:pPr marL="12700" marR="5080">
              <a:lnSpc>
                <a:spcPct val="125000"/>
              </a:lnSpc>
              <a:spcBef>
                <a:spcPts val="1120"/>
              </a:spcBef>
            </a:pPr>
            <a:r>
              <a:rPr sz="1300" dirty="0">
                <a:latin typeface="Microsoft JhengHei UI"/>
                <a:cs typeface="Microsoft JhengHei UI"/>
              </a:rPr>
              <a:t>Más</a:t>
            </a:r>
            <a:r>
              <a:rPr sz="1300" spc="-15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confort</a:t>
            </a:r>
            <a:r>
              <a:rPr sz="1300" spc="-10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durante</a:t>
            </a:r>
            <a:r>
              <a:rPr sz="1300" spc="-10" dirty="0">
                <a:latin typeface="Microsoft JhengHei UI"/>
                <a:cs typeface="Microsoft JhengHei UI"/>
              </a:rPr>
              <a:t> </a:t>
            </a:r>
            <a:r>
              <a:rPr sz="1300" spc="-35" dirty="0">
                <a:latin typeface="Microsoft JhengHei UI"/>
                <a:cs typeface="Microsoft JhengHei UI"/>
              </a:rPr>
              <a:t>todo</a:t>
            </a:r>
            <a:r>
              <a:rPr sz="1300" spc="-10" dirty="0">
                <a:latin typeface="Microsoft JhengHei UI"/>
                <a:cs typeface="Microsoft JhengHei UI"/>
              </a:rPr>
              <a:t> </a:t>
            </a:r>
            <a:r>
              <a:rPr sz="1300" spc="-25" dirty="0">
                <a:latin typeface="Microsoft JhengHei UI"/>
                <a:cs typeface="Microsoft JhengHei UI"/>
              </a:rPr>
              <a:t>el </a:t>
            </a:r>
            <a:r>
              <a:rPr sz="1300" dirty="0">
                <a:latin typeface="Microsoft JhengHei UI"/>
                <a:cs typeface="Microsoft JhengHei UI"/>
              </a:rPr>
              <a:t>año</a:t>
            </a:r>
            <a:r>
              <a:rPr sz="1300" spc="30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con</a:t>
            </a:r>
            <a:r>
              <a:rPr sz="1300" spc="35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una</a:t>
            </a:r>
            <a:r>
              <a:rPr sz="1300" spc="35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vivienda</a:t>
            </a:r>
            <a:r>
              <a:rPr sz="1300" spc="35" dirty="0">
                <a:latin typeface="Microsoft JhengHei UI"/>
                <a:cs typeface="Microsoft JhengHei UI"/>
              </a:rPr>
              <a:t> </a:t>
            </a:r>
            <a:r>
              <a:rPr sz="1300" spc="-25" dirty="0">
                <a:latin typeface="Microsoft JhengHei UI"/>
                <a:cs typeface="Microsoft JhengHei UI"/>
              </a:rPr>
              <a:t>más </a:t>
            </a:r>
            <a:r>
              <a:rPr sz="1300" dirty="0">
                <a:latin typeface="Microsoft JhengHei UI"/>
                <a:cs typeface="Microsoft JhengHei UI"/>
              </a:rPr>
              <a:t>eficiente</a:t>
            </a:r>
            <a:r>
              <a:rPr sz="1300" spc="60" dirty="0">
                <a:latin typeface="Microsoft JhengHei UI"/>
                <a:cs typeface="Microsoft JhengHei UI"/>
              </a:rPr>
              <a:t> </a:t>
            </a:r>
            <a:r>
              <a:rPr sz="1300" spc="50" dirty="0">
                <a:latin typeface="Microsoft JhengHei UI"/>
                <a:cs typeface="Microsoft JhengHei UI"/>
              </a:rPr>
              <a:t>y</a:t>
            </a:r>
            <a:r>
              <a:rPr sz="1300" spc="65" dirty="0">
                <a:latin typeface="Microsoft JhengHei UI"/>
                <a:cs typeface="Microsoft JhengHei UI"/>
              </a:rPr>
              <a:t> </a:t>
            </a:r>
            <a:r>
              <a:rPr sz="1300" spc="-10" dirty="0">
                <a:latin typeface="Microsoft JhengHei UI"/>
                <a:cs typeface="Microsoft JhengHei UI"/>
              </a:rPr>
              <a:t>luminosa.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20" name="sv_s03_main_benefit_secondary"/>
          <p:cNvSpPr txBox="1"/>
          <p:nvPr/>
        </p:nvSpPr>
        <p:spPr>
          <a:xfrm>
            <a:off x="4596803" y="3340572"/>
            <a:ext cx="205486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00" dirty="0">
                <a:latin typeface="Microsoft JhengHei UI"/>
                <a:cs typeface="Microsoft JhengHei UI"/>
              </a:rPr>
              <a:t>Nuestras</a:t>
            </a:r>
            <a:r>
              <a:rPr sz="1300" spc="120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ventanas</a:t>
            </a:r>
            <a:r>
              <a:rPr sz="1300" spc="120" dirty="0">
                <a:latin typeface="Microsoft JhengHei UI"/>
                <a:cs typeface="Microsoft JhengHei UI"/>
              </a:rPr>
              <a:t> </a:t>
            </a:r>
            <a:r>
              <a:rPr sz="1300" spc="-10" dirty="0">
                <a:latin typeface="Microsoft JhengHei UI"/>
                <a:cs typeface="Microsoft JhengHei UI"/>
              </a:rPr>
              <a:t>cuidan </a:t>
            </a:r>
            <a:r>
              <a:rPr sz="1300" dirty="0">
                <a:latin typeface="Microsoft JhengHei UI"/>
                <a:cs typeface="Microsoft JhengHei UI"/>
              </a:rPr>
              <a:t>de</a:t>
            </a:r>
            <a:r>
              <a:rPr sz="1300" spc="5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tu</a:t>
            </a:r>
            <a:r>
              <a:rPr sz="1300" spc="10" dirty="0">
                <a:latin typeface="Microsoft JhengHei UI"/>
                <a:cs typeface="Microsoft JhengHei UI"/>
              </a:rPr>
              <a:t> </a:t>
            </a:r>
            <a:r>
              <a:rPr sz="1300" spc="55" dirty="0">
                <a:latin typeface="Microsoft JhengHei UI"/>
                <a:cs typeface="Microsoft JhengHei UI"/>
              </a:rPr>
              <a:t>casa</a:t>
            </a:r>
            <a:r>
              <a:rPr sz="1300" spc="5" dirty="0">
                <a:latin typeface="Microsoft JhengHei UI"/>
                <a:cs typeface="Microsoft JhengHei UI"/>
              </a:rPr>
              <a:t> </a:t>
            </a:r>
            <a:r>
              <a:rPr sz="1300" spc="50" dirty="0">
                <a:latin typeface="Microsoft JhengHei UI"/>
                <a:cs typeface="Microsoft JhengHei UI"/>
              </a:rPr>
              <a:t>y</a:t>
            </a:r>
            <a:r>
              <a:rPr sz="1300" spc="10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tu</a:t>
            </a:r>
            <a:r>
              <a:rPr sz="1300" spc="5" dirty="0">
                <a:latin typeface="Microsoft JhengHei UI"/>
                <a:cs typeface="Microsoft JhengHei UI"/>
              </a:rPr>
              <a:t> </a:t>
            </a:r>
            <a:r>
              <a:rPr sz="1300" spc="-10" dirty="0">
                <a:latin typeface="Microsoft JhengHei UI"/>
                <a:cs typeface="Microsoft JhengHei UI"/>
              </a:rPr>
              <a:t>bolsillo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21" name="sv_s03_benefit_claim"/>
          <p:cNvSpPr txBox="1"/>
          <p:nvPr/>
        </p:nvSpPr>
        <p:spPr>
          <a:xfrm>
            <a:off x="4019550" y="4998625"/>
            <a:ext cx="23704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1F7034"/>
                </a:solidFill>
                <a:latin typeface="Tahoma"/>
                <a:cs typeface="Tahoma"/>
              </a:rPr>
              <a:t>AHORRO,</a:t>
            </a:r>
            <a:r>
              <a:rPr sz="1600" b="1" spc="-75" dirty="0">
                <a:solidFill>
                  <a:srgbClr val="1F7034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1F7034"/>
                </a:solidFill>
                <a:latin typeface="Tahoma"/>
                <a:cs typeface="Tahoma"/>
              </a:rPr>
              <a:t>CONFORT, </a:t>
            </a:r>
            <a:r>
              <a:rPr sz="1600" b="1" dirty="0">
                <a:solidFill>
                  <a:srgbClr val="1F7034"/>
                </a:solidFill>
                <a:latin typeface="Tahoma"/>
                <a:cs typeface="Tahoma"/>
              </a:rPr>
              <a:t>ESTÉTICA</a:t>
            </a:r>
            <a:r>
              <a:rPr sz="1600" b="1" spc="-35" dirty="0">
                <a:solidFill>
                  <a:srgbClr val="1F7034"/>
                </a:solidFill>
                <a:latin typeface="Tahoma"/>
                <a:cs typeface="Tahoma"/>
              </a:rPr>
              <a:t> </a:t>
            </a:r>
            <a:r>
              <a:rPr sz="1600" b="1" spc="105" dirty="0">
                <a:solidFill>
                  <a:srgbClr val="1F7034"/>
                </a:solidFill>
                <a:latin typeface="Tahoma"/>
                <a:cs typeface="Tahoma"/>
              </a:rPr>
              <a:t>Y</a:t>
            </a:r>
            <a:r>
              <a:rPr sz="1600" b="1" spc="-35" dirty="0">
                <a:solidFill>
                  <a:srgbClr val="1F7034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1F7034"/>
                </a:solidFill>
                <a:latin typeface="Tahoma"/>
                <a:cs typeface="Tahoma"/>
              </a:rPr>
              <a:t>FELICIDAD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C83D22F1-B26C-4A75-DCB4-09EF555BB9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9268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0" spc="-280" dirty="0"/>
              <a:t>Una</a:t>
            </a:r>
            <a:r>
              <a:rPr sz="3500" spc="-90" dirty="0"/>
              <a:t> </a:t>
            </a:r>
            <a:r>
              <a:rPr sz="3500" spc="-175" dirty="0"/>
              <a:t>instalación</a:t>
            </a:r>
            <a:r>
              <a:rPr sz="3500" spc="-85" dirty="0"/>
              <a:t> </a:t>
            </a:r>
            <a:r>
              <a:rPr sz="3500" spc="-225" dirty="0"/>
              <a:t>que</a:t>
            </a:r>
            <a:r>
              <a:rPr sz="3500" spc="-85" dirty="0"/>
              <a:t> </a:t>
            </a:r>
            <a:r>
              <a:rPr sz="3500" spc="-260" dirty="0"/>
              <a:t>marca</a:t>
            </a:r>
            <a:r>
              <a:rPr sz="3500" spc="-85" dirty="0"/>
              <a:t> </a:t>
            </a:r>
            <a:r>
              <a:rPr sz="3500" spc="-170" dirty="0"/>
              <a:t>la</a:t>
            </a:r>
            <a:r>
              <a:rPr sz="3500" spc="-85" dirty="0"/>
              <a:t> </a:t>
            </a:r>
            <a:r>
              <a:rPr sz="3500" spc="-130" dirty="0"/>
              <a:t>diferencia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648840" y="1340040"/>
            <a:ext cx="841565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No</a:t>
            </a:r>
            <a:r>
              <a:rPr sz="1350" spc="-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solo sustituimos ventanas.</a:t>
            </a:r>
            <a:r>
              <a:rPr sz="1350" spc="-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Entregamos un trabajo </a:t>
            </a:r>
            <a:r>
              <a:rPr sz="1350" spc="-20" dirty="0">
                <a:solidFill>
                  <a:srgbClr val="262525"/>
                </a:solidFill>
                <a:latin typeface="Microsoft JhengHei UI"/>
                <a:cs typeface="Microsoft JhengHei UI"/>
              </a:rPr>
              <a:t>completamente</a:t>
            </a:r>
            <a:r>
              <a:rPr sz="1350" spc="-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terminado,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 cuidando cada</a:t>
            </a:r>
            <a:r>
              <a:rPr sz="1350" spc="-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detalle.</a:t>
            </a:r>
            <a:endParaRPr sz="1350">
              <a:latin typeface="Microsoft JhengHei UI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981" y="2000487"/>
            <a:ext cx="268846" cy="1568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05458" y="1949640"/>
            <a:ext cx="339725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Protección</a:t>
            </a:r>
            <a:r>
              <a:rPr sz="1350" spc="4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de</a:t>
            </a:r>
            <a:r>
              <a:rPr sz="1350" spc="5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suelos</a:t>
            </a:r>
            <a:r>
              <a:rPr sz="1350" spc="5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55" dirty="0">
                <a:solidFill>
                  <a:srgbClr val="262525"/>
                </a:solidFill>
                <a:latin typeface="Microsoft JhengHei UI"/>
                <a:cs typeface="Microsoft JhengHei UI"/>
              </a:rPr>
              <a:t>y</a:t>
            </a:r>
            <a:r>
              <a:rPr sz="1350" spc="4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muebles</a:t>
            </a:r>
            <a:r>
              <a:rPr sz="1350" spc="5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cercanos</a:t>
            </a:r>
            <a:endParaRPr sz="1350">
              <a:latin typeface="Microsoft JhengHei UI"/>
              <a:cs typeface="Microsoft JhengHei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8209" y="2776280"/>
            <a:ext cx="268605" cy="262890"/>
            <a:chOff x="718209" y="2776280"/>
            <a:chExt cx="268605" cy="26289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215" y="2776280"/>
              <a:ext cx="268056" cy="2624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899" y="2784305"/>
              <a:ext cx="257175" cy="248920"/>
            </a:xfrm>
            <a:custGeom>
              <a:avLst/>
              <a:gdLst/>
              <a:ahLst/>
              <a:cxnLst/>
              <a:rect l="l" t="t" r="r" b="b"/>
              <a:pathLst>
                <a:path w="257175" h="248919">
                  <a:moveTo>
                    <a:pt x="256681" y="0"/>
                  </a:moveTo>
                  <a:lnTo>
                    <a:pt x="256877" y="248772"/>
                  </a:lnTo>
                </a:path>
                <a:path w="257175" h="248919">
                  <a:moveTo>
                    <a:pt x="5" y="185655"/>
                  </a:moveTo>
                  <a:lnTo>
                    <a:pt x="0" y="248772"/>
                  </a:lnTo>
                </a:path>
                <a:path w="257175" h="248919">
                  <a:moveTo>
                    <a:pt x="160977" y="186442"/>
                  </a:moveTo>
                  <a:lnTo>
                    <a:pt x="130026" y="195042"/>
                  </a:lnTo>
                </a:path>
              </a:pathLst>
            </a:custGeom>
            <a:ln w="11380">
              <a:solidFill>
                <a:srgbClr val="007D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05458" y="2778315"/>
            <a:ext cx="184467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Instalación</a:t>
            </a:r>
            <a:r>
              <a:rPr sz="1350" spc="-1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profesional</a:t>
            </a:r>
            <a:endParaRPr sz="1350">
              <a:latin typeface="Microsoft JhengHei UI"/>
              <a:cs typeface="Microsoft JhengHei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3505" y="3611476"/>
            <a:ext cx="237469" cy="26869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05458" y="3616515"/>
            <a:ext cx="87566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Albañilería</a:t>
            </a:r>
            <a:endParaRPr sz="1350">
              <a:latin typeface="Microsoft JhengHei UI"/>
              <a:cs typeface="Microsoft JhengHei U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7051" y="1997878"/>
            <a:ext cx="226272" cy="15402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57206" y="1949640"/>
            <a:ext cx="1720214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Sellados</a:t>
            </a:r>
            <a:r>
              <a:rPr sz="1350" spc="7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55" dirty="0">
                <a:solidFill>
                  <a:srgbClr val="262525"/>
                </a:solidFill>
                <a:latin typeface="Microsoft JhengHei UI"/>
                <a:cs typeface="Microsoft JhengHei UI"/>
              </a:rPr>
              <a:t>y</a:t>
            </a:r>
            <a:r>
              <a:rPr sz="1350" spc="7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nivelación</a:t>
            </a:r>
            <a:endParaRPr sz="1350">
              <a:latin typeface="Microsoft JhengHei UI"/>
              <a:cs typeface="Microsoft JhengHei U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85372" y="2773453"/>
            <a:ext cx="249760" cy="26825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857206" y="2778315"/>
            <a:ext cx="113982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Limpieza</a:t>
            </a:r>
            <a:r>
              <a:rPr sz="1350" spc="2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final</a:t>
            </a:r>
            <a:endParaRPr sz="1350">
              <a:latin typeface="Microsoft JhengHei UI"/>
              <a:cs typeface="Microsoft JhengHei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57224" y="4476749"/>
            <a:ext cx="10877550" cy="1847850"/>
            <a:chOff x="657224" y="4476749"/>
            <a:chExt cx="10877550" cy="1847850"/>
          </a:xfrm>
        </p:grpSpPr>
        <p:sp>
          <p:nvSpPr>
            <p:cNvPr id="17" name="object 17"/>
            <p:cNvSpPr/>
            <p:nvPr/>
          </p:nvSpPr>
          <p:spPr>
            <a:xfrm>
              <a:off x="657224" y="4476749"/>
              <a:ext cx="10877550" cy="1847850"/>
            </a:xfrm>
            <a:custGeom>
              <a:avLst/>
              <a:gdLst/>
              <a:ahLst/>
              <a:cxnLst/>
              <a:rect l="l" t="t" r="r" b="b"/>
              <a:pathLst>
                <a:path w="10877550" h="1847850">
                  <a:moveTo>
                    <a:pt x="10821529" y="1847849"/>
                  </a:moveTo>
                  <a:lnTo>
                    <a:pt x="56019" y="1847849"/>
                  </a:lnTo>
                  <a:lnTo>
                    <a:pt x="52120" y="1847465"/>
                  </a:lnTo>
                  <a:lnTo>
                    <a:pt x="14777" y="1827505"/>
                  </a:lnTo>
                  <a:lnTo>
                    <a:pt x="0" y="1791830"/>
                  </a:lnTo>
                  <a:lnTo>
                    <a:pt x="0" y="1787894"/>
                  </a:lnTo>
                  <a:lnTo>
                    <a:pt x="0" y="56018"/>
                  </a:lnTo>
                  <a:lnTo>
                    <a:pt x="14777" y="20344"/>
                  </a:lnTo>
                  <a:lnTo>
                    <a:pt x="52120" y="383"/>
                  </a:lnTo>
                  <a:lnTo>
                    <a:pt x="56019" y="0"/>
                  </a:lnTo>
                  <a:lnTo>
                    <a:pt x="10821529" y="0"/>
                  </a:lnTo>
                  <a:lnTo>
                    <a:pt x="10857202" y="14776"/>
                  </a:lnTo>
                  <a:lnTo>
                    <a:pt x="10877163" y="52119"/>
                  </a:lnTo>
                  <a:lnTo>
                    <a:pt x="10877548" y="56018"/>
                  </a:lnTo>
                  <a:lnTo>
                    <a:pt x="10877548" y="1791830"/>
                  </a:lnTo>
                  <a:lnTo>
                    <a:pt x="10862769" y="1827505"/>
                  </a:lnTo>
                  <a:lnTo>
                    <a:pt x="10825427" y="1847465"/>
                  </a:lnTo>
                  <a:lnTo>
                    <a:pt x="10821529" y="1847849"/>
                  </a:lnTo>
                  <a:close/>
                </a:path>
              </a:pathLst>
            </a:custGeom>
            <a:solidFill>
              <a:srgbClr val="CCE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0738" y="4725581"/>
              <a:ext cx="149888" cy="14988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05458" y="4652876"/>
            <a:ext cx="5443855" cy="1468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495" dirty="0">
                <a:latin typeface="Segoe UI Symbol"/>
                <a:cs typeface="Segoe UI Symbol"/>
              </a:rPr>
              <a:t>✔</a:t>
            </a:r>
            <a:r>
              <a:rPr sz="1550" spc="-110" dirty="0">
                <a:latin typeface="Segoe UI Symbol"/>
                <a:cs typeface="Segoe UI Symbol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Trabajos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de</a:t>
            </a:r>
            <a:r>
              <a:rPr sz="1350" spc="3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albañilería</a:t>
            </a:r>
            <a:r>
              <a:rPr sz="1350" spc="3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en</a:t>
            </a:r>
            <a:r>
              <a:rPr sz="1350" spc="3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los</a:t>
            </a:r>
            <a:r>
              <a:rPr sz="1350" spc="3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dormitorios</a:t>
            </a:r>
            <a:endParaRPr sz="13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550" spc="495" dirty="0">
                <a:latin typeface="Segoe UI Symbol"/>
                <a:cs typeface="Segoe UI Symbol"/>
              </a:rPr>
              <a:t>✔</a:t>
            </a:r>
            <a:r>
              <a:rPr sz="1550" spc="-95" dirty="0">
                <a:latin typeface="Segoe UI Symbol"/>
                <a:cs typeface="Segoe UI Symbol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Forrado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de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las</a:t>
            </a:r>
            <a:r>
              <a:rPr sz="1350" spc="5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peanas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de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piedra</a:t>
            </a:r>
            <a:endParaRPr sz="13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550" spc="495" dirty="0">
                <a:latin typeface="Segoe UI Symbol"/>
                <a:cs typeface="Segoe UI Symbol"/>
              </a:rPr>
              <a:t>✔</a:t>
            </a:r>
            <a:r>
              <a:rPr sz="1550" spc="-95" dirty="0">
                <a:latin typeface="Segoe UI Symbol"/>
                <a:cs typeface="Segoe UI Symbol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Remates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exteriores</a:t>
            </a:r>
            <a:r>
              <a:rPr sz="1350" spc="50" dirty="0">
                <a:latin typeface="Microsoft JhengHei UI"/>
                <a:cs typeface="Microsoft JhengHei UI"/>
              </a:rPr>
              <a:t> </a:t>
            </a:r>
            <a:r>
              <a:rPr sz="1350" spc="-20" dirty="0">
                <a:latin typeface="Microsoft JhengHei UI"/>
                <a:cs typeface="Microsoft JhengHei UI"/>
              </a:rPr>
              <a:t>completamente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terminados</a:t>
            </a:r>
            <a:endParaRPr sz="13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550" spc="495" dirty="0">
                <a:latin typeface="Segoe UI Symbol"/>
                <a:cs typeface="Segoe UI Symbol"/>
              </a:rPr>
              <a:t>✔</a:t>
            </a:r>
            <a:r>
              <a:rPr sz="1550" spc="-110" dirty="0">
                <a:latin typeface="Segoe UI Symbol"/>
                <a:cs typeface="Segoe UI Symbol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Acabado</a:t>
            </a:r>
            <a:r>
              <a:rPr sz="1350" spc="1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final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listo</a:t>
            </a:r>
            <a:r>
              <a:rPr sz="1350" spc="2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execpto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remates</a:t>
            </a:r>
            <a:r>
              <a:rPr sz="1350" spc="2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de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pintura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spc="55" dirty="0">
                <a:latin typeface="Microsoft JhengHei UI"/>
                <a:cs typeface="Microsoft JhengHei UI"/>
              </a:rPr>
              <a:t>y</a:t>
            </a:r>
            <a:r>
              <a:rPr sz="1350" spc="2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su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preparacion</a:t>
            </a:r>
            <a:endParaRPr sz="13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Proyectos</a:t>
            </a:r>
            <a:r>
              <a:rPr spc="-50" dirty="0"/>
              <a:t> </a:t>
            </a:r>
            <a:r>
              <a:rPr spc="-100" dirty="0"/>
              <a:t>similares</a:t>
            </a:r>
          </a:p>
        </p:txBody>
      </p:sp>
      <p:pic>
        <p:nvPicPr>
          <p:cNvPr id="3" name="sv_s05_project_photo_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990599"/>
            <a:ext cx="3571874" cy="4752973"/>
          </a:xfrm>
          <a:prstGeom prst="rect">
            <a:avLst/>
          </a:prstGeom>
        </p:spPr>
      </p:pic>
      <p:pic>
        <p:nvPicPr>
          <p:cNvPr id="4" name="sv_s05_project_photo_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4825" y="990599"/>
            <a:ext cx="3562349" cy="4752973"/>
          </a:xfrm>
          <a:prstGeom prst="rect">
            <a:avLst/>
          </a:prstGeom>
        </p:spPr>
      </p:pic>
      <p:pic>
        <p:nvPicPr>
          <p:cNvPr id="5" name="sv_s05_project_photo_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3375" y="990599"/>
            <a:ext cx="3571874" cy="47529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8840" y="5845936"/>
            <a:ext cx="144208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Cerramientos</a:t>
            </a:r>
            <a:r>
              <a:rPr sz="750" spc="1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750" dirty="0">
                <a:solidFill>
                  <a:srgbClr val="262424"/>
                </a:solidFill>
                <a:latin typeface="Microsoft JhengHei UI"/>
                <a:cs typeface="Microsoft JhengHei UI"/>
              </a:rPr>
              <a:t>·</a:t>
            </a:r>
            <a:r>
              <a:rPr sz="750" spc="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7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Antes</a:t>
            </a:r>
            <a:r>
              <a:rPr sz="750" spc="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750" dirty="0">
                <a:solidFill>
                  <a:srgbClr val="262424"/>
                </a:solidFill>
                <a:latin typeface="Microsoft JhengHei UI"/>
                <a:cs typeface="Microsoft JhengHei UI"/>
              </a:rPr>
              <a:t>/</a:t>
            </a:r>
            <a:r>
              <a:rPr sz="750" spc="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7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Después</a:t>
            </a:r>
            <a:endParaRPr sz="7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649192"/>
            <a:ext cx="5515610" cy="500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00" spc="-295" dirty="0"/>
              <a:t>Lo</a:t>
            </a:r>
            <a:r>
              <a:rPr sz="3100" spc="-80" dirty="0"/>
              <a:t> </a:t>
            </a:r>
            <a:r>
              <a:rPr sz="3100" spc="-215" dirty="0"/>
              <a:t>que</a:t>
            </a:r>
            <a:r>
              <a:rPr sz="3100" spc="-80" dirty="0"/>
              <a:t> </a:t>
            </a:r>
            <a:r>
              <a:rPr sz="3100" spc="-170" dirty="0"/>
              <a:t>dicen</a:t>
            </a:r>
            <a:r>
              <a:rPr sz="3100" spc="-80" dirty="0"/>
              <a:t> </a:t>
            </a:r>
            <a:r>
              <a:rPr sz="3100" spc="-210" dirty="0"/>
              <a:t>nuestros</a:t>
            </a:r>
            <a:r>
              <a:rPr sz="3100" spc="-80" dirty="0"/>
              <a:t> </a:t>
            </a:r>
            <a:r>
              <a:rPr sz="3100" spc="-110" dirty="0"/>
              <a:t>clientes</a:t>
            </a:r>
            <a:endParaRPr sz="3100"/>
          </a:p>
        </p:txBody>
      </p:sp>
      <p:grpSp>
        <p:nvGrpSpPr>
          <p:cNvPr id="3" name="object 3"/>
          <p:cNvGrpSpPr/>
          <p:nvPr/>
        </p:nvGrpSpPr>
        <p:grpSpPr>
          <a:xfrm>
            <a:off x="585216" y="1371600"/>
            <a:ext cx="3697604" cy="4495800"/>
            <a:chOff x="585216" y="1371600"/>
            <a:chExt cx="3697604" cy="4495800"/>
          </a:xfrm>
        </p:grpSpPr>
        <p:sp>
          <p:nvSpPr>
            <p:cNvPr id="4" name="object 4"/>
            <p:cNvSpPr/>
            <p:nvPr/>
          </p:nvSpPr>
          <p:spPr>
            <a:xfrm>
              <a:off x="666750" y="1438274"/>
              <a:ext cx="3524250" cy="4362450"/>
            </a:xfrm>
            <a:custGeom>
              <a:avLst/>
              <a:gdLst/>
              <a:ahLst/>
              <a:cxnLst/>
              <a:rect l="l" t="t" r="r" b="b"/>
              <a:pathLst>
                <a:path w="3524250" h="4362450">
                  <a:moveTo>
                    <a:pt x="0" y="4319254"/>
                  </a:moveTo>
                  <a:lnTo>
                    <a:pt x="0" y="43192"/>
                  </a:lnTo>
                  <a:lnTo>
                    <a:pt x="0" y="37465"/>
                  </a:lnTo>
                  <a:lnTo>
                    <a:pt x="1096" y="31953"/>
                  </a:lnTo>
                  <a:lnTo>
                    <a:pt x="3289" y="26670"/>
                  </a:lnTo>
                  <a:lnTo>
                    <a:pt x="5481" y="21374"/>
                  </a:lnTo>
                  <a:lnTo>
                    <a:pt x="8601" y="16700"/>
                  </a:lnTo>
                  <a:lnTo>
                    <a:pt x="12650" y="12649"/>
                  </a:lnTo>
                  <a:lnTo>
                    <a:pt x="16703" y="8597"/>
                  </a:lnTo>
                  <a:lnTo>
                    <a:pt x="21371" y="5486"/>
                  </a:lnTo>
                  <a:lnTo>
                    <a:pt x="26664" y="3289"/>
                  </a:lnTo>
                  <a:lnTo>
                    <a:pt x="31958" y="1092"/>
                  </a:lnTo>
                  <a:lnTo>
                    <a:pt x="37465" y="0"/>
                  </a:lnTo>
                  <a:lnTo>
                    <a:pt x="43195" y="0"/>
                  </a:lnTo>
                  <a:lnTo>
                    <a:pt x="3481057" y="0"/>
                  </a:lnTo>
                  <a:lnTo>
                    <a:pt x="3486785" y="0"/>
                  </a:lnTo>
                  <a:lnTo>
                    <a:pt x="3492296" y="1092"/>
                  </a:lnTo>
                  <a:lnTo>
                    <a:pt x="3497580" y="3289"/>
                  </a:lnTo>
                  <a:lnTo>
                    <a:pt x="3502875" y="5486"/>
                  </a:lnTo>
                  <a:lnTo>
                    <a:pt x="3507549" y="8597"/>
                  </a:lnTo>
                  <a:lnTo>
                    <a:pt x="3511600" y="12649"/>
                  </a:lnTo>
                  <a:lnTo>
                    <a:pt x="3515652" y="16700"/>
                  </a:lnTo>
                  <a:lnTo>
                    <a:pt x="3518763" y="21374"/>
                  </a:lnTo>
                  <a:lnTo>
                    <a:pt x="3520960" y="26670"/>
                  </a:lnTo>
                  <a:lnTo>
                    <a:pt x="3523157" y="31953"/>
                  </a:lnTo>
                  <a:lnTo>
                    <a:pt x="3524250" y="37465"/>
                  </a:lnTo>
                  <a:lnTo>
                    <a:pt x="3524250" y="43192"/>
                  </a:lnTo>
                  <a:lnTo>
                    <a:pt x="3524250" y="4319254"/>
                  </a:lnTo>
                  <a:lnTo>
                    <a:pt x="3524250" y="4324979"/>
                  </a:lnTo>
                  <a:lnTo>
                    <a:pt x="3523157" y="4330491"/>
                  </a:lnTo>
                  <a:lnTo>
                    <a:pt x="3497580" y="4359160"/>
                  </a:lnTo>
                  <a:lnTo>
                    <a:pt x="3492296" y="4361354"/>
                  </a:lnTo>
                  <a:lnTo>
                    <a:pt x="3486785" y="4362450"/>
                  </a:lnTo>
                  <a:lnTo>
                    <a:pt x="3481057" y="4362450"/>
                  </a:lnTo>
                  <a:lnTo>
                    <a:pt x="43195" y="4362450"/>
                  </a:lnTo>
                  <a:lnTo>
                    <a:pt x="37465" y="4362450"/>
                  </a:lnTo>
                  <a:lnTo>
                    <a:pt x="31958" y="4361354"/>
                  </a:lnTo>
                  <a:lnTo>
                    <a:pt x="26664" y="4359160"/>
                  </a:lnTo>
                  <a:lnTo>
                    <a:pt x="21371" y="4356968"/>
                  </a:lnTo>
                  <a:lnTo>
                    <a:pt x="3289" y="4335785"/>
                  </a:lnTo>
                  <a:lnTo>
                    <a:pt x="1096" y="4330491"/>
                  </a:lnTo>
                  <a:lnTo>
                    <a:pt x="0" y="4324979"/>
                  </a:lnTo>
                  <a:lnTo>
                    <a:pt x="0" y="4319254"/>
                  </a:lnTo>
                  <a:close/>
                </a:path>
              </a:pathLst>
            </a:custGeom>
            <a:ln w="19050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216" y="1371600"/>
              <a:ext cx="222504" cy="173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0792" y="5684520"/>
              <a:ext cx="231648" cy="1828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93812" y="1560468"/>
            <a:ext cx="3070225" cy="340677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50" spc="295" dirty="0">
                <a:solidFill>
                  <a:srgbClr val="262424"/>
                </a:solidFill>
                <a:latin typeface="Microsoft JhengHei UI"/>
                <a:cs typeface="Microsoft JhengHei UI"/>
              </a:rPr>
              <a:t>★★★★★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Hace</a:t>
            </a:r>
            <a:r>
              <a:rPr sz="1150" spc="10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3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meses</a:t>
            </a:r>
            <a:endParaRPr sz="11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3600"/>
              </a:lnSpc>
              <a:spcBef>
                <a:spcPts val="545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Increíble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profesionalidad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José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su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equipo.</a:t>
            </a:r>
            <a:r>
              <a:rPr sz="1150" spc="4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Desde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primer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momento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analizan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situación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colocación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tu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proyecto,</a:t>
            </a:r>
            <a:r>
              <a:rPr sz="1150" spc="4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iluminación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según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luz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del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sol,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tipo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cristal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mejor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se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adapta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propuesta...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Bajo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nuestro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punto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vista,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distan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mucho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otros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profesionales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acudieron</a:t>
            </a:r>
            <a:r>
              <a:rPr sz="1150" spc="15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darnos</a:t>
            </a:r>
            <a:r>
              <a:rPr sz="1150" spc="1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presupuesto.</a:t>
            </a:r>
            <a:r>
              <a:rPr sz="1150" spc="1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Añadir</a:t>
            </a:r>
            <a:r>
              <a:rPr sz="1150" spc="1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la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calidad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presentación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del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proyecto</a:t>
            </a:r>
            <a:r>
              <a:rPr sz="11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en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</a:t>
            </a:r>
            <a:r>
              <a:rPr sz="11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formato</a:t>
            </a:r>
            <a:r>
              <a:rPr sz="11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único,</a:t>
            </a:r>
            <a:r>
              <a:rPr sz="1150" spc="43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pero</a:t>
            </a:r>
            <a:r>
              <a:rPr sz="11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sobretodo,</a:t>
            </a:r>
            <a:r>
              <a:rPr sz="1150" spc="43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la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calidad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humana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nivel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perfección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le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ponen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todo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momento.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Sin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0" dirty="0">
                <a:solidFill>
                  <a:srgbClr val="262424"/>
                </a:solidFill>
                <a:latin typeface="Microsoft JhengHei UI"/>
                <a:cs typeface="Microsoft JhengHei UI"/>
              </a:rPr>
              <a:t>duda,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volvería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contratar</a:t>
            </a:r>
            <a:r>
              <a:rPr sz="11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sus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35" dirty="0">
                <a:solidFill>
                  <a:srgbClr val="262424"/>
                </a:solidFill>
                <a:latin typeface="Microsoft JhengHei UI"/>
                <a:cs typeface="Microsoft JhengHei UI"/>
              </a:rPr>
              <a:t>servicios.</a:t>
            </a:r>
            <a:endParaRPr sz="11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Simplemente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gracias.</a:t>
            </a:r>
            <a:endParaRPr sz="1150">
              <a:latin typeface="Microsoft JhengHei UI"/>
              <a:cs typeface="Microsoft JhengHei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3812" y="5342159"/>
            <a:ext cx="107188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—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Luz</a:t>
            </a:r>
            <a:r>
              <a:rPr sz="1150" spc="1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Rodrigo</a:t>
            </a:r>
            <a:endParaRPr sz="1150">
              <a:latin typeface="Microsoft JhengHei UI"/>
              <a:cs typeface="Microsoft JhengHei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51959" y="1371600"/>
            <a:ext cx="3697604" cy="4495800"/>
            <a:chOff x="4251959" y="1371600"/>
            <a:chExt cx="3697604" cy="4495800"/>
          </a:xfrm>
        </p:grpSpPr>
        <p:sp>
          <p:nvSpPr>
            <p:cNvPr id="10" name="object 10"/>
            <p:cNvSpPr/>
            <p:nvPr/>
          </p:nvSpPr>
          <p:spPr>
            <a:xfrm>
              <a:off x="4333874" y="1438274"/>
              <a:ext cx="3524250" cy="4362450"/>
            </a:xfrm>
            <a:custGeom>
              <a:avLst/>
              <a:gdLst/>
              <a:ahLst/>
              <a:cxnLst/>
              <a:rect l="l" t="t" r="r" b="b"/>
              <a:pathLst>
                <a:path w="3524250" h="4362450">
                  <a:moveTo>
                    <a:pt x="0" y="4319254"/>
                  </a:moveTo>
                  <a:lnTo>
                    <a:pt x="0" y="43192"/>
                  </a:lnTo>
                  <a:lnTo>
                    <a:pt x="0" y="37465"/>
                  </a:lnTo>
                  <a:lnTo>
                    <a:pt x="1092" y="31953"/>
                  </a:lnTo>
                  <a:lnTo>
                    <a:pt x="3289" y="26670"/>
                  </a:lnTo>
                  <a:lnTo>
                    <a:pt x="5473" y="21374"/>
                  </a:lnTo>
                  <a:lnTo>
                    <a:pt x="8597" y="16700"/>
                  </a:lnTo>
                  <a:lnTo>
                    <a:pt x="12649" y="12649"/>
                  </a:lnTo>
                  <a:lnTo>
                    <a:pt x="16700" y="8597"/>
                  </a:lnTo>
                  <a:lnTo>
                    <a:pt x="21374" y="5486"/>
                  </a:lnTo>
                  <a:lnTo>
                    <a:pt x="26670" y="3289"/>
                  </a:lnTo>
                  <a:lnTo>
                    <a:pt x="31953" y="1092"/>
                  </a:lnTo>
                  <a:lnTo>
                    <a:pt x="37465" y="0"/>
                  </a:lnTo>
                  <a:lnTo>
                    <a:pt x="43192" y="0"/>
                  </a:lnTo>
                  <a:lnTo>
                    <a:pt x="3481057" y="0"/>
                  </a:lnTo>
                  <a:lnTo>
                    <a:pt x="3486785" y="0"/>
                  </a:lnTo>
                  <a:lnTo>
                    <a:pt x="3492296" y="1092"/>
                  </a:lnTo>
                  <a:lnTo>
                    <a:pt x="3497580" y="3289"/>
                  </a:lnTo>
                  <a:lnTo>
                    <a:pt x="3502875" y="5486"/>
                  </a:lnTo>
                  <a:lnTo>
                    <a:pt x="3507549" y="8597"/>
                  </a:lnTo>
                  <a:lnTo>
                    <a:pt x="3511600" y="12649"/>
                  </a:lnTo>
                  <a:lnTo>
                    <a:pt x="3515652" y="16700"/>
                  </a:lnTo>
                  <a:lnTo>
                    <a:pt x="3518763" y="21374"/>
                  </a:lnTo>
                  <a:lnTo>
                    <a:pt x="3520960" y="26670"/>
                  </a:lnTo>
                  <a:lnTo>
                    <a:pt x="3523157" y="31953"/>
                  </a:lnTo>
                  <a:lnTo>
                    <a:pt x="3524250" y="37465"/>
                  </a:lnTo>
                  <a:lnTo>
                    <a:pt x="3524250" y="43192"/>
                  </a:lnTo>
                  <a:lnTo>
                    <a:pt x="3524250" y="4319254"/>
                  </a:lnTo>
                  <a:lnTo>
                    <a:pt x="3524250" y="4324979"/>
                  </a:lnTo>
                  <a:lnTo>
                    <a:pt x="3523157" y="4330491"/>
                  </a:lnTo>
                  <a:lnTo>
                    <a:pt x="3520960" y="4335785"/>
                  </a:lnTo>
                  <a:lnTo>
                    <a:pt x="3518763" y="4341078"/>
                  </a:lnTo>
                  <a:lnTo>
                    <a:pt x="3515652" y="4345747"/>
                  </a:lnTo>
                  <a:lnTo>
                    <a:pt x="3511600" y="4349799"/>
                  </a:lnTo>
                  <a:lnTo>
                    <a:pt x="3507549" y="4353848"/>
                  </a:lnTo>
                  <a:lnTo>
                    <a:pt x="3502875" y="4356968"/>
                  </a:lnTo>
                  <a:lnTo>
                    <a:pt x="3497580" y="4359160"/>
                  </a:lnTo>
                  <a:lnTo>
                    <a:pt x="3492296" y="4361354"/>
                  </a:lnTo>
                  <a:lnTo>
                    <a:pt x="3486785" y="4362450"/>
                  </a:lnTo>
                  <a:lnTo>
                    <a:pt x="3481057" y="4362450"/>
                  </a:lnTo>
                  <a:lnTo>
                    <a:pt x="43192" y="4362450"/>
                  </a:lnTo>
                  <a:lnTo>
                    <a:pt x="37465" y="4362450"/>
                  </a:lnTo>
                  <a:lnTo>
                    <a:pt x="31953" y="4361354"/>
                  </a:lnTo>
                  <a:lnTo>
                    <a:pt x="26670" y="4359160"/>
                  </a:lnTo>
                  <a:lnTo>
                    <a:pt x="21374" y="4356968"/>
                  </a:lnTo>
                  <a:lnTo>
                    <a:pt x="3289" y="4335785"/>
                  </a:lnTo>
                  <a:lnTo>
                    <a:pt x="1092" y="4330491"/>
                  </a:lnTo>
                  <a:lnTo>
                    <a:pt x="0" y="4324979"/>
                  </a:lnTo>
                  <a:lnTo>
                    <a:pt x="0" y="4319254"/>
                  </a:lnTo>
                  <a:close/>
                </a:path>
              </a:pathLst>
            </a:custGeom>
            <a:ln w="19050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1959" y="1371600"/>
              <a:ext cx="222503" cy="1737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7535" y="5684520"/>
              <a:ext cx="231648" cy="18288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556772" y="1560468"/>
            <a:ext cx="3065780" cy="340677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50" spc="295" dirty="0">
                <a:solidFill>
                  <a:srgbClr val="262424"/>
                </a:solidFill>
                <a:latin typeface="Microsoft JhengHei UI"/>
                <a:cs typeface="Microsoft JhengHei UI"/>
              </a:rPr>
              <a:t>★★★★★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Hace</a:t>
            </a:r>
            <a:r>
              <a:rPr sz="1150" spc="10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9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meses</a:t>
            </a:r>
            <a:endParaRPr sz="11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3400"/>
              </a:lnSpc>
              <a:spcBef>
                <a:spcPts val="550"/>
              </a:spcBef>
            </a:pP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Responsables</a:t>
            </a:r>
            <a:r>
              <a:rPr sz="11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</a:t>
            </a:r>
            <a:r>
              <a:rPr sz="11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tiempo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trabajo.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Me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cambiaron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las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5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mi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casa.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Cumplieron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los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plazos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acabados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tal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como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dijeron.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Desde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Jose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(comercial)</a:t>
            </a:r>
            <a:r>
              <a:rPr sz="1150" spc="2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hasta</a:t>
            </a:r>
            <a:r>
              <a:rPr sz="1150" spc="2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Samanta</a:t>
            </a:r>
            <a:r>
              <a:rPr sz="1150" spc="2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(comunicación)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han</a:t>
            </a:r>
            <a:r>
              <a:rPr sz="115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sido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muy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atentos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todo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momento,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resolviendo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todas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las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dudas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preguntas.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Especial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atención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Aitor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Jampier,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pesar</a:t>
            </a:r>
            <a:r>
              <a:rPr sz="115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su</a:t>
            </a:r>
            <a:r>
              <a:rPr sz="1150" spc="10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joven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edad</a:t>
            </a:r>
            <a:r>
              <a:rPr sz="115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han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sido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muy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profesionales,</a:t>
            </a:r>
            <a:r>
              <a:rPr sz="1150" spc="2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destacando</a:t>
            </a:r>
            <a:r>
              <a:rPr sz="1150" spc="2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</a:t>
            </a:r>
            <a:r>
              <a:rPr sz="1150" spc="2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trabajo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CUIDADOSO,</a:t>
            </a:r>
            <a:r>
              <a:rPr sz="11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LIMPIO</a:t>
            </a:r>
            <a:r>
              <a:rPr sz="11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E</a:t>
            </a:r>
            <a:r>
              <a:rPr sz="11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IMPECABLE.</a:t>
            </a:r>
            <a:r>
              <a:rPr sz="11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No</a:t>
            </a:r>
            <a:endParaRPr sz="1150">
              <a:latin typeface="Microsoft JhengHei UI"/>
              <a:cs typeface="Microsoft JhengHei UI"/>
            </a:endParaRPr>
          </a:p>
          <a:p>
            <a:pPr marL="12700" marR="59055">
              <a:lnSpc>
                <a:spcPct val="125000"/>
              </a:lnSpc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puedo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decir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más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cualidades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positivas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Aspa.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duda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les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volvería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llamar.</a:t>
            </a:r>
            <a:endParaRPr sz="11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150" spc="35" dirty="0">
                <a:solidFill>
                  <a:srgbClr val="262424"/>
                </a:solidFill>
                <a:latin typeface="Microsoft JhengHei UI"/>
                <a:cs typeface="Microsoft JhengHei UI"/>
              </a:rPr>
              <a:t>Gracias.</a:t>
            </a:r>
            <a:endParaRPr sz="1150">
              <a:latin typeface="Microsoft JhengHei UI"/>
              <a:cs typeface="Microsoft JhengHei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56772" y="5342159"/>
            <a:ext cx="129730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—</a:t>
            </a:r>
            <a:r>
              <a:rPr sz="115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Alonso</a:t>
            </a:r>
            <a:r>
              <a:rPr sz="1150" spc="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Donoso</a:t>
            </a:r>
            <a:endParaRPr sz="1150">
              <a:latin typeface="Microsoft JhengHei UI"/>
              <a:cs typeface="Microsoft JhengHei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09559" y="1371600"/>
            <a:ext cx="3697604" cy="4495800"/>
            <a:chOff x="7909559" y="1371600"/>
            <a:chExt cx="3697604" cy="4495800"/>
          </a:xfrm>
        </p:grpSpPr>
        <p:sp>
          <p:nvSpPr>
            <p:cNvPr id="16" name="object 16"/>
            <p:cNvSpPr/>
            <p:nvPr/>
          </p:nvSpPr>
          <p:spPr>
            <a:xfrm>
              <a:off x="8000999" y="1438274"/>
              <a:ext cx="3524250" cy="4362450"/>
            </a:xfrm>
            <a:custGeom>
              <a:avLst/>
              <a:gdLst/>
              <a:ahLst/>
              <a:cxnLst/>
              <a:rect l="l" t="t" r="r" b="b"/>
              <a:pathLst>
                <a:path w="3524250" h="4362450">
                  <a:moveTo>
                    <a:pt x="0" y="4319254"/>
                  </a:moveTo>
                  <a:lnTo>
                    <a:pt x="0" y="43192"/>
                  </a:lnTo>
                  <a:lnTo>
                    <a:pt x="0" y="37465"/>
                  </a:lnTo>
                  <a:lnTo>
                    <a:pt x="1092" y="31953"/>
                  </a:lnTo>
                  <a:lnTo>
                    <a:pt x="3289" y="26670"/>
                  </a:lnTo>
                  <a:lnTo>
                    <a:pt x="5473" y="21374"/>
                  </a:lnTo>
                  <a:lnTo>
                    <a:pt x="8597" y="16700"/>
                  </a:lnTo>
                  <a:lnTo>
                    <a:pt x="12649" y="12649"/>
                  </a:lnTo>
                  <a:lnTo>
                    <a:pt x="16700" y="8597"/>
                  </a:lnTo>
                  <a:lnTo>
                    <a:pt x="21374" y="5486"/>
                  </a:lnTo>
                  <a:lnTo>
                    <a:pt x="26670" y="3289"/>
                  </a:lnTo>
                  <a:lnTo>
                    <a:pt x="31953" y="1092"/>
                  </a:lnTo>
                  <a:lnTo>
                    <a:pt x="37465" y="0"/>
                  </a:lnTo>
                  <a:lnTo>
                    <a:pt x="43192" y="0"/>
                  </a:lnTo>
                  <a:lnTo>
                    <a:pt x="3481057" y="0"/>
                  </a:lnTo>
                  <a:lnTo>
                    <a:pt x="3486785" y="0"/>
                  </a:lnTo>
                  <a:lnTo>
                    <a:pt x="3492296" y="1092"/>
                  </a:lnTo>
                  <a:lnTo>
                    <a:pt x="3497580" y="3289"/>
                  </a:lnTo>
                  <a:lnTo>
                    <a:pt x="3502875" y="5486"/>
                  </a:lnTo>
                  <a:lnTo>
                    <a:pt x="3507549" y="8597"/>
                  </a:lnTo>
                  <a:lnTo>
                    <a:pt x="3511600" y="12649"/>
                  </a:lnTo>
                  <a:lnTo>
                    <a:pt x="3515652" y="16700"/>
                  </a:lnTo>
                  <a:lnTo>
                    <a:pt x="3518763" y="21374"/>
                  </a:lnTo>
                  <a:lnTo>
                    <a:pt x="3520960" y="26670"/>
                  </a:lnTo>
                  <a:lnTo>
                    <a:pt x="3523157" y="31953"/>
                  </a:lnTo>
                  <a:lnTo>
                    <a:pt x="3524250" y="37465"/>
                  </a:lnTo>
                  <a:lnTo>
                    <a:pt x="3524250" y="43192"/>
                  </a:lnTo>
                  <a:lnTo>
                    <a:pt x="3524250" y="4319254"/>
                  </a:lnTo>
                  <a:lnTo>
                    <a:pt x="3524250" y="4324979"/>
                  </a:lnTo>
                  <a:lnTo>
                    <a:pt x="3523157" y="4330491"/>
                  </a:lnTo>
                  <a:lnTo>
                    <a:pt x="3497580" y="4359160"/>
                  </a:lnTo>
                  <a:lnTo>
                    <a:pt x="3492296" y="4361354"/>
                  </a:lnTo>
                  <a:lnTo>
                    <a:pt x="3486785" y="4362450"/>
                  </a:lnTo>
                  <a:lnTo>
                    <a:pt x="3481057" y="4362450"/>
                  </a:lnTo>
                  <a:lnTo>
                    <a:pt x="43192" y="4362450"/>
                  </a:lnTo>
                  <a:lnTo>
                    <a:pt x="37465" y="4362450"/>
                  </a:lnTo>
                  <a:lnTo>
                    <a:pt x="31953" y="4361354"/>
                  </a:lnTo>
                  <a:lnTo>
                    <a:pt x="26670" y="4359160"/>
                  </a:lnTo>
                  <a:lnTo>
                    <a:pt x="21374" y="4356968"/>
                  </a:lnTo>
                  <a:lnTo>
                    <a:pt x="3289" y="4335785"/>
                  </a:lnTo>
                  <a:lnTo>
                    <a:pt x="1092" y="4330491"/>
                  </a:lnTo>
                  <a:lnTo>
                    <a:pt x="0" y="4324979"/>
                  </a:lnTo>
                  <a:lnTo>
                    <a:pt x="0" y="4319254"/>
                  </a:lnTo>
                  <a:close/>
                </a:path>
              </a:pathLst>
            </a:custGeom>
            <a:ln w="19050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9559" y="1371600"/>
              <a:ext cx="222503" cy="1737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75135" y="5684520"/>
              <a:ext cx="231648" cy="18288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219732" y="1560468"/>
            <a:ext cx="3056890" cy="254000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50" spc="295" dirty="0">
                <a:solidFill>
                  <a:srgbClr val="262424"/>
                </a:solidFill>
                <a:latin typeface="Microsoft JhengHei UI"/>
                <a:cs typeface="Microsoft JhengHei UI"/>
              </a:rPr>
              <a:t>★★★★★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Hace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2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semanas</a:t>
            </a:r>
            <a:endParaRPr sz="11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3200"/>
              </a:lnSpc>
              <a:spcBef>
                <a:spcPts val="550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Muy</a:t>
            </a:r>
            <a:r>
              <a:rPr sz="11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buenos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profesionales.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Estamos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encantados</a:t>
            </a:r>
            <a:r>
              <a:rPr sz="1150" spc="20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50" spc="2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las</a:t>
            </a:r>
            <a:r>
              <a:rPr sz="1150" spc="20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nuevas</a:t>
            </a:r>
            <a:r>
              <a:rPr sz="1150" spc="2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ventanas.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Aíslan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del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calor,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frío,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ruido...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Una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maravilla. 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relación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calidad-precio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inmejorable.</a:t>
            </a:r>
            <a:endParaRPr sz="1150">
              <a:latin typeface="Microsoft JhengHei UI"/>
              <a:cs typeface="Microsoft JhengHei UI"/>
            </a:endParaRPr>
          </a:p>
          <a:p>
            <a:pPr marL="12700" marR="15875">
              <a:lnSpc>
                <a:spcPct val="122800"/>
              </a:lnSpc>
              <a:spcBef>
                <a:spcPts val="30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Mucho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mejor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respecto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otros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sitios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habíamos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comparado.</a:t>
            </a:r>
            <a:r>
              <a:rPr sz="115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Nos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mandaron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unos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chicos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jóvenes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hacer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obra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nos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sorprendieron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su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profesionalidad: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Rapidez,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limpieza,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educación...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Así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da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gusto.</a:t>
            </a:r>
            <a:endParaRPr sz="1150">
              <a:latin typeface="Microsoft JhengHei UI"/>
              <a:cs typeface="Microsoft JhengHei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19732" y="5342159"/>
            <a:ext cx="1007744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—</a:t>
            </a:r>
            <a:r>
              <a:rPr sz="1150" spc="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Javier</a:t>
            </a:r>
            <a:r>
              <a:rPr sz="1150" spc="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0" dirty="0">
                <a:solidFill>
                  <a:srgbClr val="262424"/>
                </a:solidFill>
                <a:latin typeface="Microsoft JhengHei UI"/>
                <a:cs typeface="Microsoft JhengHei UI"/>
              </a:rPr>
              <a:t>M.P.</a:t>
            </a:r>
            <a:endParaRPr sz="1150">
              <a:latin typeface="Microsoft JhengHei UI"/>
              <a:cs typeface="Microsoft JhengHei U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47723" y="6105525"/>
            <a:ext cx="44450" cy="9525"/>
          </a:xfrm>
          <a:custGeom>
            <a:avLst/>
            <a:gdLst/>
            <a:ahLst/>
            <a:cxnLst/>
            <a:rect l="l" t="t" r="r" b="b"/>
            <a:pathLst>
              <a:path w="44450" h="9525">
                <a:moveTo>
                  <a:pt x="44361" y="0"/>
                </a:moveTo>
                <a:lnTo>
                  <a:pt x="0" y="0"/>
                </a:lnTo>
                <a:lnTo>
                  <a:pt x="0" y="9524"/>
                </a:lnTo>
                <a:lnTo>
                  <a:pt x="44361" y="9524"/>
                </a:lnTo>
                <a:lnTo>
                  <a:pt x="44361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91257" y="5932709"/>
            <a:ext cx="333438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u="sng" spc="-10" dirty="0">
                <a:solidFill>
                  <a:srgbClr val="007EBC"/>
                </a:solidFill>
                <a:uFill>
                  <a:solidFill>
                    <a:srgbClr val="007EBC"/>
                  </a:solidFill>
                </a:uFill>
                <a:latin typeface="Tahoma"/>
                <a:cs typeface="Tahoma"/>
                <a:hlinkClick r:id="rId7"/>
              </a:rPr>
              <a:t>https://g</a:t>
            </a:r>
            <a:r>
              <a:rPr sz="1150" b="1" spc="-10" dirty="0">
                <a:solidFill>
                  <a:srgbClr val="007EBC"/>
                </a:solidFill>
                <a:latin typeface="Tahoma"/>
                <a:cs typeface="Tahoma"/>
                <a:hlinkClick r:id="rId7"/>
              </a:rPr>
              <a:t>.</a:t>
            </a:r>
            <a:r>
              <a:rPr sz="1150" b="1" u="sng" spc="-10" dirty="0">
                <a:solidFill>
                  <a:srgbClr val="007EBC"/>
                </a:solidFill>
                <a:uFill>
                  <a:solidFill>
                    <a:srgbClr val="007EBC"/>
                  </a:solidFill>
                </a:uFill>
                <a:latin typeface="Tahoma"/>
                <a:cs typeface="Tahoma"/>
                <a:hlinkClick r:id="rId7"/>
              </a:rPr>
              <a:t>page/r/CfoccmQ83BZCEBM/review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_s07_generated_result_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8840" y="472503"/>
            <a:ext cx="5370830" cy="93916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30"/>
              </a:spcBef>
            </a:pPr>
            <a:r>
              <a:rPr sz="2900" spc="-200" dirty="0"/>
              <a:t>Nuestra</a:t>
            </a:r>
            <a:r>
              <a:rPr sz="2900" spc="-60" dirty="0"/>
              <a:t> </a:t>
            </a:r>
            <a:r>
              <a:rPr sz="2900" spc="-200" dirty="0"/>
              <a:t>propuesta</a:t>
            </a:r>
            <a:r>
              <a:rPr sz="2900" spc="-55" dirty="0"/>
              <a:t> </a:t>
            </a:r>
            <a:r>
              <a:rPr sz="2900" spc="-229" dirty="0"/>
              <a:t>para</a:t>
            </a:r>
            <a:r>
              <a:rPr sz="2900" spc="-60" dirty="0"/>
              <a:t> </a:t>
            </a:r>
            <a:r>
              <a:rPr sz="2900" spc="-150" dirty="0"/>
              <a:t>vuestra </a:t>
            </a:r>
            <a:r>
              <a:rPr sz="2900" spc="-30" dirty="0"/>
              <a:t>vivienda</a:t>
            </a:r>
            <a:endParaRPr sz="2900"/>
          </a:p>
        </p:txBody>
      </p:sp>
      <p:sp>
        <p:nvSpPr>
          <p:cNvPr id="4" name="sv_s07_project_summary"/>
          <p:cNvSpPr txBox="1"/>
          <p:nvPr/>
        </p:nvSpPr>
        <p:spPr>
          <a:xfrm>
            <a:off x="648840" y="1696751"/>
            <a:ext cx="3281045" cy="25165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b="1" spc="-125" dirty="0">
                <a:latin typeface="Georgia"/>
                <a:cs typeface="Georgia"/>
              </a:rPr>
              <a:t>Resumen</a:t>
            </a:r>
            <a:r>
              <a:rPr sz="1450" b="1" spc="-10" dirty="0">
                <a:latin typeface="Georgia"/>
                <a:cs typeface="Georgia"/>
              </a:rPr>
              <a:t> </a:t>
            </a:r>
            <a:r>
              <a:rPr sz="1450" b="1" spc="-80" dirty="0">
                <a:latin typeface="Georgia"/>
                <a:cs typeface="Georgia"/>
              </a:rPr>
              <a:t>del</a:t>
            </a:r>
            <a:r>
              <a:rPr sz="1450" b="1" spc="-5" dirty="0">
                <a:latin typeface="Georgia"/>
                <a:cs typeface="Georgia"/>
              </a:rPr>
              <a:t> </a:t>
            </a:r>
            <a:r>
              <a:rPr sz="1450" b="1" spc="-10" dirty="0">
                <a:latin typeface="Georgia"/>
                <a:cs typeface="Georgia"/>
              </a:rPr>
              <a:t>proyecto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Cerramiento</a:t>
            </a:r>
            <a:r>
              <a:rPr sz="1100" spc="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salón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00" spc="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cocina</a:t>
            </a:r>
            <a:endParaRPr sz="1100">
              <a:latin typeface="Microsoft JhengHei UI"/>
              <a:cs typeface="Microsoft JhengHei UI"/>
            </a:endParaRPr>
          </a:p>
          <a:p>
            <a:pPr marL="12700" marR="50800">
              <a:lnSpc>
                <a:spcPct val="119300"/>
              </a:lnSpc>
              <a:spcBef>
                <a:spcPts val="750"/>
              </a:spcBef>
            </a:pP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Forros</a:t>
            </a:r>
            <a:r>
              <a:rPr sz="110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barandillas</a:t>
            </a:r>
            <a:r>
              <a:rPr sz="110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0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panel</a:t>
            </a:r>
            <a:r>
              <a:rPr sz="110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sandwich</a:t>
            </a:r>
            <a:r>
              <a:rPr sz="110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25" dirty="0">
                <a:solidFill>
                  <a:srgbClr val="262424"/>
                </a:solidFill>
                <a:latin typeface="Microsoft JhengHei UI"/>
                <a:cs typeface="Microsoft JhengHei UI"/>
              </a:rPr>
              <a:t>24 </a:t>
            </a:r>
            <a:r>
              <a:rPr sz="110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mm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Pasamanos</a:t>
            </a:r>
            <a:r>
              <a:rPr sz="110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</a:t>
            </a:r>
            <a:r>
              <a:rPr sz="110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ambos</a:t>
            </a:r>
            <a:r>
              <a:rPr sz="110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cerramientos</a:t>
            </a:r>
            <a:endParaRPr sz="1100">
              <a:latin typeface="Microsoft JhengHei UI"/>
              <a:cs typeface="Microsoft JhengHei UI"/>
            </a:endParaRPr>
          </a:p>
          <a:p>
            <a:pPr marL="12700" marR="376555">
              <a:lnSpc>
                <a:spcPct val="116500"/>
              </a:lnSpc>
              <a:spcBef>
                <a:spcPts val="785"/>
              </a:spcBef>
            </a:pP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3</a:t>
            </a:r>
            <a:r>
              <a:rPr sz="110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dormitorios.</a:t>
            </a:r>
            <a:r>
              <a:rPr sz="110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Incluye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forro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de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piedras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y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remates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exteriores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+</a:t>
            </a:r>
            <a:r>
              <a:rPr sz="110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trabajos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de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albañilería</a:t>
            </a:r>
            <a:endParaRPr sz="11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19300"/>
              </a:lnSpc>
              <a:spcBef>
                <a:spcPts val="750"/>
              </a:spcBef>
            </a:pP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Adjuntamos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detalle</a:t>
            </a:r>
            <a:r>
              <a:rPr sz="1100" spc="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componentes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cada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pieza.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Doc.</a:t>
            </a:r>
            <a:r>
              <a:rPr sz="110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Equipamiento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5" name="sv_s07_budget_block"/>
          <p:cNvSpPr txBox="1"/>
          <p:nvPr/>
        </p:nvSpPr>
        <p:spPr>
          <a:xfrm>
            <a:off x="4311802" y="1674909"/>
            <a:ext cx="2619375" cy="269049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50" b="1" spc="-10" dirty="0">
                <a:latin typeface="Georgia"/>
                <a:cs typeface="Georgia"/>
              </a:rPr>
              <a:t>Presupuesto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4150" b="1" i="1" spc="-450">
                <a:solidFill>
                  <a:srgbClr val="1F7034"/>
                </a:solidFill>
                <a:latin typeface="Georgia"/>
                <a:cs typeface="Georgia"/>
              </a:rPr>
              <a:t>10.1</a:t>
            </a:r>
            <a:r>
              <a:rPr lang="es-ES" sz="4150" b="1" i="1" spc="-450">
                <a:solidFill>
                  <a:srgbClr val="1F7034"/>
                </a:solidFill>
                <a:latin typeface="Georgia"/>
                <a:cs typeface="Georgia"/>
              </a:rPr>
              <a:t>64</a:t>
            </a:r>
            <a:r>
              <a:rPr sz="4150" b="1" i="1" spc="-450">
                <a:solidFill>
                  <a:srgbClr val="1F7034"/>
                </a:solidFill>
                <a:latin typeface="Georgia"/>
                <a:cs typeface="Georgia"/>
              </a:rPr>
              <a:t>€</a:t>
            </a:r>
            <a:endParaRPr sz="4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IVA incluido</a:t>
            </a:r>
            <a:r>
              <a:rPr sz="1100" spc="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·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Válido</a:t>
            </a:r>
            <a:r>
              <a:rPr sz="1100" spc="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hasta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30/07/26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FORMA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262424"/>
                </a:solidFill>
                <a:latin typeface="Tahoma"/>
                <a:cs typeface="Tahoma"/>
              </a:rPr>
              <a:t>PAGO:</a:t>
            </a:r>
            <a:endParaRPr sz="1100">
              <a:latin typeface="Tahoma"/>
              <a:cs typeface="Tahoma"/>
            </a:endParaRPr>
          </a:p>
          <a:p>
            <a:pPr marL="12700" marR="709930">
              <a:lnSpc>
                <a:spcPts val="2330"/>
              </a:lnSpc>
              <a:spcBef>
                <a:spcPts val="165"/>
              </a:spcBef>
            </a:pPr>
            <a:r>
              <a:rPr sz="1100" b="1" spc="-60" dirty="0">
                <a:solidFill>
                  <a:srgbClr val="262424"/>
                </a:solidFill>
                <a:latin typeface="Tahoma"/>
                <a:cs typeface="Tahoma"/>
              </a:rPr>
              <a:t>50%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Al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262424"/>
                </a:solidFill>
                <a:latin typeface="Tahoma"/>
                <a:cs typeface="Tahoma"/>
              </a:rPr>
              <a:t>confirmar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262424"/>
                </a:solidFill>
                <a:latin typeface="Tahoma"/>
                <a:cs typeface="Tahoma"/>
              </a:rPr>
              <a:t>pedido </a:t>
            </a:r>
            <a:r>
              <a:rPr sz="1100" b="1" spc="-45" dirty="0">
                <a:solidFill>
                  <a:srgbClr val="262424"/>
                </a:solidFill>
                <a:latin typeface="Tahoma"/>
                <a:cs typeface="Tahoma"/>
              </a:rPr>
              <a:t>30%</a:t>
            </a:r>
            <a:r>
              <a:rPr sz="1100" b="1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Al</a:t>
            </a:r>
            <a:r>
              <a:rPr sz="1100" b="1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fijar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fecha</a:t>
            </a:r>
            <a:r>
              <a:rPr sz="1100" b="1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262424"/>
                </a:solidFill>
                <a:latin typeface="Tahoma"/>
                <a:cs typeface="Tahoma"/>
              </a:rPr>
              <a:t>inst.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9300"/>
              </a:lnSpc>
              <a:spcBef>
                <a:spcPts val="500"/>
              </a:spcBef>
            </a:pPr>
            <a:r>
              <a:rPr sz="1100" b="1" spc="-50" dirty="0">
                <a:solidFill>
                  <a:srgbClr val="262424"/>
                </a:solidFill>
                <a:latin typeface="Tahoma"/>
                <a:cs typeface="Tahoma"/>
              </a:rPr>
              <a:t>20%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262424"/>
                </a:solidFill>
                <a:latin typeface="Tahoma"/>
                <a:cs typeface="Tahoma"/>
              </a:rPr>
              <a:t>7</a:t>
            </a:r>
            <a:r>
              <a:rPr sz="1100" b="1" spc="-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días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después</a:t>
            </a:r>
            <a:r>
              <a:rPr sz="1100" b="1" spc="-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sz="1100" b="1" spc="-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262424"/>
                </a:solidFill>
                <a:latin typeface="Tahoma"/>
                <a:cs typeface="Tahoma"/>
              </a:rPr>
              <a:t>finalización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262424"/>
                </a:solidFill>
                <a:latin typeface="Tahoma"/>
                <a:cs typeface="Tahoma"/>
              </a:rPr>
              <a:t>obra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7225" y="4591050"/>
            <a:ext cx="6305550" cy="1228725"/>
            <a:chOff x="657225" y="4591050"/>
            <a:chExt cx="6305550" cy="1228725"/>
          </a:xfrm>
        </p:grpSpPr>
        <p:sp>
          <p:nvSpPr>
            <p:cNvPr id="7" name="object 7"/>
            <p:cNvSpPr/>
            <p:nvPr/>
          </p:nvSpPr>
          <p:spPr>
            <a:xfrm>
              <a:off x="657225" y="4591050"/>
              <a:ext cx="6305550" cy="1228725"/>
            </a:xfrm>
            <a:custGeom>
              <a:avLst/>
              <a:gdLst/>
              <a:ahLst/>
              <a:cxnLst/>
              <a:rect l="l" t="t" r="r" b="b"/>
              <a:pathLst>
                <a:path w="6305550" h="1228725">
                  <a:moveTo>
                    <a:pt x="6262509" y="0"/>
                  </a:moveTo>
                  <a:lnTo>
                    <a:pt x="43041" y="0"/>
                  </a:lnTo>
                  <a:lnTo>
                    <a:pt x="36710" y="1257"/>
                  </a:lnTo>
                  <a:lnTo>
                    <a:pt x="6295" y="24549"/>
                  </a:lnTo>
                  <a:lnTo>
                    <a:pt x="0" y="43040"/>
                  </a:lnTo>
                  <a:lnTo>
                    <a:pt x="0" y="1179106"/>
                  </a:lnTo>
                  <a:lnTo>
                    <a:pt x="0" y="1185683"/>
                  </a:lnTo>
                  <a:lnTo>
                    <a:pt x="19183" y="1218843"/>
                  </a:lnTo>
                  <a:lnTo>
                    <a:pt x="43041" y="1228725"/>
                  </a:lnTo>
                  <a:lnTo>
                    <a:pt x="6262509" y="1228725"/>
                  </a:lnTo>
                  <a:lnTo>
                    <a:pt x="6295669" y="1209536"/>
                  </a:lnTo>
                  <a:lnTo>
                    <a:pt x="6305550" y="1185683"/>
                  </a:lnTo>
                  <a:lnTo>
                    <a:pt x="6305550" y="43040"/>
                  </a:lnTo>
                  <a:lnTo>
                    <a:pt x="6286360" y="9880"/>
                  </a:lnTo>
                  <a:lnTo>
                    <a:pt x="6268834" y="1257"/>
                  </a:lnTo>
                  <a:lnTo>
                    <a:pt x="6262509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43" y="4764036"/>
              <a:ext cx="154969" cy="15497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2050" y="5105400"/>
              <a:ext cx="142875" cy="1428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050" y="5343525"/>
              <a:ext cx="142875" cy="1333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2050" y="5572125"/>
              <a:ext cx="142875" cy="1428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34740" y="4706651"/>
            <a:ext cx="5750560" cy="16122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15"/>
              </a:spcBef>
            </a:pPr>
            <a:r>
              <a:rPr sz="1450" b="1" spc="-105" dirty="0">
                <a:latin typeface="Georgia"/>
                <a:cs typeface="Georgia"/>
              </a:rPr>
              <a:t>Ventajas</a:t>
            </a:r>
            <a:r>
              <a:rPr sz="1450" b="1" spc="-30" dirty="0">
                <a:latin typeface="Georgia"/>
                <a:cs typeface="Georgia"/>
              </a:rPr>
              <a:t> </a:t>
            </a:r>
            <a:r>
              <a:rPr sz="1450" b="1" spc="-80" dirty="0">
                <a:latin typeface="Georgia"/>
                <a:cs typeface="Georgia"/>
              </a:rPr>
              <a:t>exclusivas</a:t>
            </a:r>
            <a:r>
              <a:rPr sz="1450" b="1" spc="-25" dirty="0">
                <a:latin typeface="Georgia"/>
                <a:cs typeface="Georgia"/>
              </a:rPr>
              <a:t> </a:t>
            </a:r>
            <a:r>
              <a:rPr sz="1450" b="1" spc="-10" dirty="0">
                <a:latin typeface="Georgia"/>
                <a:cs typeface="Georgia"/>
              </a:rPr>
              <a:t>SmartVitra</a:t>
            </a:r>
            <a:endParaRPr sz="1450">
              <a:latin typeface="Georgia"/>
              <a:cs typeface="Georgia"/>
            </a:endParaRPr>
          </a:p>
          <a:p>
            <a:pPr marL="457834" marR="45085">
              <a:lnSpc>
                <a:spcPct val="142000"/>
              </a:lnSpc>
              <a:spcBef>
                <a:spcPts val="530"/>
              </a:spcBef>
            </a:pPr>
            <a:r>
              <a:rPr sz="1100" spc="-10" dirty="0">
                <a:latin typeface="Microsoft JhengHei UI"/>
                <a:cs typeface="Microsoft JhengHei UI"/>
              </a:rPr>
              <a:t>Equipamiento</a:t>
            </a:r>
            <a:r>
              <a:rPr sz="1100" spc="4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extra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en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una</a:t>
            </a:r>
            <a:r>
              <a:rPr sz="1100" spc="4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de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las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ventanas</a:t>
            </a:r>
            <a:r>
              <a:rPr sz="1100" spc="4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a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elegir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spc="-10" dirty="0">
                <a:latin typeface="Microsoft JhengHei UI"/>
                <a:cs typeface="Microsoft JhengHei UI"/>
              </a:rPr>
              <a:t>Motorización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+</a:t>
            </a:r>
            <a:r>
              <a:rPr sz="1100" spc="40" dirty="0">
                <a:latin typeface="Microsoft JhengHei UI"/>
                <a:cs typeface="Microsoft JhengHei UI"/>
              </a:rPr>
              <a:t> </a:t>
            </a:r>
            <a:r>
              <a:rPr sz="1100" spc="-10" dirty="0">
                <a:latin typeface="Microsoft JhengHei UI"/>
                <a:cs typeface="Microsoft JhengHei UI"/>
              </a:rPr>
              <a:t>mosquitera </a:t>
            </a:r>
            <a:r>
              <a:rPr sz="1100" dirty="0">
                <a:latin typeface="Microsoft JhengHei UI"/>
                <a:cs typeface="Microsoft JhengHei UI"/>
              </a:rPr>
              <a:t>Instalación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completa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con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todos</a:t>
            </a:r>
            <a:r>
              <a:rPr sz="1100" spc="3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los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remates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spc="-10" dirty="0">
                <a:latin typeface="Microsoft JhengHei UI"/>
                <a:cs typeface="Microsoft JhengHei UI"/>
              </a:rPr>
              <a:t>incluidos</a:t>
            </a:r>
            <a:endParaRPr sz="1100">
              <a:latin typeface="Microsoft JhengHei UI"/>
              <a:cs typeface="Microsoft JhengHei UI"/>
            </a:endParaRPr>
          </a:p>
          <a:p>
            <a:pPr marL="457834">
              <a:lnSpc>
                <a:spcPct val="100000"/>
              </a:lnSpc>
              <a:spcBef>
                <a:spcPts val="480"/>
              </a:spcBef>
            </a:pPr>
            <a:r>
              <a:rPr sz="1100" dirty="0">
                <a:latin typeface="Microsoft JhengHei UI"/>
                <a:cs typeface="Microsoft JhengHei UI"/>
              </a:rPr>
              <a:t>Sin</a:t>
            </a:r>
            <a:r>
              <a:rPr sz="1100" spc="13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sorpresas</a:t>
            </a:r>
            <a:r>
              <a:rPr sz="1100" spc="13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ni</a:t>
            </a:r>
            <a:r>
              <a:rPr sz="1100" spc="13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costes</a:t>
            </a:r>
            <a:r>
              <a:rPr sz="1100" spc="135" dirty="0">
                <a:latin typeface="Microsoft JhengHei UI"/>
                <a:cs typeface="Microsoft JhengHei UI"/>
              </a:rPr>
              <a:t> </a:t>
            </a:r>
            <a:r>
              <a:rPr sz="1100" spc="-10" dirty="0">
                <a:latin typeface="Microsoft JhengHei UI"/>
                <a:cs typeface="Microsoft JhengHei UI"/>
              </a:rPr>
              <a:t>ocultos</a:t>
            </a:r>
            <a:endParaRPr sz="1100">
              <a:latin typeface="Microsoft JhengHei UI"/>
              <a:cs typeface="Microsoft JhengHei UI"/>
            </a:endParaRPr>
          </a:p>
          <a:p>
            <a:pPr marL="441325" marR="5080" indent="-429259">
              <a:lnSpc>
                <a:spcPct val="114100"/>
              </a:lnSpc>
              <a:spcBef>
                <a:spcPts val="1510"/>
              </a:spcBef>
            </a:pPr>
            <a:r>
              <a:rPr sz="1150" i="1" spc="-50" dirty="0">
                <a:solidFill>
                  <a:srgbClr val="262424"/>
                </a:solidFill>
                <a:latin typeface="Verdana"/>
                <a:cs typeface="Verdana"/>
              </a:rPr>
              <a:t>Gracias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por </a:t>
            </a:r>
            <a:r>
              <a:rPr sz="1150" i="1" spc="-45" dirty="0">
                <a:solidFill>
                  <a:srgbClr val="262424"/>
                </a:solidFill>
                <a:latin typeface="Verdana"/>
                <a:cs typeface="Verdana"/>
              </a:rPr>
              <a:t>confiar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en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85" dirty="0">
                <a:solidFill>
                  <a:srgbClr val="262424"/>
                </a:solidFill>
                <a:latin typeface="Verdana"/>
                <a:cs typeface="Verdana"/>
              </a:rPr>
              <a:t>SmartVitra.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Nuestro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compromiso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35" dirty="0">
                <a:solidFill>
                  <a:srgbClr val="262424"/>
                </a:solidFill>
                <a:latin typeface="Verdana"/>
                <a:cs typeface="Verdana"/>
              </a:rPr>
              <a:t>es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70" dirty="0">
                <a:solidFill>
                  <a:srgbClr val="262424"/>
                </a:solidFill>
                <a:latin typeface="Verdana"/>
                <a:cs typeface="Verdana"/>
              </a:rPr>
              <a:t>entregar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80" dirty="0">
                <a:solidFill>
                  <a:srgbClr val="262424"/>
                </a:solidFill>
                <a:latin typeface="Verdana"/>
                <a:cs typeface="Verdana"/>
              </a:rPr>
              <a:t>una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vivienda </a:t>
            </a:r>
            <a:r>
              <a:rPr sz="1150" i="1" spc="-25" dirty="0">
                <a:solidFill>
                  <a:srgbClr val="262424"/>
                </a:solidFill>
                <a:latin typeface="Verdana"/>
                <a:cs typeface="Verdana"/>
              </a:rPr>
              <a:t>más 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confortable,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50" dirty="0">
                <a:solidFill>
                  <a:srgbClr val="262424"/>
                </a:solidFill>
                <a:latin typeface="Verdana"/>
                <a:cs typeface="Verdana"/>
              </a:rPr>
              <a:t>eficiente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sz="1150" i="1" spc="-3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preparada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para</a:t>
            </a:r>
            <a:r>
              <a:rPr sz="1150" i="1" spc="-3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disfrutarla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75" dirty="0">
                <a:solidFill>
                  <a:srgbClr val="262424"/>
                </a:solidFill>
                <a:latin typeface="Verdana"/>
                <a:cs typeface="Verdana"/>
              </a:rPr>
              <a:t>durante</a:t>
            </a:r>
            <a:r>
              <a:rPr sz="1150" i="1" spc="-3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muchos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10" dirty="0">
                <a:solidFill>
                  <a:srgbClr val="262424"/>
                </a:solidFill>
                <a:latin typeface="Verdana"/>
                <a:cs typeface="Verdana"/>
              </a:rPr>
              <a:t>años.</a:t>
            </a:r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EB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657</Words>
  <Application>Microsoft Macintosh PowerPoint</Application>
  <PresentationFormat>Panorámica</PresentationFormat>
  <Paragraphs>74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Microsoft JhengHei UI</vt:lpstr>
      <vt:lpstr>Calibri</vt:lpstr>
      <vt:lpstr>Georgia</vt:lpstr>
      <vt:lpstr>Segoe UI Symbol</vt:lpstr>
      <vt:lpstr>Tahoma</vt:lpstr>
      <vt:lpstr>Verdana</vt:lpstr>
      <vt:lpstr>Office Theme</vt:lpstr>
      <vt:lpstr>Una propuesta creada para esta vivienda</vt:lpstr>
      <vt:lpstr>Lo que hemos detectado</vt:lpstr>
      <vt:lpstr>Nuestra propuesta</vt:lpstr>
      <vt:lpstr>Una instalación que marca la diferencia</vt:lpstr>
      <vt:lpstr>Proyectos similares</vt:lpstr>
      <vt:lpstr>Lo que dicen nuestros clientes</vt:lpstr>
      <vt:lpstr>Nuestra propuesta para vuestra vivienda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Alberto  Martínez</cp:lastModifiedBy>
  <cp:revision>3</cp:revision>
  <dcterms:created xsi:type="dcterms:W3CDTF">2026-08-12T09:28:52Z</dcterms:created>
  <dcterms:modified xsi:type="dcterms:W3CDTF">2026-08-13T10:21:57Z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2026-07-15T00:00:00Z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2026-08-12T00:00:00Z</vt:filetime>
  </property>
  <property fmtid="{D5CDD505-2E9C-101B-9397-08002B2CF9AE}" pid="6" name="Producer">
    <vt:lpwstr>pdf-lib (https://github.com/Hopding/pdf-lib)</vt:lpwstr>
  </property>
</Properties>
</file>