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>
      <p:cViewPr varScale="1">
        <p:scale>
          <a:sx n="119" d="100"/>
          <a:sy n="119" d="100"/>
        </p:scale>
        <p:origin x="85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8840" y="480695"/>
            <a:ext cx="8241665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s://g.page/r/CfoccmQ83BZCEBM/review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8840" y="702913"/>
            <a:ext cx="100203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solidFill>
                  <a:srgbClr val="007EBC"/>
                </a:solidFill>
                <a:latin typeface="Microsoft JhengHei UI"/>
                <a:cs typeface="Microsoft JhengHei UI"/>
              </a:rPr>
              <a:t>SMARTVITRA</a:t>
            </a:r>
            <a:endParaRPr sz="1200">
              <a:latin typeface="Microsoft JhengHei UI"/>
              <a:cs typeface="Microsoft JhengHei U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840" y="986567"/>
            <a:ext cx="6119495" cy="1240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4880"/>
              </a:lnSpc>
            </a:pPr>
            <a:r>
              <a:rPr sz="3900" spc="-330" dirty="0"/>
              <a:t>Una</a:t>
            </a:r>
            <a:r>
              <a:rPr sz="3900" spc="-120" dirty="0"/>
              <a:t> </a:t>
            </a:r>
            <a:r>
              <a:rPr sz="3900" spc="-280" dirty="0"/>
              <a:t>propuesta</a:t>
            </a:r>
            <a:r>
              <a:rPr sz="3900" spc="-120" dirty="0"/>
              <a:t> </a:t>
            </a:r>
            <a:r>
              <a:rPr sz="3900" spc="-275" dirty="0"/>
              <a:t>creada</a:t>
            </a:r>
            <a:r>
              <a:rPr sz="3900" spc="-120" dirty="0"/>
              <a:t> </a:t>
            </a:r>
            <a:r>
              <a:rPr sz="3900" spc="-340" dirty="0"/>
              <a:t>para </a:t>
            </a:r>
            <a:r>
              <a:rPr sz="3900" spc="-245" dirty="0"/>
              <a:t>esta</a:t>
            </a:r>
            <a:r>
              <a:rPr sz="3900" spc="-105" dirty="0"/>
              <a:t> </a:t>
            </a:r>
            <a:r>
              <a:rPr sz="3900" spc="-85" dirty="0"/>
              <a:t>vivienda</a:t>
            </a:r>
            <a:endParaRPr sz="3900"/>
          </a:p>
        </p:txBody>
      </p:sp>
      <p:sp>
        <p:nvSpPr>
          <p:cNvPr id="5" name="object 5"/>
          <p:cNvSpPr txBox="1"/>
          <p:nvPr/>
        </p:nvSpPr>
        <p:spPr>
          <a:xfrm>
            <a:off x="648840" y="2492070"/>
            <a:ext cx="5848985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Hemos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estudiado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vuestra</a:t>
            </a:r>
            <a:r>
              <a:rPr sz="14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vivienda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para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diseñar</a:t>
            </a:r>
            <a:r>
              <a:rPr sz="14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una</a:t>
            </a:r>
            <a:r>
              <a:rPr sz="14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solución</a:t>
            </a:r>
            <a:r>
              <a:rPr sz="14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mejore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confort,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aislamiento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estética,</a:t>
            </a:r>
            <a:r>
              <a:rPr sz="14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adaptándonos</a:t>
            </a:r>
            <a:r>
              <a:rPr sz="14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 </a:t>
            </a:r>
            <a:r>
              <a:rPr sz="14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vuestras</a:t>
            </a:r>
            <a:r>
              <a:rPr sz="14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necesidades.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000" y="3817873"/>
            <a:ext cx="7016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Cliente: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1064" y="3817873"/>
            <a:ext cx="148272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Sara</a:t>
            </a:r>
            <a:r>
              <a:rPr sz="14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Ru</a:t>
            </a:r>
            <a:r>
              <a:rPr sz="14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Poyatos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000" y="4360798"/>
            <a:ext cx="92646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Dirección: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01019" y="4360798"/>
            <a:ext cx="210375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C/</a:t>
            </a:r>
            <a:r>
              <a:rPr sz="14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Dulcinea</a:t>
            </a:r>
            <a:r>
              <a:rPr sz="14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7,</a:t>
            </a:r>
            <a:r>
              <a:rPr sz="14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Alcorcón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8000" y="4835220"/>
            <a:ext cx="1200785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Nº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Presupuesto: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1014" y="4913248"/>
            <a:ext cx="69151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S00195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000" y="5760973"/>
            <a:ext cx="61976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Fecha: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1171" y="5760973"/>
            <a:ext cx="80518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15/07/26</a:t>
            </a:r>
            <a:endParaRPr sz="14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0842" y="1358042"/>
            <a:ext cx="5506720" cy="621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spc="-365" dirty="0"/>
              <a:t>Lo</a:t>
            </a:r>
            <a:r>
              <a:rPr sz="3900" spc="-130" dirty="0"/>
              <a:t> </a:t>
            </a:r>
            <a:r>
              <a:rPr sz="3900" spc="-265" dirty="0"/>
              <a:t>que</a:t>
            </a:r>
            <a:r>
              <a:rPr sz="3900" spc="-130" dirty="0"/>
              <a:t> </a:t>
            </a:r>
            <a:r>
              <a:rPr sz="3900" spc="-310" dirty="0"/>
              <a:t>hemos</a:t>
            </a:r>
            <a:r>
              <a:rPr sz="3900" spc="-130" dirty="0"/>
              <a:t> </a:t>
            </a:r>
            <a:r>
              <a:rPr sz="3900" spc="-200" dirty="0"/>
              <a:t>detectado</a:t>
            </a:r>
            <a:endParaRPr sz="3900"/>
          </a:p>
        </p:txBody>
      </p:sp>
      <p:sp>
        <p:nvSpPr>
          <p:cNvPr id="4" name="object 4"/>
          <p:cNvSpPr/>
          <p:nvPr/>
        </p:nvSpPr>
        <p:spPr>
          <a:xfrm>
            <a:off x="5305425" y="2349868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35053" y="2322448"/>
            <a:ext cx="233870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262424"/>
                </a:solidFill>
                <a:latin typeface="Tahoma"/>
                <a:cs typeface="Tahoma"/>
              </a:rPr>
              <a:t>NULO</a:t>
            </a:r>
            <a:r>
              <a:rPr sz="1450" b="1" spc="-5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aislamiento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térmico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72500" y="2349868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01531" y="2244420"/>
            <a:ext cx="2433320" cy="635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Renovar</a:t>
            </a:r>
            <a:r>
              <a:rPr sz="1450" spc="2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450" spc="2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antiguas 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4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b="1" spc="60" dirty="0">
                <a:solidFill>
                  <a:srgbClr val="262424"/>
                </a:solidFill>
                <a:latin typeface="Tahoma"/>
                <a:cs typeface="Tahoma"/>
              </a:rPr>
              <a:t>MUY</a:t>
            </a:r>
            <a:r>
              <a:rPr sz="1450" b="1" spc="-6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b="1" spc="75" dirty="0">
                <a:solidFill>
                  <a:srgbClr val="262424"/>
                </a:solidFill>
                <a:latin typeface="Tahoma"/>
                <a:cs typeface="Tahoma"/>
              </a:rPr>
              <a:t>BAJA</a:t>
            </a:r>
            <a:r>
              <a:rPr sz="1450" b="1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05425" y="3330943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35053" y="3244545"/>
            <a:ext cx="2330450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sz="1450" b="1" spc="-25" dirty="0">
                <a:solidFill>
                  <a:srgbClr val="262424"/>
                </a:solidFill>
                <a:latin typeface="Tahoma"/>
                <a:cs typeface="Tahoma"/>
              </a:rPr>
              <a:t>REDUCIDA</a:t>
            </a:r>
            <a:r>
              <a:rPr sz="1450" b="1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entrada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luz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natural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72500" y="3330943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01531" y="3244545"/>
            <a:ext cx="2341880" cy="615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sz="1450" b="1" spc="60" dirty="0">
                <a:solidFill>
                  <a:srgbClr val="262424"/>
                </a:solidFill>
                <a:latin typeface="Tahoma"/>
                <a:cs typeface="Tahoma"/>
              </a:rPr>
              <a:t>CAJONES</a:t>
            </a:r>
            <a:r>
              <a:rPr sz="1450" b="1" spc="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4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persianas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enormes</a:t>
            </a:r>
            <a:r>
              <a:rPr sz="14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4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sin</a:t>
            </a:r>
            <a:r>
              <a:rPr sz="14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aislamiento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05425" y="4312018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4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35053" y="4225620"/>
            <a:ext cx="2002155" cy="6159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50" b="1" spc="-10" dirty="0">
                <a:solidFill>
                  <a:srgbClr val="262424"/>
                </a:solidFill>
                <a:latin typeface="Tahoma"/>
                <a:cs typeface="Tahoma"/>
              </a:rPr>
              <a:t>CONTRAVENTANAS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antiestéticas</a:t>
            </a:r>
            <a:r>
              <a:rPr sz="1450" spc="2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</a:t>
            </a:r>
            <a:r>
              <a:rPr sz="1450" spc="2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4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inútiles</a:t>
            </a:r>
            <a:endParaRPr sz="1450">
              <a:latin typeface="Microsoft JhengHei UI"/>
              <a:cs typeface="Microsoft JhengHei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72500" y="4340593"/>
            <a:ext cx="285115" cy="245110"/>
          </a:xfrm>
          <a:custGeom>
            <a:avLst/>
            <a:gdLst/>
            <a:ahLst/>
            <a:cxnLst/>
            <a:rect l="l" t="t" r="r" b="b"/>
            <a:pathLst>
              <a:path w="285115" h="245110">
                <a:moveTo>
                  <a:pt x="165252" y="0"/>
                </a:moveTo>
                <a:lnTo>
                  <a:pt x="158800" y="0"/>
                </a:lnTo>
                <a:lnTo>
                  <a:pt x="150952" y="7835"/>
                </a:lnTo>
                <a:lnTo>
                  <a:pt x="150952" y="14300"/>
                </a:lnTo>
                <a:lnTo>
                  <a:pt x="248983" y="112344"/>
                </a:lnTo>
                <a:lnTo>
                  <a:pt x="4559" y="112344"/>
                </a:lnTo>
                <a:lnTo>
                  <a:pt x="0" y="116890"/>
                </a:lnTo>
                <a:lnTo>
                  <a:pt x="0" y="128041"/>
                </a:lnTo>
                <a:lnTo>
                  <a:pt x="4559" y="132588"/>
                </a:lnTo>
                <a:lnTo>
                  <a:pt x="248983" y="132588"/>
                </a:lnTo>
                <a:lnTo>
                  <a:pt x="150952" y="230632"/>
                </a:lnTo>
                <a:lnTo>
                  <a:pt x="150952" y="237083"/>
                </a:lnTo>
                <a:lnTo>
                  <a:pt x="158800" y="244932"/>
                </a:lnTo>
                <a:lnTo>
                  <a:pt x="165252" y="244932"/>
                </a:lnTo>
                <a:lnTo>
                  <a:pt x="284505" y="125691"/>
                </a:lnTo>
                <a:lnTo>
                  <a:pt x="284505" y="119240"/>
                </a:lnTo>
                <a:lnTo>
                  <a:pt x="165252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01531" y="4242958"/>
            <a:ext cx="2107565" cy="7651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2400" b="1" i="1" spc="-310" dirty="0">
                <a:solidFill>
                  <a:srgbClr val="F44343"/>
                </a:solidFill>
                <a:latin typeface="Georgia"/>
                <a:cs typeface="Georgia"/>
              </a:rPr>
              <a:t>DERROCHE</a:t>
            </a:r>
            <a:r>
              <a:rPr sz="2400" b="1" i="1" spc="-90" dirty="0">
                <a:solidFill>
                  <a:srgbClr val="F44343"/>
                </a:solidFill>
                <a:latin typeface="Georgia"/>
                <a:cs typeface="Georgia"/>
              </a:rPr>
              <a:t> </a:t>
            </a:r>
            <a:r>
              <a:rPr sz="2400" b="1" i="1" spc="-325" dirty="0">
                <a:solidFill>
                  <a:srgbClr val="F44343"/>
                </a:solidFill>
                <a:latin typeface="Georgia"/>
                <a:cs typeface="Georgia"/>
              </a:rPr>
              <a:t>DE </a:t>
            </a:r>
            <a:r>
              <a:rPr sz="2400" b="1" i="1" spc="-300" dirty="0">
                <a:solidFill>
                  <a:srgbClr val="F44343"/>
                </a:solidFill>
                <a:latin typeface="Georgia"/>
                <a:cs typeface="Georgia"/>
              </a:rPr>
              <a:t>DINERO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14"/>
              </a:spcBef>
            </a:pPr>
            <a:r>
              <a:rPr sz="3400" spc="-235" dirty="0"/>
              <a:t>Nuestra</a:t>
            </a:r>
            <a:r>
              <a:rPr sz="3400" spc="-70" dirty="0"/>
              <a:t> </a:t>
            </a:r>
            <a:r>
              <a:rPr sz="3400" spc="-210" dirty="0"/>
              <a:t>propuesta</a:t>
            </a:r>
            <a:endParaRPr sz="3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899" y="1499895"/>
            <a:ext cx="247649" cy="247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86260" y="1498346"/>
            <a:ext cx="20751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PVC</a:t>
            </a:r>
            <a:r>
              <a:rPr sz="130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30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altas</a:t>
            </a:r>
            <a:r>
              <a:rPr sz="130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prestaciones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3900" y="2290495"/>
            <a:ext cx="248285" cy="248285"/>
          </a:xfrm>
          <a:custGeom>
            <a:avLst/>
            <a:gdLst/>
            <a:ahLst/>
            <a:cxnLst/>
            <a:rect l="l" t="t" r="r" b="b"/>
            <a:pathLst>
              <a:path w="248284" h="248285">
                <a:moveTo>
                  <a:pt x="37673" y="211734"/>
                </a:moveTo>
                <a:lnTo>
                  <a:pt x="59526" y="189750"/>
                </a:lnTo>
              </a:path>
              <a:path w="248284" h="248285">
                <a:moveTo>
                  <a:pt x="189656" y="188353"/>
                </a:moveTo>
                <a:lnTo>
                  <a:pt x="213206" y="212026"/>
                </a:lnTo>
              </a:path>
              <a:path w="248284" h="248285">
                <a:moveTo>
                  <a:pt x="0" y="125349"/>
                </a:moveTo>
                <a:lnTo>
                  <a:pt x="32142" y="125196"/>
                </a:lnTo>
              </a:path>
              <a:path w="248284" h="248285">
                <a:moveTo>
                  <a:pt x="215249" y="125234"/>
                </a:moveTo>
                <a:lnTo>
                  <a:pt x="247947" y="125234"/>
                </a:lnTo>
              </a:path>
              <a:path w="248284" h="248285">
                <a:moveTo>
                  <a:pt x="35068" y="38138"/>
                </a:moveTo>
                <a:lnTo>
                  <a:pt x="57056" y="60934"/>
                </a:lnTo>
              </a:path>
              <a:path w="248284" h="248285">
                <a:moveTo>
                  <a:pt x="124757" y="0"/>
                </a:moveTo>
                <a:lnTo>
                  <a:pt x="124787" y="35953"/>
                </a:lnTo>
              </a:path>
              <a:path w="248284" h="248285">
                <a:moveTo>
                  <a:pt x="190783" y="61887"/>
                </a:moveTo>
                <a:lnTo>
                  <a:pt x="213281" y="39522"/>
                </a:lnTo>
              </a:path>
              <a:path w="248284" h="248285">
                <a:moveTo>
                  <a:pt x="69264" y="156578"/>
                </a:moveTo>
                <a:lnTo>
                  <a:pt x="67101" y="152717"/>
                </a:lnTo>
                <a:lnTo>
                  <a:pt x="65360" y="148666"/>
                </a:lnTo>
                <a:lnTo>
                  <a:pt x="64046" y="144424"/>
                </a:lnTo>
                <a:lnTo>
                  <a:pt x="62735" y="140195"/>
                </a:lnTo>
                <a:lnTo>
                  <a:pt x="61873" y="135864"/>
                </a:lnTo>
                <a:lnTo>
                  <a:pt x="61465" y="131457"/>
                </a:lnTo>
                <a:lnTo>
                  <a:pt x="61064" y="127038"/>
                </a:lnTo>
                <a:lnTo>
                  <a:pt x="61118" y="122631"/>
                </a:lnTo>
                <a:lnTo>
                  <a:pt x="74989" y="85953"/>
                </a:lnTo>
                <a:lnTo>
                  <a:pt x="77995" y="82702"/>
                </a:lnTo>
                <a:lnTo>
                  <a:pt x="81001" y="79438"/>
                </a:lnTo>
                <a:lnTo>
                  <a:pt x="84316" y="76530"/>
                </a:lnTo>
                <a:lnTo>
                  <a:pt x="87937" y="73977"/>
                </a:lnTo>
                <a:lnTo>
                  <a:pt x="91554" y="71412"/>
                </a:lnTo>
                <a:lnTo>
                  <a:pt x="95398" y="69253"/>
                </a:lnTo>
                <a:lnTo>
                  <a:pt x="99471" y="67500"/>
                </a:lnTo>
                <a:lnTo>
                  <a:pt x="103544" y="65735"/>
                </a:lnTo>
                <a:lnTo>
                  <a:pt x="107751" y="64427"/>
                </a:lnTo>
                <a:lnTo>
                  <a:pt x="112102" y="63563"/>
                </a:lnTo>
                <a:lnTo>
                  <a:pt x="116447" y="62687"/>
                </a:lnTo>
                <a:lnTo>
                  <a:pt x="120837" y="62280"/>
                </a:lnTo>
                <a:lnTo>
                  <a:pt x="125274" y="62331"/>
                </a:lnTo>
                <a:lnTo>
                  <a:pt x="129703" y="62382"/>
                </a:lnTo>
                <a:lnTo>
                  <a:pt x="134084" y="62890"/>
                </a:lnTo>
                <a:lnTo>
                  <a:pt x="138409" y="63868"/>
                </a:lnTo>
                <a:lnTo>
                  <a:pt x="142736" y="64833"/>
                </a:lnTo>
                <a:lnTo>
                  <a:pt x="146913" y="66243"/>
                </a:lnTo>
                <a:lnTo>
                  <a:pt x="150945" y="68097"/>
                </a:lnTo>
                <a:lnTo>
                  <a:pt x="154974" y="69938"/>
                </a:lnTo>
                <a:lnTo>
                  <a:pt x="179720" y="94589"/>
                </a:lnTo>
                <a:lnTo>
                  <a:pt x="181893" y="98437"/>
                </a:lnTo>
                <a:lnTo>
                  <a:pt x="187582" y="119697"/>
                </a:lnTo>
                <a:lnTo>
                  <a:pt x="187999" y="124104"/>
                </a:lnTo>
                <a:lnTo>
                  <a:pt x="179064" y="157861"/>
                </a:lnTo>
                <a:lnTo>
                  <a:pt x="176813" y="161683"/>
                </a:lnTo>
                <a:lnTo>
                  <a:pt x="161269" y="177241"/>
                </a:lnTo>
                <a:lnTo>
                  <a:pt x="157659" y="179819"/>
                </a:lnTo>
                <a:lnTo>
                  <a:pt x="153818" y="181991"/>
                </a:lnTo>
                <a:lnTo>
                  <a:pt x="149750" y="183756"/>
                </a:lnTo>
                <a:lnTo>
                  <a:pt x="145682" y="185521"/>
                </a:lnTo>
                <a:lnTo>
                  <a:pt x="141475" y="186842"/>
                </a:lnTo>
                <a:lnTo>
                  <a:pt x="137134" y="187718"/>
                </a:lnTo>
              </a:path>
              <a:path w="248284" h="248285">
                <a:moveTo>
                  <a:pt x="124757" y="215328"/>
                </a:moveTo>
                <a:lnTo>
                  <a:pt x="124777" y="247878"/>
                </a:lnTo>
              </a:path>
              <a:path w="248284" h="248285">
                <a:moveTo>
                  <a:pt x="137115" y="187617"/>
                </a:moveTo>
                <a:lnTo>
                  <a:pt x="128933" y="188670"/>
                </a:lnTo>
                <a:lnTo>
                  <a:pt x="120503" y="188626"/>
                </a:lnTo>
                <a:lnTo>
                  <a:pt x="111832" y="187363"/>
                </a:lnTo>
                <a:lnTo>
                  <a:pt x="102924" y="184759"/>
                </a:lnTo>
                <a:lnTo>
                  <a:pt x="92701" y="179892"/>
                </a:lnTo>
                <a:lnTo>
                  <a:pt x="83745" y="173539"/>
                </a:lnTo>
                <a:lnTo>
                  <a:pt x="76056" y="165700"/>
                </a:lnTo>
                <a:lnTo>
                  <a:pt x="69636" y="156375"/>
                </a:lnTo>
              </a:path>
            </a:pathLst>
          </a:custGeom>
          <a:ln w="10981">
            <a:solidFill>
              <a:srgbClr val="007E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86260" y="2239695"/>
            <a:ext cx="172593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Vidrio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cuide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35" dirty="0">
                <a:solidFill>
                  <a:srgbClr val="262424"/>
                </a:solidFill>
                <a:latin typeface="Microsoft JhengHei UI"/>
                <a:cs typeface="Microsoft JhengHei UI"/>
              </a:rPr>
              <a:t>la </a:t>
            </a: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temperatura</a:t>
            </a:r>
            <a:endParaRPr sz="1300">
              <a:latin typeface="Microsoft JhengHei UI"/>
              <a:cs typeface="Microsoft JhengHei U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8345" y="3089182"/>
            <a:ext cx="258991" cy="2513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86260" y="3030270"/>
            <a:ext cx="210375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300" spc="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una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hoja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2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para </a:t>
            </a:r>
            <a:r>
              <a:rPr sz="1300" dirty="0">
                <a:solidFill>
                  <a:srgbClr val="262424"/>
                </a:solidFill>
                <a:latin typeface="Microsoft JhengHei UI"/>
                <a:cs typeface="Microsoft JhengHei UI"/>
              </a:rPr>
              <a:t>ganar</a:t>
            </a:r>
            <a:r>
              <a:rPr sz="130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luminosidad</a:t>
            </a:r>
            <a:endParaRPr sz="1300">
              <a:latin typeface="Microsoft JhengHei UI"/>
              <a:cs typeface="Microsoft JhengHei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4601" y="3875654"/>
            <a:ext cx="226723" cy="2589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86260" y="3879596"/>
            <a:ext cx="11461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Oscilobatiente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900" y="4696536"/>
            <a:ext cx="248285" cy="198755"/>
          </a:xfrm>
          <a:custGeom>
            <a:avLst/>
            <a:gdLst/>
            <a:ahLst/>
            <a:cxnLst/>
            <a:rect l="l" t="t" r="r" b="b"/>
            <a:pathLst>
              <a:path w="248284" h="198754">
                <a:moveTo>
                  <a:pt x="168722" y="73787"/>
                </a:moveTo>
                <a:lnTo>
                  <a:pt x="200868" y="53263"/>
                </a:lnTo>
                <a:lnTo>
                  <a:pt x="202619" y="49796"/>
                </a:lnTo>
              </a:path>
              <a:path w="248284" h="198754">
                <a:moveTo>
                  <a:pt x="161364" y="137185"/>
                </a:moveTo>
                <a:lnTo>
                  <a:pt x="185961" y="147904"/>
                </a:lnTo>
                <a:lnTo>
                  <a:pt x="187295" y="149466"/>
                </a:lnTo>
              </a:path>
              <a:path w="248284" h="198754">
                <a:moveTo>
                  <a:pt x="202619" y="49796"/>
                </a:moveTo>
                <a:lnTo>
                  <a:pt x="204022" y="45872"/>
                </a:lnTo>
                <a:lnTo>
                  <a:pt x="204951" y="42011"/>
                </a:lnTo>
                <a:lnTo>
                  <a:pt x="205472" y="38125"/>
                </a:lnTo>
                <a:lnTo>
                  <a:pt x="205601" y="34213"/>
                </a:lnTo>
                <a:lnTo>
                  <a:pt x="205347" y="30353"/>
                </a:lnTo>
                <a:lnTo>
                  <a:pt x="177695" y="457"/>
                </a:lnTo>
                <a:lnTo>
                  <a:pt x="173860" y="0"/>
                </a:lnTo>
                <a:lnTo>
                  <a:pt x="170016" y="0"/>
                </a:lnTo>
                <a:lnTo>
                  <a:pt x="141014" y="27228"/>
                </a:lnTo>
                <a:lnTo>
                  <a:pt x="140766" y="29578"/>
                </a:lnTo>
                <a:lnTo>
                  <a:pt x="140637" y="32143"/>
                </a:lnTo>
              </a:path>
              <a:path w="248284" h="198754">
                <a:moveTo>
                  <a:pt x="175488" y="105752"/>
                </a:moveTo>
                <a:lnTo>
                  <a:pt x="216782" y="95542"/>
                </a:lnTo>
                <a:lnTo>
                  <a:pt x="245045" y="60032"/>
                </a:lnTo>
                <a:lnTo>
                  <a:pt x="247704" y="47866"/>
                </a:lnTo>
                <a:lnTo>
                  <a:pt x="247947" y="41148"/>
                </a:lnTo>
              </a:path>
              <a:path w="248284" h="198754">
                <a:moveTo>
                  <a:pt x="0" y="105918"/>
                </a:moveTo>
                <a:lnTo>
                  <a:pt x="175488" y="105752"/>
                </a:lnTo>
              </a:path>
              <a:path w="248284" h="198754">
                <a:moveTo>
                  <a:pt x="74" y="74015"/>
                </a:moveTo>
                <a:lnTo>
                  <a:pt x="168722" y="73787"/>
                </a:lnTo>
              </a:path>
              <a:path w="248284" h="198754">
                <a:moveTo>
                  <a:pt x="51931" y="137160"/>
                </a:moveTo>
                <a:lnTo>
                  <a:pt x="161364" y="137185"/>
                </a:lnTo>
              </a:path>
              <a:path w="248284" h="198754">
                <a:moveTo>
                  <a:pt x="186928" y="149783"/>
                </a:moveTo>
                <a:lnTo>
                  <a:pt x="193123" y="161607"/>
                </a:lnTo>
                <a:lnTo>
                  <a:pt x="193690" y="163791"/>
                </a:lnTo>
                <a:lnTo>
                  <a:pt x="193997" y="166014"/>
                </a:lnTo>
                <a:lnTo>
                  <a:pt x="194052" y="168262"/>
                </a:lnTo>
                <a:lnTo>
                  <a:pt x="194101" y="170522"/>
                </a:lnTo>
                <a:lnTo>
                  <a:pt x="193898" y="172745"/>
                </a:lnTo>
                <a:lnTo>
                  <a:pt x="193437" y="174955"/>
                </a:lnTo>
                <a:lnTo>
                  <a:pt x="192975" y="177165"/>
                </a:lnTo>
                <a:lnTo>
                  <a:pt x="192271" y="179285"/>
                </a:lnTo>
                <a:lnTo>
                  <a:pt x="191319" y="181330"/>
                </a:lnTo>
                <a:lnTo>
                  <a:pt x="190366" y="183375"/>
                </a:lnTo>
                <a:lnTo>
                  <a:pt x="183078" y="191846"/>
                </a:lnTo>
                <a:lnTo>
                  <a:pt x="181321" y="193255"/>
                </a:lnTo>
                <a:lnTo>
                  <a:pt x="179421" y="194449"/>
                </a:lnTo>
                <a:lnTo>
                  <a:pt x="177388" y="195414"/>
                </a:lnTo>
                <a:lnTo>
                  <a:pt x="175353" y="196392"/>
                </a:lnTo>
                <a:lnTo>
                  <a:pt x="173235" y="197129"/>
                </a:lnTo>
                <a:lnTo>
                  <a:pt x="171038" y="197612"/>
                </a:lnTo>
                <a:lnTo>
                  <a:pt x="168835" y="198094"/>
                </a:lnTo>
                <a:lnTo>
                  <a:pt x="166603" y="198323"/>
                </a:lnTo>
                <a:lnTo>
                  <a:pt x="164350" y="198297"/>
                </a:lnTo>
                <a:lnTo>
                  <a:pt x="162093" y="198272"/>
                </a:lnTo>
                <a:lnTo>
                  <a:pt x="159871" y="197993"/>
                </a:lnTo>
                <a:lnTo>
                  <a:pt x="157683" y="197446"/>
                </a:lnTo>
                <a:lnTo>
                  <a:pt x="155496" y="196913"/>
                </a:lnTo>
                <a:lnTo>
                  <a:pt x="153391" y="196126"/>
                </a:lnTo>
                <a:lnTo>
                  <a:pt x="151382" y="195097"/>
                </a:lnTo>
                <a:lnTo>
                  <a:pt x="149373" y="194081"/>
                </a:lnTo>
                <a:lnTo>
                  <a:pt x="136251" y="176466"/>
                </a:lnTo>
                <a:lnTo>
                  <a:pt x="135840" y="174256"/>
                </a:lnTo>
              </a:path>
            </a:pathLst>
          </a:custGeom>
          <a:ln w="10981">
            <a:solidFill>
              <a:srgbClr val="007E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86260" y="4670171"/>
            <a:ext cx="13074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Microventilación</a:t>
            </a:r>
            <a:endParaRPr sz="1300">
              <a:latin typeface="Microsoft JhengHei UI"/>
              <a:cs typeface="Microsoft JhengHei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8451" y="5456847"/>
            <a:ext cx="258809" cy="25882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86260" y="5428075"/>
            <a:ext cx="1614170" cy="2863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0" dirty="0">
                <a:solidFill>
                  <a:srgbClr val="262424"/>
                </a:solidFill>
                <a:latin typeface="Georgia"/>
                <a:cs typeface="Georgia"/>
              </a:rPr>
              <a:t>Aislamieto</a:t>
            </a:r>
            <a:r>
              <a:rPr sz="1700" b="1" spc="-45" dirty="0">
                <a:solidFill>
                  <a:srgbClr val="262424"/>
                </a:solidFill>
                <a:latin typeface="Georgia"/>
                <a:cs typeface="Georgia"/>
              </a:rPr>
              <a:t> </a:t>
            </a:r>
            <a:r>
              <a:rPr sz="1700" b="1" spc="-60" dirty="0">
                <a:solidFill>
                  <a:srgbClr val="262424"/>
                </a:solidFill>
                <a:latin typeface="Georgia"/>
                <a:cs typeface="Georgia"/>
              </a:rPr>
              <a:t>total</a:t>
            </a:r>
            <a:endParaRPr sz="1700">
              <a:latin typeface="Georgia"/>
              <a:cs typeface="Georg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19550" y="1495424"/>
            <a:ext cx="2952750" cy="2143125"/>
            <a:chOff x="4019550" y="1495424"/>
            <a:chExt cx="2952750" cy="2143125"/>
          </a:xfrm>
        </p:grpSpPr>
        <p:sp>
          <p:nvSpPr>
            <p:cNvPr id="17" name="object 17"/>
            <p:cNvSpPr/>
            <p:nvPr/>
          </p:nvSpPr>
          <p:spPr>
            <a:xfrm>
              <a:off x="4019550" y="1495424"/>
              <a:ext cx="2952750" cy="2143125"/>
            </a:xfrm>
            <a:custGeom>
              <a:avLst/>
              <a:gdLst/>
              <a:ahLst/>
              <a:cxnLst/>
              <a:rect l="l" t="t" r="r" b="b"/>
              <a:pathLst>
                <a:path w="2952750" h="2143125">
                  <a:moveTo>
                    <a:pt x="2898660" y="0"/>
                  </a:moveTo>
                  <a:lnTo>
                    <a:pt x="54089" y="0"/>
                  </a:lnTo>
                  <a:lnTo>
                    <a:pt x="50330" y="368"/>
                  </a:lnTo>
                  <a:lnTo>
                    <a:pt x="14262" y="19634"/>
                  </a:lnTo>
                  <a:lnTo>
                    <a:pt x="0" y="54089"/>
                  </a:lnTo>
                  <a:lnTo>
                    <a:pt x="0" y="2085238"/>
                  </a:lnTo>
                  <a:lnTo>
                    <a:pt x="0" y="2089035"/>
                  </a:lnTo>
                  <a:lnTo>
                    <a:pt x="19634" y="2128862"/>
                  </a:lnTo>
                  <a:lnTo>
                    <a:pt x="54089" y="2143125"/>
                  </a:lnTo>
                  <a:lnTo>
                    <a:pt x="2898660" y="2143125"/>
                  </a:lnTo>
                  <a:lnTo>
                    <a:pt x="2938487" y="2123478"/>
                  </a:lnTo>
                  <a:lnTo>
                    <a:pt x="2952750" y="2089035"/>
                  </a:lnTo>
                  <a:lnTo>
                    <a:pt x="2952750" y="54089"/>
                  </a:lnTo>
                  <a:lnTo>
                    <a:pt x="2933103" y="14262"/>
                  </a:lnTo>
                  <a:lnTo>
                    <a:pt x="2902432" y="368"/>
                  </a:lnTo>
                  <a:lnTo>
                    <a:pt x="2898660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0210" y="1708365"/>
              <a:ext cx="180886" cy="18088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596803" y="1646650"/>
            <a:ext cx="2195830" cy="1170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00" b="1" spc="-100" dirty="0">
                <a:latin typeface="Georgia"/>
                <a:cs typeface="Georgia"/>
              </a:rPr>
              <a:t>Beneficio</a:t>
            </a:r>
            <a:r>
              <a:rPr sz="1700" b="1" spc="-30" dirty="0">
                <a:latin typeface="Georgia"/>
                <a:cs typeface="Georgia"/>
              </a:rPr>
              <a:t> </a:t>
            </a:r>
            <a:r>
              <a:rPr sz="1700" b="1" spc="-10" dirty="0">
                <a:latin typeface="Georgia"/>
                <a:cs typeface="Georgia"/>
              </a:rPr>
              <a:t>principal</a:t>
            </a:r>
            <a:endParaRPr sz="1700">
              <a:latin typeface="Georgia"/>
              <a:cs typeface="Georgia"/>
            </a:endParaRPr>
          </a:p>
          <a:p>
            <a:pPr marL="12700" marR="5080">
              <a:lnSpc>
                <a:spcPct val="125000"/>
              </a:lnSpc>
              <a:spcBef>
                <a:spcPts val="1120"/>
              </a:spcBef>
            </a:pPr>
            <a:r>
              <a:rPr sz="1300" dirty="0">
                <a:latin typeface="Microsoft JhengHei UI"/>
                <a:cs typeface="Microsoft JhengHei UI"/>
              </a:rPr>
              <a:t>Más</a:t>
            </a:r>
            <a:r>
              <a:rPr sz="1300" spc="-1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confort</a:t>
            </a:r>
            <a:r>
              <a:rPr sz="1300" spc="-1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durante</a:t>
            </a:r>
            <a:r>
              <a:rPr sz="1300" spc="-10" dirty="0">
                <a:latin typeface="Microsoft JhengHei UI"/>
                <a:cs typeface="Microsoft JhengHei UI"/>
              </a:rPr>
              <a:t> </a:t>
            </a:r>
            <a:r>
              <a:rPr sz="1300" spc="-35" dirty="0">
                <a:latin typeface="Microsoft JhengHei UI"/>
                <a:cs typeface="Microsoft JhengHei UI"/>
              </a:rPr>
              <a:t>todo</a:t>
            </a:r>
            <a:r>
              <a:rPr sz="1300" spc="-10" dirty="0">
                <a:latin typeface="Microsoft JhengHei UI"/>
                <a:cs typeface="Microsoft JhengHei UI"/>
              </a:rPr>
              <a:t> </a:t>
            </a:r>
            <a:r>
              <a:rPr sz="1300" spc="-25" dirty="0">
                <a:latin typeface="Microsoft JhengHei UI"/>
                <a:cs typeface="Microsoft JhengHei UI"/>
              </a:rPr>
              <a:t>el </a:t>
            </a:r>
            <a:r>
              <a:rPr sz="1300" dirty="0">
                <a:latin typeface="Microsoft JhengHei UI"/>
                <a:cs typeface="Microsoft JhengHei UI"/>
              </a:rPr>
              <a:t>año</a:t>
            </a:r>
            <a:r>
              <a:rPr sz="1300" spc="3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con</a:t>
            </a:r>
            <a:r>
              <a:rPr sz="1300" spc="3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una</a:t>
            </a:r>
            <a:r>
              <a:rPr sz="1300" spc="3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vivienda</a:t>
            </a:r>
            <a:r>
              <a:rPr sz="1300" spc="35" dirty="0">
                <a:latin typeface="Microsoft JhengHei UI"/>
                <a:cs typeface="Microsoft JhengHei UI"/>
              </a:rPr>
              <a:t> </a:t>
            </a:r>
            <a:r>
              <a:rPr sz="1300" spc="-25" dirty="0">
                <a:latin typeface="Microsoft JhengHei UI"/>
                <a:cs typeface="Microsoft JhengHei UI"/>
              </a:rPr>
              <a:t>más </a:t>
            </a:r>
            <a:r>
              <a:rPr sz="1300" dirty="0">
                <a:latin typeface="Microsoft JhengHei UI"/>
                <a:cs typeface="Microsoft JhengHei UI"/>
              </a:rPr>
              <a:t>eficiente</a:t>
            </a:r>
            <a:r>
              <a:rPr sz="1300" spc="60" dirty="0">
                <a:latin typeface="Microsoft JhengHei UI"/>
                <a:cs typeface="Microsoft JhengHei UI"/>
              </a:rPr>
              <a:t> </a:t>
            </a:r>
            <a:r>
              <a:rPr sz="1300" spc="50" dirty="0">
                <a:latin typeface="Microsoft JhengHei UI"/>
                <a:cs typeface="Microsoft JhengHei UI"/>
              </a:rPr>
              <a:t>y</a:t>
            </a:r>
            <a:r>
              <a:rPr sz="1300" spc="65" dirty="0">
                <a:latin typeface="Microsoft JhengHei UI"/>
                <a:cs typeface="Microsoft JhengHei UI"/>
              </a:rPr>
              <a:t> </a:t>
            </a:r>
            <a:r>
              <a:rPr sz="1300" spc="-10" dirty="0">
                <a:latin typeface="Microsoft JhengHei UI"/>
                <a:cs typeface="Microsoft JhengHei UI"/>
              </a:rPr>
              <a:t>luminosa.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6803" y="2925495"/>
            <a:ext cx="205486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00" dirty="0">
                <a:latin typeface="Microsoft JhengHei UI"/>
                <a:cs typeface="Microsoft JhengHei UI"/>
              </a:rPr>
              <a:t>Nuestras</a:t>
            </a:r>
            <a:r>
              <a:rPr sz="1300" spc="12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ventanas</a:t>
            </a:r>
            <a:r>
              <a:rPr sz="1300" spc="120" dirty="0">
                <a:latin typeface="Microsoft JhengHei UI"/>
                <a:cs typeface="Microsoft JhengHei UI"/>
              </a:rPr>
              <a:t> </a:t>
            </a:r>
            <a:r>
              <a:rPr sz="1300" spc="-10" dirty="0">
                <a:latin typeface="Microsoft JhengHei UI"/>
                <a:cs typeface="Microsoft JhengHei UI"/>
              </a:rPr>
              <a:t>cuidan </a:t>
            </a:r>
            <a:r>
              <a:rPr sz="1300" dirty="0">
                <a:latin typeface="Microsoft JhengHei UI"/>
                <a:cs typeface="Microsoft JhengHei UI"/>
              </a:rPr>
              <a:t>de</a:t>
            </a:r>
            <a:r>
              <a:rPr sz="1300" spc="5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tu</a:t>
            </a:r>
            <a:r>
              <a:rPr sz="1300" spc="10" dirty="0">
                <a:latin typeface="Microsoft JhengHei UI"/>
                <a:cs typeface="Microsoft JhengHei UI"/>
              </a:rPr>
              <a:t> </a:t>
            </a:r>
            <a:r>
              <a:rPr sz="1300" spc="55" dirty="0">
                <a:latin typeface="Microsoft JhengHei UI"/>
                <a:cs typeface="Microsoft JhengHei UI"/>
              </a:rPr>
              <a:t>casa</a:t>
            </a:r>
            <a:r>
              <a:rPr sz="1300" spc="5" dirty="0">
                <a:latin typeface="Microsoft JhengHei UI"/>
                <a:cs typeface="Microsoft JhengHei UI"/>
              </a:rPr>
              <a:t> </a:t>
            </a:r>
            <a:r>
              <a:rPr sz="1300" spc="50" dirty="0">
                <a:latin typeface="Microsoft JhengHei UI"/>
                <a:cs typeface="Microsoft JhengHei UI"/>
              </a:rPr>
              <a:t>y</a:t>
            </a:r>
            <a:r>
              <a:rPr sz="1300" spc="10" dirty="0">
                <a:latin typeface="Microsoft JhengHei UI"/>
                <a:cs typeface="Microsoft JhengHei UI"/>
              </a:rPr>
              <a:t> </a:t>
            </a:r>
            <a:r>
              <a:rPr sz="1300" dirty="0">
                <a:latin typeface="Microsoft JhengHei UI"/>
                <a:cs typeface="Microsoft JhengHei UI"/>
              </a:rPr>
              <a:t>tu</a:t>
            </a:r>
            <a:r>
              <a:rPr sz="1300" spc="5" dirty="0">
                <a:latin typeface="Microsoft JhengHei UI"/>
                <a:cs typeface="Microsoft JhengHei UI"/>
              </a:rPr>
              <a:t> </a:t>
            </a:r>
            <a:r>
              <a:rPr sz="1300" spc="-10" dirty="0">
                <a:latin typeface="Microsoft JhengHei UI"/>
                <a:cs typeface="Microsoft JhengHei UI"/>
              </a:rPr>
              <a:t>bolsillo</a:t>
            </a:r>
            <a:endParaRPr sz="1300">
              <a:latin typeface="Microsoft JhengHei UI"/>
              <a:cs typeface="Microsoft JhengHei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07739" y="3752913"/>
            <a:ext cx="23704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1F7034"/>
                </a:solidFill>
                <a:latin typeface="Tahoma"/>
                <a:cs typeface="Tahoma"/>
              </a:rPr>
              <a:t>AHORRO,</a:t>
            </a:r>
            <a:r>
              <a:rPr sz="1600" b="1" spc="-75" dirty="0">
                <a:solidFill>
                  <a:srgbClr val="1F703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1F7034"/>
                </a:solidFill>
                <a:latin typeface="Tahoma"/>
                <a:cs typeface="Tahoma"/>
              </a:rPr>
              <a:t>CONFORT, </a:t>
            </a:r>
            <a:r>
              <a:rPr sz="1600" b="1" dirty="0">
                <a:solidFill>
                  <a:srgbClr val="1F7034"/>
                </a:solidFill>
                <a:latin typeface="Tahoma"/>
                <a:cs typeface="Tahoma"/>
              </a:rPr>
              <a:t>ESTÉTICA</a:t>
            </a:r>
            <a:r>
              <a:rPr sz="1600" b="1" spc="-35" dirty="0">
                <a:solidFill>
                  <a:srgbClr val="1F7034"/>
                </a:solidFill>
                <a:latin typeface="Tahoma"/>
                <a:cs typeface="Tahoma"/>
              </a:rPr>
              <a:t> </a:t>
            </a:r>
            <a:r>
              <a:rPr sz="1600" b="1" spc="105" dirty="0">
                <a:solidFill>
                  <a:srgbClr val="1F7034"/>
                </a:solidFill>
                <a:latin typeface="Tahoma"/>
                <a:cs typeface="Tahoma"/>
              </a:rPr>
              <a:t>Y</a:t>
            </a:r>
            <a:r>
              <a:rPr sz="1600" b="1" spc="-35" dirty="0">
                <a:solidFill>
                  <a:srgbClr val="1F7034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1F7034"/>
                </a:solidFill>
                <a:latin typeface="Tahoma"/>
                <a:cs typeface="Tahoma"/>
              </a:rPr>
              <a:t>FELICIDAD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C83D22F1-B26C-4A75-DCB4-09EF555BB9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9268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500" spc="-280" dirty="0"/>
              <a:t>Una</a:t>
            </a:r>
            <a:r>
              <a:rPr sz="3500" spc="-90" dirty="0"/>
              <a:t> </a:t>
            </a:r>
            <a:r>
              <a:rPr sz="3500" spc="-175" dirty="0"/>
              <a:t>instalación</a:t>
            </a:r>
            <a:r>
              <a:rPr sz="3500" spc="-85" dirty="0"/>
              <a:t> </a:t>
            </a:r>
            <a:r>
              <a:rPr sz="3500" spc="-225" dirty="0"/>
              <a:t>que</a:t>
            </a:r>
            <a:r>
              <a:rPr sz="3500" spc="-85" dirty="0"/>
              <a:t> </a:t>
            </a:r>
            <a:r>
              <a:rPr sz="3500" spc="-260" dirty="0"/>
              <a:t>marca</a:t>
            </a:r>
            <a:r>
              <a:rPr sz="3500" spc="-85" dirty="0"/>
              <a:t> </a:t>
            </a:r>
            <a:r>
              <a:rPr sz="3500" spc="-170" dirty="0"/>
              <a:t>la</a:t>
            </a:r>
            <a:r>
              <a:rPr sz="3500" spc="-85" dirty="0"/>
              <a:t> </a:t>
            </a:r>
            <a:r>
              <a:rPr sz="3500" spc="-130" dirty="0"/>
              <a:t>diferencia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648840" y="1340040"/>
            <a:ext cx="841565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No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solo sustituimos ventanas.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Entregamos un trabajo </a:t>
            </a:r>
            <a:r>
              <a:rPr sz="1350" spc="-20" dirty="0">
                <a:solidFill>
                  <a:srgbClr val="262525"/>
                </a:solidFill>
                <a:latin typeface="Microsoft JhengHei UI"/>
                <a:cs typeface="Microsoft JhengHei UI"/>
              </a:rPr>
              <a:t>completamente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terminado,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cuidando cada</a:t>
            </a:r>
            <a:r>
              <a:rPr sz="1350" spc="-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detalle.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981" y="2000487"/>
            <a:ext cx="268846" cy="1568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5458" y="1949640"/>
            <a:ext cx="339725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Protección</a:t>
            </a:r>
            <a:r>
              <a:rPr sz="1350" spc="4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de</a:t>
            </a:r>
            <a:r>
              <a:rPr sz="1350" spc="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suelos</a:t>
            </a:r>
            <a:r>
              <a:rPr sz="1350" spc="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55" dirty="0">
                <a:solidFill>
                  <a:srgbClr val="262525"/>
                </a:solidFill>
                <a:latin typeface="Microsoft JhengHei UI"/>
                <a:cs typeface="Microsoft JhengHei UI"/>
              </a:rPr>
              <a:t>y</a:t>
            </a:r>
            <a:r>
              <a:rPr sz="1350" spc="4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muebles</a:t>
            </a:r>
            <a:r>
              <a:rPr sz="1350" spc="5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cercanos</a:t>
            </a:r>
            <a:endParaRPr sz="1350">
              <a:latin typeface="Microsoft JhengHei UI"/>
              <a:cs typeface="Microsoft JhengHei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8209" y="2776280"/>
            <a:ext cx="268605" cy="262890"/>
            <a:chOff x="718209" y="2776280"/>
            <a:chExt cx="268605" cy="2628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215" y="2776280"/>
              <a:ext cx="268056" cy="2624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899" y="2784305"/>
              <a:ext cx="257175" cy="248920"/>
            </a:xfrm>
            <a:custGeom>
              <a:avLst/>
              <a:gdLst/>
              <a:ahLst/>
              <a:cxnLst/>
              <a:rect l="l" t="t" r="r" b="b"/>
              <a:pathLst>
                <a:path w="257175" h="248919">
                  <a:moveTo>
                    <a:pt x="256681" y="0"/>
                  </a:moveTo>
                  <a:lnTo>
                    <a:pt x="256877" y="248772"/>
                  </a:lnTo>
                </a:path>
                <a:path w="257175" h="248919">
                  <a:moveTo>
                    <a:pt x="5" y="185655"/>
                  </a:moveTo>
                  <a:lnTo>
                    <a:pt x="0" y="248772"/>
                  </a:lnTo>
                </a:path>
                <a:path w="257175" h="248919">
                  <a:moveTo>
                    <a:pt x="160977" y="186442"/>
                  </a:moveTo>
                  <a:lnTo>
                    <a:pt x="130026" y="195042"/>
                  </a:lnTo>
                </a:path>
              </a:pathLst>
            </a:custGeom>
            <a:ln w="11380">
              <a:solidFill>
                <a:srgbClr val="007D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05458" y="2778315"/>
            <a:ext cx="184467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Instalación</a:t>
            </a:r>
            <a:r>
              <a:rPr sz="1350" spc="-1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profesional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505" y="3611476"/>
            <a:ext cx="237469" cy="26869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05458" y="3616515"/>
            <a:ext cx="87566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Albañilería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97051" y="1997878"/>
            <a:ext cx="226272" cy="15402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7206" y="1949640"/>
            <a:ext cx="1720214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Sellados</a:t>
            </a:r>
            <a:r>
              <a:rPr sz="1350" spc="7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55" dirty="0">
                <a:solidFill>
                  <a:srgbClr val="262525"/>
                </a:solidFill>
                <a:latin typeface="Microsoft JhengHei UI"/>
                <a:cs typeface="Microsoft JhengHei UI"/>
              </a:rPr>
              <a:t>y</a:t>
            </a:r>
            <a:r>
              <a:rPr sz="1350" spc="75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nivelación</a:t>
            </a:r>
            <a:endParaRPr sz="1350">
              <a:latin typeface="Microsoft JhengHei UI"/>
              <a:cs typeface="Microsoft JhengHei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5372" y="2773453"/>
            <a:ext cx="249760" cy="26825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57206" y="2778315"/>
            <a:ext cx="113982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262525"/>
                </a:solidFill>
                <a:latin typeface="Microsoft JhengHei UI"/>
                <a:cs typeface="Microsoft JhengHei UI"/>
              </a:rPr>
              <a:t>Limpieza</a:t>
            </a:r>
            <a:r>
              <a:rPr sz="1350" spc="20" dirty="0">
                <a:solidFill>
                  <a:srgbClr val="262525"/>
                </a:solidFill>
                <a:latin typeface="Microsoft JhengHei UI"/>
                <a:cs typeface="Microsoft JhengHei UI"/>
              </a:rPr>
              <a:t> </a:t>
            </a:r>
            <a:r>
              <a:rPr sz="1350" spc="-10" dirty="0">
                <a:solidFill>
                  <a:srgbClr val="262525"/>
                </a:solidFill>
                <a:latin typeface="Microsoft JhengHei UI"/>
                <a:cs typeface="Microsoft JhengHei UI"/>
              </a:rPr>
              <a:t>final</a:t>
            </a:r>
            <a:endParaRPr sz="1350">
              <a:latin typeface="Microsoft JhengHei UI"/>
              <a:cs typeface="Microsoft JhengHei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7224" y="4476749"/>
            <a:ext cx="10877550" cy="1847850"/>
            <a:chOff x="657224" y="4476749"/>
            <a:chExt cx="10877550" cy="1847850"/>
          </a:xfrm>
        </p:grpSpPr>
        <p:sp>
          <p:nvSpPr>
            <p:cNvPr id="17" name="object 17"/>
            <p:cNvSpPr/>
            <p:nvPr/>
          </p:nvSpPr>
          <p:spPr>
            <a:xfrm>
              <a:off x="657224" y="4476749"/>
              <a:ext cx="10877550" cy="1847850"/>
            </a:xfrm>
            <a:custGeom>
              <a:avLst/>
              <a:gdLst/>
              <a:ahLst/>
              <a:cxnLst/>
              <a:rect l="l" t="t" r="r" b="b"/>
              <a:pathLst>
                <a:path w="10877550" h="1847850">
                  <a:moveTo>
                    <a:pt x="10821529" y="1847849"/>
                  </a:moveTo>
                  <a:lnTo>
                    <a:pt x="56019" y="1847849"/>
                  </a:lnTo>
                  <a:lnTo>
                    <a:pt x="52120" y="1847465"/>
                  </a:lnTo>
                  <a:lnTo>
                    <a:pt x="14777" y="1827505"/>
                  </a:lnTo>
                  <a:lnTo>
                    <a:pt x="0" y="1791830"/>
                  </a:lnTo>
                  <a:lnTo>
                    <a:pt x="0" y="1787894"/>
                  </a:lnTo>
                  <a:lnTo>
                    <a:pt x="0" y="56018"/>
                  </a:lnTo>
                  <a:lnTo>
                    <a:pt x="14777" y="20344"/>
                  </a:lnTo>
                  <a:lnTo>
                    <a:pt x="52120" y="383"/>
                  </a:lnTo>
                  <a:lnTo>
                    <a:pt x="56019" y="0"/>
                  </a:lnTo>
                  <a:lnTo>
                    <a:pt x="10821529" y="0"/>
                  </a:lnTo>
                  <a:lnTo>
                    <a:pt x="10857202" y="14776"/>
                  </a:lnTo>
                  <a:lnTo>
                    <a:pt x="10877163" y="52119"/>
                  </a:lnTo>
                  <a:lnTo>
                    <a:pt x="10877548" y="56018"/>
                  </a:lnTo>
                  <a:lnTo>
                    <a:pt x="10877548" y="1791830"/>
                  </a:lnTo>
                  <a:lnTo>
                    <a:pt x="10862769" y="1827505"/>
                  </a:lnTo>
                  <a:lnTo>
                    <a:pt x="10825427" y="1847465"/>
                  </a:lnTo>
                  <a:lnTo>
                    <a:pt x="10821529" y="1847849"/>
                  </a:lnTo>
                  <a:close/>
                </a:path>
              </a:pathLst>
            </a:custGeom>
            <a:solidFill>
              <a:srgbClr val="CCE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738" y="4725581"/>
              <a:ext cx="149888" cy="14988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205458" y="4652876"/>
            <a:ext cx="5443855" cy="1468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110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Trabajos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3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albañilería</a:t>
            </a:r>
            <a:r>
              <a:rPr sz="1350" spc="3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en</a:t>
            </a:r>
            <a:r>
              <a:rPr sz="1350" spc="3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los</a:t>
            </a:r>
            <a:r>
              <a:rPr sz="1350" spc="3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dormitorios</a:t>
            </a:r>
            <a:endParaRPr sz="13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95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Forrado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las</a:t>
            </a:r>
            <a:r>
              <a:rPr sz="1350" spc="5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peanas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piedra</a:t>
            </a:r>
            <a:endParaRPr sz="13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95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Remates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exteriores</a:t>
            </a:r>
            <a:r>
              <a:rPr sz="1350" spc="50" dirty="0">
                <a:latin typeface="Microsoft JhengHei UI"/>
                <a:cs typeface="Microsoft JhengHei UI"/>
              </a:rPr>
              <a:t> </a:t>
            </a:r>
            <a:r>
              <a:rPr sz="1350" spc="-20" dirty="0">
                <a:latin typeface="Microsoft JhengHei UI"/>
                <a:cs typeface="Microsoft JhengHei UI"/>
              </a:rPr>
              <a:t>completamente</a:t>
            </a:r>
            <a:r>
              <a:rPr sz="1350" spc="5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terminados</a:t>
            </a:r>
            <a:endParaRPr sz="13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550" spc="495" dirty="0">
                <a:latin typeface="Segoe UI Symbol"/>
                <a:cs typeface="Segoe UI Symbol"/>
              </a:rPr>
              <a:t>✔</a:t>
            </a:r>
            <a:r>
              <a:rPr sz="1550" spc="-110" dirty="0">
                <a:latin typeface="Segoe UI Symbol"/>
                <a:cs typeface="Segoe UI Symbol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Acabado</a:t>
            </a:r>
            <a:r>
              <a:rPr sz="1350" spc="1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final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listo</a:t>
            </a:r>
            <a:r>
              <a:rPr sz="1350" spc="2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execpto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remates</a:t>
            </a:r>
            <a:r>
              <a:rPr sz="1350" spc="2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de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pintura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spc="55" dirty="0">
                <a:latin typeface="Microsoft JhengHei UI"/>
                <a:cs typeface="Microsoft JhengHei UI"/>
              </a:rPr>
              <a:t>y</a:t>
            </a:r>
            <a:r>
              <a:rPr sz="1350" spc="20" dirty="0">
                <a:latin typeface="Microsoft JhengHei UI"/>
                <a:cs typeface="Microsoft JhengHei UI"/>
              </a:rPr>
              <a:t> </a:t>
            </a:r>
            <a:r>
              <a:rPr sz="1350" dirty="0">
                <a:latin typeface="Microsoft JhengHei UI"/>
                <a:cs typeface="Microsoft JhengHei UI"/>
              </a:rPr>
              <a:t>su</a:t>
            </a:r>
            <a:r>
              <a:rPr sz="1350" spc="25" dirty="0">
                <a:latin typeface="Microsoft JhengHei UI"/>
                <a:cs typeface="Microsoft JhengHei UI"/>
              </a:rPr>
              <a:t> </a:t>
            </a:r>
            <a:r>
              <a:rPr sz="1350" spc="-10" dirty="0">
                <a:latin typeface="Microsoft JhengHei UI"/>
                <a:cs typeface="Microsoft JhengHei UI"/>
              </a:rPr>
              <a:t>preparacion</a:t>
            </a:r>
            <a:endParaRPr sz="13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Proyectos</a:t>
            </a:r>
            <a:r>
              <a:rPr spc="-50" dirty="0"/>
              <a:t> </a:t>
            </a:r>
            <a:r>
              <a:rPr spc="-100" dirty="0"/>
              <a:t>similares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0" y="990599"/>
            <a:ext cx="3571874" cy="47529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4825" y="990599"/>
            <a:ext cx="3562349" cy="47529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3375" y="990599"/>
            <a:ext cx="3571874" cy="47529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8840" y="5845936"/>
            <a:ext cx="1442085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Cerramientos</a:t>
            </a:r>
            <a:r>
              <a:rPr sz="750" spc="1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dirty="0">
                <a:solidFill>
                  <a:srgbClr val="262424"/>
                </a:solidFill>
                <a:latin typeface="Microsoft JhengHei UI"/>
                <a:cs typeface="Microsoft JhengHei UI"/>
              </a:rPr>
              <a:t>·</a:t>
            </a:r>
            <a:r>
              <a:rPr sz="7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Antes</a:t>
            </a:r>
            <a:r>
              <a:rPr sz="7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dirty="0">
                <a:solidFill>
                  <a:srgbClr val="262424"/>
                </a:solidFill>
                <a:latin typeface="Microsoft JhengHei UI"/>
                <a:cs typeface="Microsoft JhengHei UI"/>
              </a:rPr>
              <a:t>/</a:t>
            </a:r>
            <a:r>
              <a:rPr sz="7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7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Después</a:t>
            </a:r>
            <a:endParaRPr sz="75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8840" y="649192"/>
            <a:ext cx="5515610" cy="5003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00" spc="-295" dirty="0"/>
              <a:t>Lo</a:t>
            </a:r>
            <a:r>
              <a:rPr sz="3100" spc="-80" dirty="0"/>
              <a:t> </a:t>
            </a:r>
            <a:r>
              <a:rPr sz="3100" spc="-215" dirty="0"/>
              <a:t>que</a:t>
            </a:r>
            <a:r>
              <a:rPr sz="3100" spc="-80" dirty="0"/>
              <a:t> </a:t>
            </a:r>
            <a:r>
              <a:rPr sz="3100" spc="-170" dirty="0"/>
              <a:t>dicen</a:t>
            </a:r>
            <a:r>
              <a:rPr sz="3100" spc="-80" dirty="0"/>
              <a:t> </a:t>
            </a:r>
            <a:r>
              <a:rPr sz="3100" spc="-210" dirty="0"/>
              <a:t>nuestros</a:t>
            </a:r>
            <a:r>
              <a:rPr sz="3100" spc="-80" dirty="0"/>
              <a:t> </a:t>
            </a:r>
            <a:r>
              <a:rPr sz="3100" spc="-110" dirty="0"/>
              <a:t>clientes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585216" y="1371600"/>
            <a:ext cx="3697604" cy="4495800"/>
            <a:chOff x="585216" y="1371600"/>
            <a:chExt cx="3697604" cy="4495800"/>
          </a:xfrm>
        </p:grpSpPr>
        <p:sp>
          <p:nvSpPr>
            <p:cNvPr id="4" name="object 4"/>
            <p:cNvSpPr/>
            <p:nvPr/>
          </p:nvSpPr>
          <p:spPr>
            <a:xfrm>
              <a:off x="666750" y="1438274"/>
              <a:ext cx="3524250" cy="4362450"/>
            </a:xfrm>
            <a:custGeom>
              <a:avLst/>
              <a:gdLst/>
              <a:ahLst/>
              <a:cxnLst/>
              <a:rect l="l" t="t" r="r" b="b"/>
              <a:pathLst>
                <a:path w="3524250" h="4362450">
                  <a:moveTo>
                    <a:pt x="0" y="4319254"/>
                  </a:moveTo>
                  <a:lnTo>
                    <a:pt x="0" y="43192"/>
                  </a:lnTo>
                  <a:lnTo>
                    <a:pt x="0" y="37465"/>
                  </a:lnTo>
                  <a:lnTo>
                    <a:pt x="1096" y="31953"/>
                  </a:lnTo>
                  <a:lnTo>
                    <a:pt x="3289" y="26670"/>
                  </a:lnTo>
                  <a:lnTo>
                    <a:pt x="5481" y="21374"/>
                  </a:lnTo>
                  <a:lnTo>
                    <a:pt x="8601" y="16700"/>
                  </a:lnTo>
                  <a:lnTo>
                    <a:pt x="12650" y="12649"/>
                  </a:lnTo>
                  <a:lnTo>
                    <a:pt x="16703" y="8597"/>
                  </a:lnTo>
                  <a:lnTo>
                    <a:pt x="21371" y="5486"/>
                  </a:lnTo>
                  <a:lnTo>
                    <a:pt x="26664" y="3289"/>
                  </a:lnTo>
                  <a:lnTo>
                    <a:pt x="31958" y="1092"/>
                  </a:lnTo>
                  <a:lnTo>
                    <a:pt x="37465" y="0"/>
                  </a:lnTo>
                  <a:lnTo>
                    <a:pt x="43195" y="0"/>
                  </a:lnTo>
                  <a:lnTo>
                    <a:pt x="3481057" y="0"/>
                  </a:lnTo>
                  <a:lnTo>
                    <a:pt x="3486785" y="0"/>
                  </a:lnTo>
                  <a:lnTo>
                    <a:pt x="3492296" y="1092"/>
                  </a:lnTo>
                  <a:lnTo>
                    <a:pt x="3497580" y="3289"/>
                  </a:lnTo>
                  <a:lnTo>
                    <a:pt x="3502875" y="5486"/>
                  </a:lnTo>
                  <a:lnTo>
                    <a:pt x="3507549" y="8597"/>
                  </a:lnTo>
                  <a:lnTo>
                    <a:pt x="3511600" y="12649"/>
                  </a:lnTo>
                  <a:lnTo>
                    <a:pt x="3515652" y="16700"/>
                  </a:lnTo>
                  <a:lnTo>
                    <a:pt x="3518763" y="21374"/>
                  </a:lnTo>
                  <a:lnTo>
                    <a:pt x="3520960" y="26670"/>
                  </a:lnTo>
                  <a:lnTo>
                    <a:pt x="3523157" y="31953"/>
                  </a:lnTo>
                  <a:lnTo>
                    <a:pt x="3524250" y="37465"/>
                  </a:lnTo>
                  <a:lnTo>
                    <a:pt x="3524250" y="43192"/>
                  </a:lnTo>
                  <a:lnTo>
                    <a:pt x="3524250" y="4319254"/>
                  </a:lnTo>
                  <a:lnTo>
                    <a:pt x="3524250" y="4324979"/>
                  </a:lnTo>
                  <a:lnTo>
                    <a:pt x="3523157" y="4330491"/>
                  </a:lnTo>
                  <a:lnTo>
                    <a:pt x="3497580" y="4359160"/>
                  </a:lnTo>
                  <a:lnTo>
                    <a:pt x="3492296" y="4361354"/>
                  </a:lnTo>
                  <a:lnTo>
                    <a:pt x="3486785" y="4362450"/>
                  </a:lnTo>
                  <a:lnTo>
                    <a:pt x="3481057" y="4362450"/>
                  </a:lnTo>
                  <a:lnTo>
                    <a:pt x="43195" y="4362450"/>
                  </a:lnTo>
                  <a:lnTo>
                    <a:pt x="37465" y="4362450"/>
                  </a:lnTo>
                  <a:lnTo>
                    <a:pt x="31958" y="4361354"/>
                  </a:lnTo>
                  <a:lnTo>
                    <a:pt x="26664" y="4359160"/>
                  </a:lnTo>
                  <a:lnTo>
                    <a:pt x="21371" y="4356968"/>
                  </a:lnTo>
                  <a:lnTo>
                    <a:pt x="3289" y="4335785"/>
                  </a:lnTo>
                  <a:lnTo>
                    <a:pt x="1096" y="4330491"/>
                  </a:lnTo>
                  <a:lnTo>
                    <a:pt x="0" y="4324979"/>
                  </a:lnTo>
                  <a:lnTo>
                    <a:pt x="0" y="4319254"/>
                  </a:lnTo>
                  <a:close/>
                </a:path>
              </a:pathLst>
            </a:custGeom>
            <a:ln w="19050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216" y="1371600"/>
              <a:ext cx="222504" cy="173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0792" y="5684520"/>
              <a:ext cx="231648" cy="182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93812" y="1560468"/>
            <a:ext cx="3070225" cy="34067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spc="295" dirty="0">
                <a:solidFill>
                  <a:srgbClr val="262424"/>
                </a:solidFill>
                <a:latin typeface="Microsoft JhengHei UI"/>
                <a:cs typeface="Microsoft JhengHei UI"/>
              </a:rPr>
              <a:t>★★★★★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</a:t>
            </a:r>
            <a:r>
              <a:rPr sz="1150" spc="10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3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meses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3600"/>
              </a:lnSpc>
              <a:spcBef>
                <a:spcPts val="54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Increíble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profesionalidad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José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su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equipo.</a:t>
            </a:r>
            <a:r>
              <a:rPr sz="1150" spc="4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Desde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primer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momento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analizan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situación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colocación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tu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proyecto,</a:t>
            </a:r>
            <a:r>
              <a:rPr sz="1150" spc="4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iluminación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según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luz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del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sol,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tipo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cristal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mejor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se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adapta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propuesta...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Bajo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nuestro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punto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vista,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distan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mucho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otros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profesionales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acudieron</a:t>
            </a:r>
            <a:r>
              <a:rPr sz="1150" spc="15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darnos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presupuesto.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Añadir</a:t>
            </a:r>
            <a:r>
              <a:rPr sz="1150" spc="1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la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presentación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del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proyecto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en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</a:t>
            </a:r>
            <a:r>
              <a:rPr sz="11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formato</a:t>
            </a:r>
            <a:r>
              <a:rPr sz="11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único,</a:t>
            </a:r>
            <a:r>
              <a:rPr sz="1150" spc="43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pero</a:t>
            </a:r>
            <a:r>
              <a:rPr sz="11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sobretodo,</a:t>
            </a:r>
            <a:r>
              <a:rPr sz="1150" spc="43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la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humana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el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nivel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perfección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le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ponen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todo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momento.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Sin</a:t>
            </a:r>
            <a:r>
              <a:rPr sz="115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duda,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volvería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contratar</a:t>
            </a:r>
            <a:r>
              <a:rPr sz="1150" spc="1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sus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servicios.</a:t>
            </a:r>
            <a:endParaRPr sz="11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Simplemente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gracias.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812" y="5342159"/>
            <a:ext cx="107188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—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Luz</a:t>
            </a:r>
            <a:r>
              <a:rPr sz="1150" spc="1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Rodrigo</a:t>
            </a:r>
            <a:endParaRPr sz="1150">
              <a:latin typeface="Microsoft JhengHei UI"/>
              <a:cs typeface="Microsoft JhengHei U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51959" y="1371600"/>
            <a:ext cx="3697604" cy="4495800"/>
            <a:chOff x="4251959" y="1371600"/>
            <a:chExt cx="3697604" cy="4495800"/>
          </a:xfrm>
        </p:grpSpPr>
        <p:sp>
          <p:nvSpPr>
            <p:cNvPr id="10" name="object 10"/>
            <p:cNvSpPr/>
            <p:nvPr/>
          </p:nvSpPr>
          <p:spPr>
            <a:xfrm>
              <a:off x="4333874" y="1438274"/>
              <a:ext cx="3524250" cy="4362450"/>
            </a:xfrm>
            <a:custGeom>
              <a:avLst/>
              <a:gdLst/>
              <a:ahLst/>
              <a:cxnLst/>
              <a:rect l="l" t="t" r="r" b="b"/>
              <a:pathLst>
                <a:path w="3524250" h="4362450">
                  <a:moveTo>
                    <a:pt x="0" y="4319254"/>
                  </a:moveTo>
                  <a:lnTo>
                    <a:pt x="0" y="43192"/>
                  </a:lnTo>
                  <a:lnTo>
                    <a:pt x="0" y="37465"/>
                  </a:lnTo>
                  <a:lnTo>
                    <a:pt x="1092" y="31953"/>
                  </a:lnTo>
                  <a:lnTo>
                    <a:pt x="3289" y="26670"/>
                  </a:lnTo>
                  <a:lnTo>
                    <a:pt x="5473" y="21374"/>
                  </a:lnTo>
                  <a:lnTo>
                    <a:pt x="8597" y="16700"/>
                  </a:lnTo>
                  <a:lnTo>
                    <a:pt x="12649" y="12649"/>
                  </a:lnTo>
                  <a:lnTo>
                    <a:pt x="16700" y="8597"/>
                  </a:lnTo>
                  <a:lnTo>
                    <a:pt x="21374" y="5486"/>
                  </a:lnTo>
                  <a:lnTo>
                    <a:pt x="26670" y="3289"/>
                  </a:lnTo>
                  <a:lnTo>
                    <a:pt x="31953" y="1092"/>
                  </a:lnTo>
                  <a:lnTo>
                    <a:pt x="37465" y="0"/>
                  </a:lnTo>
                  <a:lnTo>
                    <a:pt x="43192" y="0"/>
                  </a:lnTo>
                  <a:lnTo>
                    <a:pt x="3481057" y="0"/>
                  </a:lnTo>
                  <a:lnTo>
                    <a:pt x="3486785" y="0"/>
                  </a:lnTo>
                  <a:lnTo>
                    <a:pt x="3492296" y="1092"/>
                  </a:lnTo>
                  <a:lnTo>
                    <a:pt x="3497580" y="3289"/>
                  </a:lnTo>
                  <a:lnTo>
                    <a:pt x="3502875" y="5486"/>
                  </a:lnTo>
                  <a:lnTo>
                    <a:pt x="3507549" y="8597"/>
                  </a:lnTo>
                  <a:lnTo>
                    <a:pt x="3511600" y="12649"/>
                  </a:lnTo>
                  <a:lnTo>
                    <a:pt x="3515652" y="16700"/>
                  </a:lnTo>
                  <a:lnTo>
                    <a:pt x="3518763" y="21374"/>
                  </a:lnTo>
                  <a:lnTo>
                    <a:pt x="3520960" y="26670"/>
                  </a:lnTo>
                  <a:lnTo>
                    <a:pt x="3523157" y="31953"/>
                  </a:lnTo>
                  <a:lnTo>
                    <a:pt x="3524250" y="37465"/>
                  </a:lnTo>
                  <a:lnTo>
                    <a:pt x="3524250" y="43192"/>
                  </a:lnTo>
                  <a:lnTo>
                    <a:pt x="3524250" y="4319254"/>
                  </a:lnTo>
                  <a:lnTo>
                    <a:pt x="3524250" y="4324979"/>
                  </a:lnTo>
                  <a:lnTo>
                    <a:pt x="3523157" y="4330491"/>
                  </a:lnTo>
                  <a:lnTo>
                    <a:pt x="3520960" y="4335785"/>
                  </a:lnTo>
                  <a:lnTo>
                    <a:pt x="3518763" y="4341078"/>
                  </a:lnTo>
                  <a:lnTo>
                    <a:pt x="3515652" y="4345747"/>
                  </a:lnTo>
                  <a:lnTo>
                    <a:pt x="3511600" y="4349799"/>
                  </a:lnTo>
                  <a:lnTo>
                    <a:pt x="3507549" y="4353848"/>
                  </a:lnTo>
                  <a:lnTo>
                    <a:pt x="3502875" y="4356968"/>
                  </a:lnTo>
                  <a:lnTo>
                    <a:pt x="3497580" y="4359160"/>
                  </a:lnTo>
                  <a:lnTo>
                    <a:pt x="3492296" y="4361354"/>
                  </a:lnTo>
                  <a:lnTo>
                    <a:pt x="3486785" y="4362450"/>
                  </a:lnTo>
                  <a:lnTo>
                    <a:pt x="3481057" y="4362450"/>
                  </a:lnTo>
                  <a:lnTo>
                    <a:pt x="43192" y="4362450"/>
                  </a:lnTo>
                  <a:lnTo>
                    <a:pt x="37465" y="4362450"/>
                  </a:lnTo>
                  <a:lnTo>
                    <a:pt x="31953" y="4361354"/>
                  </a:lnTo>
                  <a:lnTo>
                    <a:pt x="26670" y="4359160"/>
                  </a:lnTo>
                  <a:lnTo>
                    <a:pt x="21374" y="4356968"/>
                  </a:lnTo>
                  <a:lnTo>
                    <a:pt x="3289" y="4335785"/>
                  </a:lnTo>
                  <a:lnTo>
                    <a:pt x="1092" y="4330491"/>
                  </a:lnTo>
                  <a:lnTo>
                    <a:pt x="0" y="4324979"/>
                  </a:lnTo>
                  <a:lnTo>
                    <a:pt x="0" y="4319254"/>
                  </a:lnTo>
                  <a:close/>
                </a:path>
              </a:pathLst>
            </a:custGeom>
            <a:ln w="19050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1959" y="1371600"/>
              <a:ext cx="222503" cy="173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7535" y="5684520"/>
              <a:ext cx="231648" cy="18288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556772" y="1560468"/>
            <a:ext cx="3065780" cy="34067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spc="295" dirty="0">
                <a:solidFill>
                  <a:srgbClr val="262424"/>
                </a:solidFill>
                <a:latin typeface="Microsoft JhengHei UI"/>
                <a:cs typeface="Microsoft JhengHei UI"/>
              </a:rPr>
              <a:t>★★★★★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</a:t>
            </a:r>
            <a:r>
              <a:rPr sz="1150" spc="10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9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meses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3400"/>
              </a:lnSpc>
              <a:spcBef>
                <a:spcPts val="550"/>
              </a:spcBef>
            </a:pP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Responsables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tiempo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trabajo.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Me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cambiaron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las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5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mi</a:t>
            </a:r>
            <a:r>
              <a:rPr sz="1150" spc="1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casa.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Cumplieron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los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plazos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acabados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tal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como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dijeron.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Desde</a:t>
            </a:r>
            <a:r>
              <a:rPr sz="1150" spc="9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Jose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(comercial)</a:t>
            </a:r>
            <a:r>
              <a:rPr sz="1150" spc="2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hasta</a:t>
            </a:r>
            <a:r>
              <a:rPr sz="1150" spc="2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Samanta</a:t>
            </a:r>
            <a:r>
              <a:rPr sz="1150" spc="2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(comunicación)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han</a:t>
            </a:r>
            <a:r>
              <a:rPr sz="115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sido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muy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atentos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todo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momento,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resolviendo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todas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dudas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preguntas.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Especial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atención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Aitor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Jampier,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pesar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su</a:t>
            </a:r>
            <a:r>
              <a:rPr sz="1150" spc="10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joven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edad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han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sido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muy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profesionales,</a:t>
            </a:r>
            <a:r>
              <a:rPr sz="1150" spc="2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destacando</a:t>
            </a:r>
            <a:r>
              <a:rPr sz="1150" spc="2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</a:t>
            </a:r>
            <a:r>
              <a:rPr sz="1150" spc="2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trabajo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CUIDADOSO,</a:t>
            </a:r>
            <a:r>
              <a:rPr sz="11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LIMPIO</a:t>
            </a:r>
            <a:r>
              <a:rPr sz="115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85" dirty="0">
                <a:solidFill>
                  <a:srgbClr val="262424"/>
                </a:solidFill>
                <a:latin typeface="Microsoft JhengHei UI"/>
                <a:cs typeface="Microsoft JhengHei UI"/>
              </a:rPr>
              <a:t>E</a:t>
            </a:r>
            <a:r>
              <a:rPr sz="1150" spc="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IMPECABLE.</a:t>
            </a:r>
            <a:r>
              <a:rPr sz="115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No</a:t>
            </a:r>
            <a:endParaRPr sz="1150">
              <a:latin typeface="Microsoft JhengHei UI"/>
              <a:cs typeface="Microsoft JhengHei UI"/>
            </a:endParaRPr>
          </a:p>
          <a:p>
            <a:pPr marL="12700" marR="59055">
              <a:lnSpc>
                <a:spcPct val="125000"/>
              </a:lnSpc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puedo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decir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más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cualidades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positivas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Aspa.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duda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les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volvería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llamar.</a:t>
            </a:r>
            <a:endParaRPr sz="115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5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Gracias.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56772" y="5342159"/>
            <a:ext cx="12973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—</a:t>
            </a:r>
            <a:r>
              <a:rPr sz="115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Alonso</a:t>
            </a:r>
            <a:r>
              <a:rPr sz="1150" spc="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Donoso</a:t>
            </a:r>
            <a:endParaRPr sz="1150">
              <a:latin typeface="Microsoft JhengHei UI"/>
              <a:cs typeface="Microsoft JhengHei U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09559" y="1371600"/>
            <a:ext cx="3697604" cy="4495800"/>
            <a:chOff x="7909559" y="1371600"/>
            <a:chExt cx="3697604" cy="4495800"/>
          </a:xfrm>
        </p:grpSpPr>
        <p:sp>
          <p:nvSpPr>
            <p:cNvPr id="16" name="object 16"/>
            <p:cNvSpPr/>
            <p:nvPr/>
          </p:nvSpPr>
          <p:spPr>
            <a:xfrm>
              <a:off x="8000999" y="1438274"/>
              <a:ext cx="3524250" cy="4362450"/>
            </a:xfrm>
            <a:custGeom>
              <a:avLst/>
              <a:gdLst/>
              <a:ahLst/>
              <a:cxnLst/>
              <a:rect l="l" t="t" r="r" b="b"/>
              <a:pathLst>
                <a:path w="3524250" h="4362450">
                  <a:moveTo>
                    <a:pt x="0" y="4319254"/>
                  </a:moveTo>
                  <a:lnTo>
                    <a:pt x="0" y="43192"/>
                  </a:lnTo>
                  <a:lnTo>
                    <a:pt x="0" y="37465"/>
                  </a:lnTo>
                  <a:lnTo>
                    <a:pt x="1092" y="31953"/>
                  </a:lnTo>
                  <a:lnTo>
                    <a:pt x="3289" y="26670"/>
                  </a:lnTo>
                  <a:lnTo>
                    <a:pt x="5473" y="21374"/>
                  </a:lnTo>
                  <a:lnTo>
                    <a:pt x="8597" y="16700"/>
                  </a:lnTo>
                  <a:lnTo>
                    <a:pt x="12649" y="12649"/>
                  </a:lnTo>
                  <a:lnTo>
                    <a:pt x="16700" y="8597"/>
                  </a:lnTo>
                  <a:lnTo>
                    <a:pt x="21374" y="5486"/>
                  </a:lnTo>
                  <a:lnTo>
                    <a:pt x="26670" y="3289"/>
                  </a:lnTo>
                  <a:lnTo>
                    <a:pt x="31953" y="1092"/>
                  </a:lnTo>
                  <a:lnTo>
                    <a:pt x="37465" y="0"/>
                  </a:lnTo>
                  <a:lnTo>
                    <a:pt x="43192" y="0"/>
                  </a:lnTo>
                  <a:lnTo>
                    <a:pt x="3481057" y="0"/>
                  </a:lnTo>
                  <a:lnTo>
                    <a:pt x="3486785" y="0"/>
                  </a:lnTo>
                  <a:lnTo>
                    <a:pt x="3492296" y="1092"/>
                  </a:lnTo>
                  <a:lnTo>
                    <a:pt x="3497580" y="3289"/>
                  </a:lnTo>
                  <a:lnTo>
                    <a:pt x="3502875" y="5486"/>
                  </a:lnTo>
                  <a:lnTo>
                    <a:pt x="3507549" y="8597"/>
                  </a:lnTo>
                  <a:lnTo>
                    <a:pt x="3511600" y="12649"/>
                  </a:lnTo>
                  <a:lnTo>
                    <a:pt x="3515652" y="16700"/>
                  </a:lnTo>
                  <a:lnTo>
                    <a:pt x="3518763" y="21374"/>
                  </a:lnTo>
                  <a:lnTo>
                    <a:pt x="3520960" y="26670"/>
                  </a:lnTo>
                  <a:lnTo>
                    <a:pt x="3523157" y="31953"/>
                  </a:lnTo>
                  <a:lnTo>
                    <a:pt x="3524250" y="37465"/>
                  </a:lnTo>
                  <a:lnTo>
                    <a:pt x="3524250" y="43192"/>
                  </a:lnTo>
                  <a:lnTo>
                    <a:pt x="3524250" y="4319254"/>
                  </a:lnTo>
                  <a:lnTo>
                    <a:pt x="3524250" y="4324979"/>
                  </a:lnTo>
                  <a:lnTo>
                    <a:pt x="3523157" y="4330491"/>
                  </a:lnTo>
                  <a:lnTo>
                    <a:pt x="3497580" y="4359160"/>
                  </a:lnTo>
                  <a:lnTo>
                    <a:pt x="3492296" y="4361354"/>
                  </a:lnTo>
                  <a:lnTo>
                    <a:pt x="3486785" y="4362450"/>
                  </a:lnTo>
                  <a:lnTo>
                    <a:pt x="3481057" y="4362450"/>
                  </a:lnTo>
                  <a:lnTo>
                    <a:pt x="43192" y="4362450"/>
                  </a:lnTo>
                  <a:lnTo>
                    <a:pt x="37465" y="4362450"/>
                  </a:lnTo>
                  <a:lnTo>
                    <a:pt x="31953" y="4361354"/>
                  </a:lnTo>
                  <a:lnTo>
                    <a:pt x="26670" y="4359160"/>
                  </a:lnTo>
                  <a:lnTo>
                    <a:pt x="21374" y="4356968"/>
                  </a:lnTo>
                  <a:lnTo>
                    <a:pt x="3289" y="4335785"/>
                  </a:lnTo>
                  <a:lnTo>
                    <a:pt x="1092" y="4330491"/>
                  </a:lnTo>
                  <a:lnTo>
                    <a:pt x="0" y="4324979"/>
                  </a:lnTo>
                  <a:lnTo>
                    <a:pt x="0" y="4319254"/>
                  </a:lnTo>
                  <a:close/>
                </a:path>
              </a:pathLst>
            </a:custGeom>
            <a:ln w="19050">
              <a:solidFill>
                <a:srgbClr val="B1D4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9559" y="1371600"/>
              <a:ext cx="222503" cy="1737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75135" y="5684520"/>
              <a:ext cx="231648" cy="18288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219732" y="1560468"/>
            <a:ext cx="3056890" cy="25400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spc="295" dirty="0">
                <a:solidFill>
                  <a:srgbClr val="262424"/>
                </a:solidFill>
                <a:latin typeface="Microsoft JhengHei UI"/>
                <a:cs typeface="Microsoft JhengHei UI"/>
              </a:rPr>
              <a:t>★★★★★</a:t>
            </a:r>
            <a:r>
              <a:rPr sz="1150" spc="9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2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semanas</a:t>
            </a:r>
            <a:endParaRPr sz="1150">
              <a:latin typeface="Microsoft JhengHei UI"/>
              <a:cs typeface="Microsoft JhengHei UI"/>
            </a:endParaRPr>
          </a:p>
          <a:p>
            <a:pPr marL="12700" marR="5080">
              <a:lnSpc>
                <a:spcPct val="123200"/>
              </a:lnSpc>
              <a:spcBef>
                <a:spcPts val="550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Muy</a:t>
            </a:r>
            <a:r>
              <a:rPr sz="1150" spc="1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buenos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profesionales.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Estamos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encantados</a:t>
            </a:r>
            <a:r>
              <a:rPr sz="1150" spc="20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2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las</a:t>
            </a:r>
            <a:r>
              <a:rPr sz="1150" spc="20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nuevas</a:t>
            </a:r>
            <a:r>
              <a:rPr sz="1150" spc="2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ventanas.</a:t>
            </a:r>
            <a:r>
              <a:rPr sz="1150" spc="5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Aíslan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del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calor,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frío,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ruido...</a:t>
            </a:r>
            <a:r>
              <a:rPr sz="1150" spc="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Una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maravilla. 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relación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calidad-precio</a:t>
            </a:r>
            <a:r>
              <a:rPr sz="1150" spc="1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inmejorable.</a:t>
            </a:r>
            <a:endParaRPr sz="1150">
              <a:latin typeface="Microsoft JhengHei UI"/>
              <a:cs typeface="Microsoft JhengHei UI"/>
            </a:endParaRPr>
          </a:p>
          <a:p>
            <a:pPr marL="12700" marR="15875">
              <a:lnSpc>
                <a:spcPct val="122800"/>
              </a:lnSpc>
              <a:spcBef>
                <a:spcPts val="30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Mucho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mejor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respecto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otros</a:t>
            </a:r>
            <a:r>
              <a:rPr sz="1150" spc="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sitios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que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habíamos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comparado.</a:t>
            </a:r>
            <a:r>
              <a:rPr sz="115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Nos</a:t>
            </a:r>
            <a:r>
              <a:rPr sz="1150" spc="114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mandaron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unos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chicos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jóvenes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hacer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la</a:t>
            </a:r>
            <a:r>
              <a:rPr sz="1150" spc="1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obra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nos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sorprendieron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su</a:t>
            </a:r>
            <a:r>
              <a:rPr sz="1150" spc="14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profesionalidad: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Rapidez,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limpieza,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educación...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Así</a:t>
            </a:r>
            <a:r>
              <a:rPr sz="1150" spc="18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da </a:t>
            </a:r>
            <a:r>
              <a:rPr sz="115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gusto.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19732" y="5342159"/>
            <a:ext cx="100774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62424"/>
                </a:solidFill>
                <a:latin typeface="Microsoft JhengHei UI"/>
                <a:cs typeface="Microsoft JhengHei UI"/>
              </a:rPr>
              <a:t>—</a:t>
            </a:r>
            <a:r>
              <a:rPr sz="1150" spc="2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Javier</a:t>
            </a:r>
            <a:r>
              <a:rPr sz="115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50" spc="-20" dirty="0">
                <a:solidFill>
                  <a:srgbClr val="262424"/>
                </a:solidFill>
                <a:latin typeface="Microsoft JhengHei UI"/>
                <a:cs typeface="Microsoft JhengHei UI"/>
              </a:rPr>
              <a:t>M.P.</a:t>
            </a:r>
            <a:endParaRPr sz="1150">
              <a:latin typeface="Microsoft JhengHei UI"/>
              <a:cs typeface="Microsoft JhengHei U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47723" y="6105525"/>
            <a:ext cx="44450" cy="9525"/>
          </a:xfrm>
          <a:custGeom>
            <a:avLst/>
            <a:gdLst/>
            <a:ahLst/>
            <a:cxnLst/>
            <a:rect l="l" t="t" r="r" b="b"/>
            <a:pathLst>
              <a:path w="44450" h="9525">
                <a:moveTo>
                  <a:pt x="44361" y="0"/>
                </a:moveTo>
                <a:lnTo>
                  <a:pt x="0" y="0"/>
                </a:lnTo>
                <a:lnTo>
                  <a:pt x="0" y="9524"/>
                </a:lnTo>
                <a:lnTo>
                  <a:pt x="44361" y="9524"/>
                </a:lnTo>
                <a:lnTo>
                  <a:pt x="44361" y="0"/>
                </a:lnTo>
                <a:close/>
              </a:path>
            </a:pathLst>
          </a:custGeom>
          <a:solidFill>
            <a:srgbClr val="007E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1257" y="5932709"/>
            <a:ext cx="333438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u="sng" spc="-10" dirty="0">
                <a:solidFill>
                  <a:srgbClr val="007EBC"/>
                </a:solidFill>
                <a:uFill>
                  <a:solidFill>
                    <a:srgbClr val="007EBC"/>
                  </a:solidFill>
                </a:uFill>
                <a:latin typeface="Tahoma"/>
                <a:cs typeface="Tahoma"/>
                <a:hlinkClick r:id="rId7"/>
              </a:rPr>
              <a:t>https://g</a:t>
            </a:r>
            <a:r>
              <a:rPr sz="1150" b="1" spc="-10" dirty="0">
                <a:solidFill>
                  <a:srgbClr val="007EBC"/>
                </a:solidFill>
                <a:latin typeface="Tahoma"/>
                <a:cs typeface="Tahoma"/>
                <a:hlinkClick r:id="rId7"/>
              </a:rPr>
              <a:t>.</a:t>
            </a:r>
            <a:r>
              <a:rPr sz="1150" b="1" u="sng" spc="-10" dirty="0">
                <a:solidFill>
                  <a:srgbClr val="007EBC"/>
                </a:solidFill>
                <a:uFill>
                  <a:solidFill>
                    <a:srgbClr val="007EBC"/>
                  </a:solidFill>
                </a:uFill>
                <a:latin typeface="Tahoma"/>
                <a:cs typeface="Tahoma"/>
                <a:hlinkClick r:id="rId7"/>
              </a:rPr>
              <a:t>page/r/CfoccmQ83BZCEBM/review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0" y="0"/>
            <a:ext cx="4572000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8840" y="472503"/>
            <a:ext cx="5370830" cy="93916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30"/>
              </a:spcBef>
            </a:pPr>
            <a:r>
              <a:rPr sz="2900" spc="-200" dirty="0"/>
              <a:t>Nuestra</a:t>
            </a:r>
            <a:r>
              <a:rPr sz="2900" spc="-60" dirty="0"/>
              <a:t> </a:t>
            </a:r>
            <a:r>
              <a:rPr sz="2900" spc="-200" dirty="0"/>
              <a:t>propuesta</a:t>
            </a:r>
            <a:r>
              <a:rPr sz="2900" spc="-55" dirty="0"/>
              <a:t> </a:t>
            </a:r>
            <a:r>
              <a:rPr sz="2900" spc="-229" dirty="0"/>
              <a:t>para</a:t>
            </a:r>
            <a:r>
              <a:rPr sz="2900" spc="-60" dirty="0"/>
              <a:t> </a:t>
            </a:r>
            <a:r>
              <a:rPr sz="2900" spc="-150" dirty="0"/>
              <a:t>vuestra </a:t>
            </a:r>
            <a:r>
              <a:rPr sz="2900" spc="-30" dirty="0"/>
              <a:t>vivienda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648840" y="1696751"/>
            <a:ext cx="3281045" cy="25165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b="1" spc="-125" dirty="0">
                <a:latin typeface="Georgia"/>
                <a:cs typeface="Georgia"/>
              </a:rPr>
              <a:t>Resumen</a:t>
            </a:r>
            <a:r>
              <a:rPr sz="1450" b="1" spc="-10" dirty="0">
                <a:latin typeface="Georgia"/>
                <a:cs typeface="Georgia"/>
              </a:rPr>
              <a:t> </a:t>
            </a:r>
            <a:r>
              <a:rPr sz="1450" b="1" spc="-80" dirty="0">
                <a:latin typeface="Georgia"/>
                <a:cs typeface="Georgia"/>
              </a:rPr>
              <a:t>del</a:t>
            </a:r>
            <a:r>
              <a:rPr sz="1450" b="1" spc="-5" dirty="0">
                <a:latin typeface="Georgia"/>
                <a:cs typeface="Georgia"/>
              </a:rPr>
              <a:t> </a:t>
            </a:r>
            <a:r>
              <a:rPr sz="1450" b="1" spc="-10" dirty="0">
                <a:latin typeface="Georgia"/>
                <a:cs typeface="Georgia"/>
              </a:rPr>
              <a:t>proyecto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Cerramiento</a:t>
            </a:r>
            <a:r>
              <a:rPr sz="110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salón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y</a:t>
            </a:r>
            <a:r>
              <a:rPr sz="110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cocina</a:t>
            </a:r>
            <a:endParaRPr sz="1100">
              <a:latin typeface="Microsoft JhengHei UI"/>
              <a:cs typeface="Microsoft JhengHei UI"/>
            </a:endParaRPr>
          </a:p>
          <a:p>
            <a:pPr marL="12700" marR="50800">
              <a:lnSpc>
                <a:spcPct val="119300"/>
              </a:lnSpc>
              <a:spcBef>
                <a:spcPts val="750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Forros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barandillas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con</a:t>
            </a:r>
            <a:r>
              <a:rPr sz="110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panel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sandwich</a:t>
            </a:r>
            <a:r>
              <a:rPr sz="1100" spc="6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6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25" dirty="0">
                <a:solidFill>
                  <a:srgbClr val="262424"/>
                </a:solidFill>
                <a:latin typeface="Microsoft JhengHei UI"/>
                <a:cs typeface="Microsoft JhengHei UI"/>
              </a:rPr>
              <a:t>24 </a:t>
            </a:r>
            <a:r>
              <a:rPr sz="110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mm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Pasamanos</a:t>
            </a:r>
            <a:r>
              <a:rPr sz="110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en</a:t>
            </a:r>
            <a:r>
              <a:rPr sz="110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ambos</a:t>
            </a:r>
            <a:r>
              <a:rPr sz="1100" spc="7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cerramientos</a:t>
            </a:r>
            <a:endParaRPr sz="1100">
              <a:latin typeface="Microsoft JhengHei UI"/>
              <a:cs typeface="Microsoft JhengHei UI"/>
            </a:endParaRPr>
          </a:p>
          <a:p>
            <a:pPr marL="12700" marR="376555">
              <a:lnSpc>
                <a:spcPct val="116500"/>
              </a:lnSpc>
              <a:spcBef>
                <a:spcPts val="785"/>
              </a:spcBef>
            </a:pP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3</a:t>
            </a:r>
            <a:r>
              <a:rPr sz="110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ventanas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dormitorios.</a:t>
            </a:r>
            <a:r>
              <a:rPr sz="1100" spc="4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Incluye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forro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de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piedras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y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remates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exteriores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+</a:t>
            </a:r>
            <a:r>
              <a:rPr sz="1100" spc="5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trabajos</a:t>
            </a:r>
            <a:r>
              <a:rPr sz="1100" spc="5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25" dirty="0">
                <a:solidFill>
                  <a:srgbClr val="262424"/>
                </a:solidFill>
                <a:latin typeface="Microsoft JhengHei UI"/>
                <a:cs typeface="Microsoft JhengHei UI"/>
              </a:rPr>
              <a:t>de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albañilería</a:t>
            </a:r>
            <a:endParaRPr sz="1100">
              <a:latin typeface="Microsoft JhengHei UI"/>
              <a:cs typeface="Microsoft JhengHei UI"/>
            </a:endParaRPr>
          </a:p>
          <a:p>
            <a:pPr marL="12700" marR="5080">
              <a:lnSpc>
                <a:spcPct val="119300"/>
              </a:lnSpc>
              <a:spcBef>
                <a:spcPts val="750"/>
              </a:spcBef>
            </a:pP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Adjuntamos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detalle</a:t>
            </a:r>
            <a:r>
              <a:rPr sz="110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componentes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de</a:t>
            </a:r>
            <a:r>
              <a:rPr sz="1100" spc="3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cada</a:t>
            </a:r>
            <a:r>
              <a:rPr sz="1100" spc="3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pieza.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Doc.</a:t>
            </a:r>
            <a:r>
              <a:rPr sz="1100" spc="11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Equipamiento</a:t>
            </a:r>
            <a:endParaRPr sz="1100">
              <a:latin typeface="Microsoft JhengHei UI"/>
              <a:cs typeface="Microsoft JhengHei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11802" y="1674909"/>
            <a:ext cx="2619375" cy="269049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450" b="1" spc="-10" dirty="0">
                <a:latin typeface="Georgia"/>
                <a:cs typeface="Georgia"/>
              </a:rPr>
              <a:t>Presupuesto</a:t>
            </a:r>
            <a:endParaRPr sz="14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4150" b="1" i="1" spc="-450">
                <a:solidFill>
                  <a:srgbClr val="1F7034"/>
                </a:solidFill>
                <a:latin typeface="Georgia"/>
                <a:cs typeface="Georgia"/>
              </a:rPr>
              <a:t>10.1</a:t>
            </a:r>
            <a:r>
              <a:rPr lang="es-ES" sz="4150" b="1" i="1" spc="-450">
                <a:solidFill>
                  <a:srgbClr val="1F7034"/>
                </a:solidFill>
                <a:latin typeface="Georgia"/>
                <a:cs typeface="Georgia"/>
              </a:rPr>
              <a:t>64</a:t>
            </a:r>
            <a:r>
              <a:rPr sz="4150" b="1" i="1" spc="-450">
                <a:solidFill>
                  <a:srgbClr val="1F7034"/>
                </a:solidFill>
                <a:latin typeface="Georgia"/>
                <a:cs typeface="Georgia"/>
              </a:rPr>
              <a:t>€</a:t>
            </a:r>
            <a:endParaRPr sz="4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IVA incluido</a:t>
            </a:r>
            <a:r>
              <a:rPr sz="1100" spc="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70" dirty="0">
                <a:solidFill>
                  <a:srgbClr val="262424"/>
                </a:solidFill>
                <a:latin typeface="Microsoft JhengHei UI"/>
                <a:cs typeface="Microsoft JhengHei UI"/>
              </a:rPr>
              <a:t>·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Válido</a:t>
            </a:r>
            <a:r>
              <a:rPr sz="1100" spc="5" dirty="0">
                <a:solidFill>
                  <a:srgbClr val="262424"/>
                </a:solidFill>
                <a:latin typeface="Microsoft JhengHei UI"/>
                <a:cs typeface="Microsoft JhengHei UI"/>
              </a:rPr>
              <a:t> </a:t>
            </a:r>
            <a:r>
              <a:rPr sz="1100" dirty="0">
                <a:solidFill>
                  <a:srgbClr val="262424"/>
                </a:solidFill>
                <a:latin typeface="Microsoft JhengHei UI"/>
                <a:cs typeface="Microsoft JhengHei UI"/>
              </a:rPr>
              <a:t>hasta </a:t>
            </a:r>
            <a:r>
              <a:rPr sz="1100" spc="-10" dirty="0">
                <a:solidFill>
                  <a:srgbClr val="262424"/>
                </a:solidFill>
                <a:latin typeface="Microsoft JhengHei UI"/>
                <a:cs typeface="Microsoft JhengHei UI"/>
              </a:rPr>
              <a:t>30/07/26</a:t>
            </a:r>
            <a:endParaRPr sz="1100">
              <a:latin typeface="Microsoft JhengHei UI"/>
              <a:cs typeface="Microsoft JhengHei U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FORMA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PAGO:</a:t>
            </a:r>
            <a:endParaRPr sz="1100">
              <a:latin typeface="Tahoma"/>
              <a:cs typeface="Tahoma"/>
            </a:endParaRPr>
          </a:p>
          <a:p>
            <a:pPr marL="12700" marR="709930">
              <a:lnSpc>
                <a:spcPts val="2330"/>
              </a:lnSpc>
              <a:spcBef>
                <a:spcPts val="165"/>
              </a:spcBef>
            </a:pPr>
            <a:r>
              <a:rPr sz="1100" b="1" spc="-60" dirty="0">
                <a:solidFill>
                  <a:srgbClr val="262424"/>
                </a:solidFill>
                <a:latin typeface="Tahoma"/>
                <a:cs typeface="Tahoma"/>
              </a:rPr>
              <a:t>50%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Al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confirmar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el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pedido </a:t>
            </a:r>
            <a:r>
              <a:rPr sz="1100" b="1" spc="-45" dirty="0">
                <a:solidFill>
                  <a:srgbClr val="262424"/>
                </a:solidFill>
                <a:latin typeface="Tahoma"/>
                <a:cs typeface="Tahoma"/>
              </a:rPr>
              <a:t>30%</a:t>
            </a:r>
            <a:r>
              <a:rPr sz="110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Al</a:t>
            </a:r>
            <a:r>
              <a:rPr sz="110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fijar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fecha</a:t>
            </a:r>
            <a:r>
              <a:rPr sz="1100" b="1" spc="-3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inst.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9300"/>
              </a:lnSpc>
              <a:spcBef>
                <a:spcPts val="500"/>
              </a:spcBef>
            </a:pPr>
            <a:r>
              <a:rPr sz="1100" b="1" spc="-50" dirty="0">
                <a:solidFill>
                  <a:srgbClr val="262424"/>
                </a:solidFill>
                <a:latin typeface="Tahoma"/>
                <a:cs typeface="Tahoma"/>
              </a:rPr>
              <a:t>20%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65" dirty="0">
                <a:solidFill>
                  <a:srgbClr val="262424"/>
                </a:solidFill>
                <a:latin typeface="Tahoma"/>
                <a:cs typeface="Tahoma"/>
              </a:rPr>
              <a:t>7</a:t>
            </a:r>
            <a:r>
              <a:rPr sz="1100" b="1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días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después</a:t>
            </a:r>
            <a:r>
              <a:rPr sz="1100" b="1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3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la</a:t>
            </a:r>
            <a:r>
              <a:rPr sz="1100" b="1" spc="-25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262424"/>
                </a:solidFill>
                <a:latin typeface="Tahoma"/>
                <a:cs typeface="Tahoma"/>
              </a:rPr>
              <a:t>finalización </a:t>
            </a:r>
            <a:r>
              <a:rPr sz="1100" b="1" dirty="0">
                <a:solidFill>
                  <a:srgbClr val="262424"/>
                </a:solidFill>
                <a:latin typeface="Tahoma"/>
                <a:cs typeface="Tahoma"/>
              </a:rPr>
              <a:t>de</a:t>
            </a:r>
            <a:r>
              <a:rPr sz="1100" b="1" spc="-40" dirty="0">
                <a:solidFill>
                  <a:srgbClr val="262424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262424"/>
                </a:solidFill>
                <a:latin typeface="Tahoma"/>
                <a:cs typeface="Tahoma"/>
              </a:rPr>
              <a:t>obra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57225" y="4591050"/>
            <a:ext cx="6305550" cy="1228725"/>
            <a:chOff x="657225" y="4591050"/>
            <a:chExt cx="6305550" cy="1228725"/>
          </a:xfrm>
        </p:grpSpPr>
        <p:sp>
          <p:nvSpPr>
            <p:cNvPr id="7" name="object 7"/>
            <p:cNvSpPr/>
            <p:nvPr/>
          </p:nvSpPr>
          <p:spPr>
            <a:xfrm>
              <a:off x="657225" y="4591050"/>
              <a:ext cx="6305550" cy="1228725"/>
            </a:xfrm>
            <a:custGeom>
              <a:avLst/>
              <a:gdLst/>
              <a:ahLst/>
              <a:cxnLst/>
              <a:rect l="l" t="t" r="r" b="b"/>
              <a:pathLst>
                <a:path w="6305550" h="1228725">
                  <a:moveTo>
                    <a:pt x="6262509" y="0"/>
                  </a:moveTo>
                  <a:lnTo>
                    <a:pt x="43041" y="0"/>
                  </a:lnTo>
                  <a:lnTo>
                    <a:pt x="36710" y="1257"/>
                  </a:lnTo>
                  <a:lnTo>
                    <a:pt x="6295" y="24549"/>
                  </a:lnTo>
                  <a:lnTo>
                    <a:pt x="0" y="43040"/>
                  </a:lnTo>
                  <a:lnTo>
                    <a:pt x="0" y="1179106"/>
                  </a:lnTo>
                  <a:lnTo>
                    <a:pt x="0" y="1185683"/>
                  </a:lnTo>
                  <a:lnTo>
                    <a:pt x="19183" y="1218843"/>
                  </a:lnTo>
                  <a:lnTo>
                    <a:pt x="43041" y="1228725"/>
                  </a:lnTo>
                  <a:lnTo>
                    <a:pt x="6262509" y="1228725"/>
                  </a:lnTo>
                  <a:lnTo>
                    <a:pt x="6295669" y="1209536"/>
                  </a:lnTo>
                  <a:lnTo>
                    <a:pt x="6305550" y="1185683"/>
                  </a:lnTo>
                  <a:lnTo>
                    <a:pt x="6305550" y="43040"/>
                  </a:lnTo>
                  <a:lnTo>
                    <a:pt x="6286360" y="9880"/>
                  </a:lnTo>
                  <a:lnTo>
                    <a:pt x="6268834" y="1257"/>
                  </a:lnTo>
                  <a:lnTo>
                    <a:pt x="6262509" y="0"/>
                  </a:lnTo>
                  <a:close/>
                </a:path>
              </a:pathLst>
            </a:custGeom>
            <a:solidFill>
              <a:srgbClr val="CCE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343" y="4764036"/>
              <a:ext cx="154969" cy="1549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2050" y="5105400"/>
              <a:ext cx="142875" cy="1428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050" y="5343525"/>
              <a:ext cx="142875" cy="1333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2050" y="5572125"/>
              <a:ext cx="142875" cy="1428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34740" y="4706651"/>
            <a:ext cx="5750560" cy="16122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15"/>
              </a:spcBef>
            </a:pPr>
            <a:r>
              <a:rPr sz="1450" b="1" spc="-105" dirty="0">
                <a:latin typeface="Georgia"/>
                <a:cs typeface="Georgia"/>
              </a:rPr>
              <a:t>Ventajas</a:t>
            </a:r>
            <a:r>
              <a:rPr sz="1450" b="1" spc="-30" dirty="0">
                <a:latin typeface="Georgia"/>
                <a:cs typeface="Georgia"/>
              </a:rPr>
              <a:t> </a:t>
            </a:r>
            <a:r>
              <a:rPr sz="1450" b="1" spc="-80" dirty="0">
                <a:latin typeface="Georgia"/>
                <a:cs typeface="Georgia"/>
              </a:rPr>
              <a:t>exclusivas</a:t>
            </a:r>
            <a:r>
              <a:rPr sz="1450" b="1" spc="-25" dirty="0">
                <a:latin typeface="Georgia"/>
                <a:cs typeface="Georgia"/>
              </a:rPr>
              <a:t> </a:t>
            </a:r>
            <a:r>
              <a:rPr sz="1450" b="1" spc="-10" dirty="0">
                <a:latin typeface="Georgia"/>
                <a:cs typeface="Georgia"/>
              </a:rPr>
              <a:t>SmartVitra</a:t>
            </a:r>
            <a:endParaRPr sz="1450">
              <a:latin typeface="Georgia"/>
              <a:cs typeface="Georgia"/>
            </a:endParaRPr>
          </a:p>
          <a:p>
            <a:pPr marL="457834" marR="45085">
              <a:lnSpc>
                <a:spcPct val="142000"/>
              </a:lnSpc>
              <a:spcBef>
                <a:spcPts val="530"/>
              </a:spcBef>
            </a:pPr>
            <a:r>
              <a:rPr sz="1100" spc="-10" dirty="0">
                <a:latin typeface="Microsoft JhengHei UI"/>
                <a:cs typeface="Microsoft JhengHei UI"/>
              </a:rPr>
              <a:t>Equipamiento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extra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en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una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de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las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ventanas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a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elegir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Motorización</a:t>
            </a:r>
            <a:r>
              <a:rPr sz="1100" spc="4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+</a:t>
            </a:r>
            <a:r>
              <a:rPr sz="1100" spc="40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mosquitera </a:t>
            </a:r>
            <a:r>
              <a:rPr sz="1100" dirty="0">
                <a:latin typeface="Microsoft JhengHei UI"/>
                <a:cs typeface="Microsoft JhengHei UI"/>
              </a:rPr>
              <a:t>Instalación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completa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con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todos</a:t>
            </a:r>
            <a:r>
              <a:rPr sz="1100" spc="3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los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remates</a:t>
            </a:r>
            <a:r>
              <a:rPr sz="1100" spc="25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incluidos</a:t>
            </a:r>
            <a:endParaRPr sz="1100">
              <a:latin typeface="Microsoft JhengHei UI"/>
              <a:cs typeface="Microsoft JhengHei UI"/>
            </a:endParaRPr>
          </a:p>
          <a:p>
            <a:pPr marL="457834">
              <a:lnSpc>
                <a:spcPct val="100000"/>
              </a:lnSpc>
              <a:spcBef>
                <a:spcPts val="480"/>
              </a:spcBef>
            </a:pPr>
            <a:r>
              <a:rPr sz="1100" dirty="0">
                <a:latin typeface="Microsoft JhengHei UI"/>
                <a:cs typeface="Microsoft JhengHei UI"/>
              </a:rPr>
              <a:t>Sin</a:t>
            </a:r>
            <a:r>
              <a:rPr sz="1100" spc="13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sorpresas</a:t>
            </a:r>
            <a:r>
              <a:rPr sz="1100" spc="135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ni</a:t>
            </a:r>
            <a:r>
              <a:rPr sz="1100" spc="130" dirty="0">
                <a:latin typeface="Microsoft JhengHei UI"/>
                <a:cs typeface="Microsoft JhengHei UI"/>
              </a:rPr>
              <a:t> </a:t>
            </a:r>
            <a:r>
              <a:rPr sz="1100" dirty="0">
                <a:latin typeface="Microsoft JhengHei UI"/>
                <a:cs typeface="Microsoft JhengHei UI"/>
              </a:rPr>
              <a:t>costes</a:t>
            </a:r>
            <a:r>
              <a:rPr sz="1100" spc="135" dirty="0">
                <a:latin typeface="Microsoft JhengHei UI"/>
                <a:cs typeface="Microsoft JhengHei UI"/>
              </a:rPr>
              <a:t> </a:t>
            </a:r>
            <a:r>
              <a:rPr sz="1100" spc="-10" dirty="0">
                <a:latin typeface="Microsoft JhengHei UI"/>
                <a:cs typeface="Microsoft JhengHei UI"/>
              </a:rPr>
              <a:t>ocultos</a:t>
            </a:r>
            <a:endParaRPr sz="1100">
              <a:latin typeface="Microsoft JhengHei UI"/>
              <a:cs typeface="Microsoft JhengHei UI"/>
            </a:endParaRPr>
          </a:p>
          <a:p>
            <a:pPr marL="441325" marR="5080" indent="-429259">
              <a:lnSpc>
                <a:spcPct val="114100"/>
              </a:lnSpc>
              <a:spcBef>
                <a:spcPts val="1510"/>
              </a:spcBef>
            </a:pPr>
            <a:r>
              <a:rPr sz="1150" i="1" spc="-50" dirty="0">
                <a:solidFill>
                  <a:srgbClr val="262424"/>
                </a:solidFill>
                <a:latin typeface="Verdana"/>
                <a:cs typeface="Verdana"/>
              </a:rPr>
              <a:t>Gracias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por </a:t>
            </a:r>
            <a:r>
              <a:rPr sz="1150" i="1" spc="-45" dirty="0">
                <a:solidFill>
                  <a:srgbClr val="262424"/>
                </a:solidFill>
                <a:latin typeface="Verdana"/>
                <a:cs typeface="Verdana"/>
              </a:rPr>
              <a:t>confiar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en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85" dirty="0">
                <a:solidFill>
                  <a:srgbClr val="262424"/>
                </a:solidFill>
                <a:latin typeface="Verdana"/>
                <a:cs typeface="Verdana"/>
              </a:rPr>
              <a:t>SmartVitra.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Nuestro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compromiso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es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70" dirty="0">
                <a:solidFill>
                  <a:srgbClr val="262424"/>
                </a:solidFill>
                <a:latin typeface="Verdana"/>
                <a:cs typeface="Verdana"/>
              </a:rPr>
              <a:t>entregar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80" dirty="0">
                <a:solidFill>
                  <a:srgbClr val="262424"/>
                </a:solidFill>
                <a:latin typeface="Verdana"/>
                <a:cs typeface="Verdana"/>
              </a:rPr>
              <a:t>una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vivienda </a:t>
            </a:r>
            <a:r>
              <a:rPr sz="1150" i="1" spc="-25" dirty="0">
                <a:solidFill>
                  <a:srgbClr val="262424"/>
                </a:solidFill>
                <a:latin typeface="Verdana"/>
                <a:cs typeface="Verdana"/>
              </a:rPr>
              <a:t>más 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confortable,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50" dirty="0">
                <a:solidFill>
                  <a:srgbClr val="262424"/>
                </a:solidFill>
                <a:latin typeface="Verdana"/>
                <a:cs typeface="Verdana"/>
              </a:rPr>
              <a:t>eficiente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55" dirty="0">
                <a:solidFill>
                  <a:srgbClr val="262424"/>
                </a:solidFill>
                <a:latin typeface="Verdana"/>
                <a:cs typeface="Verdana"/>
              </a:rPr>
              <a:t>y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preparada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para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0" dirty="0">
                <a:solidFill>
                  <a:srgbClr val="262424"/>
                </a:solidFill>
                <a:latin typeface="Verdana"/>
                <a:cs typeface="Verdana"/>
              </a:rPr>
              <a:t>disfrutarla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75" dirty="0">
                <a:solidFill>
                  <a:srgbClr val="262424"/>
                </a:solidFill>
                <a:latin typeface="Verdana"/>
                <a:cs typeface="Verdana"/>
              </a:rPr>
              <a:t>durante</a:t>
            </a:r>
            <a:r>
              <a:rPr sz="1150" i="1" spc="-35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65" dirty="0">
                <a:solidFill>
                  <a:srgbClr val="262424"/>
                </a:solidFill>
                <a:latin typeface="Verdana"/>
                <a:cs typeface="Verdana"/>
              </a:rPr>
              <a:t>muchos</a:t>
            </a:r>
            <a:r>
              <a:rPr sz="1150" i="1" spc="-40" dirty="0">
                <a:solidFill>
                  <a:srgbClr val="262424"/>
                </a:solidFill>
                <a:latin typeface="Verdana"/>
                <a:cs typeface="Verdana"/>
              </a:rPr>
              <a:t> </a:t>
            </a:r>
            <a:r>
              <a:rPr sz="1150" i="1" spc="-10" dirty="0">
                <a:solidFill>
                  <a:srgbClr val="262424"/>
                </a:solidFill>
                <a:latin typeface="Verdana"/>
                <a:cs typeface="Verdana"/>
              </a:rPr>
              <a:t>años.</a:t>
            </a:r>
            <a:endParaRPr sz="1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B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659</Words>
  <Application>Microsoft Macintosh PowerPoint</Application>
  <PresentationFormat>Panorámica</PresentationFormat>
  <Paragraphs>75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Microsoft JhengHei UI</vt:lpstr>
      <vt:lpstr>Calibri</vt:lpstr>
      <vt:lpstr>Georgia</vt:lpstr>
      <vt:lpstr>Segoe UI Symbol</vt:lpstr>
      <vt:lpstr>Tahoma</vt:lpstr>
      <vt:lpstr>Verdana</vt:lpstr>
      <vt:lpstr>Office Theme</vt:lpstr>
      <vt:lpstr>Una propuesta creada para esta vivienda</vt:lpstr>
      <vt:lpstr>Lo que hemos detectado</vt:lpstr>
      <vt:lpstr>Nuestra propuesta</vt:lpstr>
      <vt:lpstr>Una instalación que marca la diferencia</vt:lpstr>
      <vt:lpstr>Proyectos similares</vt:lpstr>
      <vt:lpstr>Lo que dicen nuestros clientes</vt:lpstr>
      <vt:lpstr>Nuestra propuesta para vuestra vivienda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Alberto  Martínez</cp:lastModifiedBy>
  <cp:revision>1</cp:revision>
  <dcterms:created xsi:type="dcterms:W3CDTF">2026-08-12T09:28:52Z</dcterms:created>
  <dcterms:modified xsi:type="dcterms:W3CDTF">2026-08-12T10:16:38Z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2026-07-15T00:00:00Z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2026-08-12T00:00:00Z</vt:filetime>
  </property>
  <property fmtid="{D5CDD505-2E9C-101B-9397-08002B2CF9AE}" pid="6" name="Producer">
    <vt:lpwstr>pdf-lib (https://github.com/Hopding/pdf-lib)</vt:lpwstr>
  </property>
</Properties>
</file>